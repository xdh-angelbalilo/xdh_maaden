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it is not a mockup, it is running on a database. Everything shown is live and you can click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their vision image 3, running. Point at the last card: that is a real row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arc. Run it live rather than talking about it. The three seeded failures are deliberate and each one fails for a different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sample, publishing is simulated: it writes a payload row rather than calling Aconex. Say so if asked. Production swaps the simulator for the Middleware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sequencing recommendation. It is the commercially useful point: the registry is a dependency for the pilot modules, so building it first de-risks the programme.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4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58368" y="548640"/>
            <a:ext cx="1325880" cy="1097280"/>
          </a:xfrm>
          <a:prstGeom prst="rect">
            <a:avLst/>
          </a:prstGeom>
        </p:spPr>
      </p:pic>
      <p:sp>
        <p:nvSpPr>
          <p:cNvPr id="3" name="Text 0"/>
          <p:cNvSpPr/>
          <p:nvPr/>
        </p:nvSpPr>
        <p:spPr>
          <a:xfrm>
            <a:off x="658368" y="2148840"/>
            <a:ext cx="859536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Your vision, running.</a:t>
            </a:r>
            <a:endParaRPr lang="en-US" sz="4400" dirty="0"/>
          </a:p>
        </p:txBody>
      </p:sp>
      <p:sp>
        <p:nvSpPr>
          <p:cNvPr id="4" name="Text 1"/>
          <p:cNvSpPr/>
          <p:nvPr/>
        </p:nvSpPr>
        <p:spPr>
          <a:xfrm>
            <a:off x="658368" y="2926080"/>
            <a:ext cx="8595360" cy="411480"/>
          </a:xfrm>
          <a:prstGeom prst="rect">
            <a:avLst/>
          </a:prstGeom>
          <a:noFill/>
          <a:ln/>
        </p:spPr>
        <p:txBody>
          <a:bodyPr wrap="square" lIns="0" tIns="0" rIns="0" bIns="0" rtlCol="0" anchor="ctr"/>
          <a:lstStyle/>
          <a:p>
            <a:pPr indent="0" marL="0">
              <a:buNone/>
            </a:pPr>
            <a:r>
              <a:rPr lang="en-US" sz="1900" dirty="0">
                <a:solidFill>
                  <a:srgbClr val="C9A227"/>
                </a:solidFill>
                <a:latin typeface="Calibri" pitchFamily="34" charset="0"/>
                <a:ea typeface="Calibri" pitchFamily="34" charset="-122"/>
                <a:cs typeface="Calibri" pitchFamily="34" charset="-120"/>
              </a:rPr>
              <a:t>Ma'aden Ar Rjum Gold Project: CDE Asset Data Backbone</a:t>
            </a:r>
            <a:endParaRPr lang="en-US" sz="1900" dirty="0"/>
          </a:p>
        </p:txBody>
      </p:sp>
      <p:sp>
        <p:nvSpPr>
          <p:cNvPr id="5" name="Text 2"/>
          <p:cNvSpPr/>
          <p:nvPr/>
        </p:nvSpPr>
        <p:spPr>
          <a:xfrm>
            <a:off x="658368" y="3401568"/>
            <a:ext cx="8595360" cy="320040"/>
          </a:xfrm>
          <a:prstGeom prst="rect">
            <a:avLst/>
          </a:prstGeom>
          <a:noFill/>
          <a:ln/>
        </p:spPr>
        <p:txBody>
          <a:bodyPr wrap="square" lIns="0" tIns="0" rIns="0" bIns="0" rtlCol="0" anchor="ctr"/>
          <a:lstStyle/>
          <a:p>
            <a:pPr indent="0" marL="0">
              <a:buNone/>
            </a:pPr>
            <a:r>
              <a:rPr lang="en-US" sz="1300" dirty="0">
                <a:solidFill>
                  <a:srgbClr val="C4C5CC"/>
                </a:solidFill>
                <a:latin typeface="Calibri" pitchFamily="34" charset="0"/>
                <a:ea typeface="Calibri" pitchFamily="34" charset="-122"/>
                <a:cs typeface="Calibri" pitchFamily="34" charset="-120"/>
              </a:rPr>
              <a:t>Module M1, Master Data Registry and Data Template governance. Built, seeded and demonstrable today.</a:t>
            </a:r>
            <a:endParaRPr lang="en-US" sz="1300" dirty="0"/>
          </a:p>
        </p:txBody>
      </p:sp>
      <p:sp>
        <p:nvSpPr>
          <p:cNvPr id="6" name="Text 3"/>
          <p:cNvSpPr/>
          <p:nvPr/>
        </p:nvSpPr>
        <p:spPr>
          <a:xfrm>
            <a:off x="658368" y="4297680"/>
            <a:ext cx="1371600" cy="548640"/>
          </a:xfrm>
          <a:prstGeom prst="rect">
            <a:avLst/>
          </a:prstGeom>
          <a:noFill/>
          <a:ln/>
        </p:spPr>
        <p:txBody>
          <a:bodyPr wrap="square" lIns="0" tIns="0" rIns="0" bIns="0" rtlCol="0" anchor="ctr"/>
          <a:lstStyle/>
          <a:p>
            <a:pPr indent="0" marL="0">
              <a:buNone/>
            </a:pPr>
            <a:r>
              <a:rPr lang="en-US" sz="3400" b="1" dirty="0">
                <a:solidFill>
                  <a:srgbClr val="C9A227"/>
                </a:solidFill>
                <a:latin typeface="Cambria" pitchFamily="34" charset="0"/>
                <a:ea typeface="Cambria" pitchFamily="34" charset="-122"/>
                <a:cs typeface="Cambria" pitchFamily="34" charset="-120"/>
              </a:rPr>
              <a:t>40</a:t>
            </a:r>
            <a:endParaRPr lang="en-US" sz="3400" dirty="0"/>
          </a:p>
        </p:txBody>
      </p:sp>
      <p:sp>
        <p:nvSpPr>
          <p:cNvPr id="7" name="Text 4"/>
          <p:cNvSpPr/>
          <p:nvPr/>
        </p:nvSpPr>
        <p:spPr>
          <a:xfrm>
            <a:off x="658368" y="4864608"/>
            <a:ext cx="155448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asset tags</a:t>
            </a:r>
            <a:endParaRPr lang="en-US" sz="1100" dirty="0"/>
          </a:p>
        </p:txBody>
      </p:sp>
      <p:sp>
        <p:nvSpPr>
          <p:cNvPr id="8" name="Text 5"/>
          <p:cNvSpPr/>
          <p:nvPr/>
        </p:nvSpPr>
        <p:spPr>
          <a:xfrm>
            <a:off x="2487168" y="4297680"/>
            <a:ext cx="1371600" cy="548640"/>
          </a:xfrm>
          <a:prstGeom prst="rect">
            <a:avLst/>
          </a:prstGeom>
          <a:noFill/>
          <a:ln/>
        </p:spPr>
        <p:txBody>
          <a:bodyPr wrap="square" lIns="0" tIns="0" rIns="0" bIns="0" rtlCol="0" anchor="ctr"/>
          <a:lstStyle/>
          <a:p>
            <a:pPr indent="0" marL="0">
              <a:buNone/>
            </a:pPr>
            <a:r>
              <a:rPr lang="en-US" sz="3400" b="1" dirty="0">
                <a:solidFill>
                  <a:srgbClr val="C9A227"/>
                </a:solidFill>
                <a:latin typeface="Cambria" pitchFamily="34" charset="0"/>
                <a:ea typeface="Cambria" pitchFamily="34" charset="-122"/>
                <a:cs typeface="Cambria" pitchFamily="34" charset="-120"/>
              </a:rPr>
              <a:t>8</a:t>
            </a:r>
            <a:endParaRPr lang="en-US" sz="3400" dirty="0"/>
          </a:p>
        </p:txBody>
      </p:sp>
      <p:sp>
        <p:nvSpPr>
          <p:cNvPr id="9" name="Text 6"/>
          <p:cNvSpPr/>
          <p:nvPr/>
        </p:nvSpPr>
        <p:spPr>
          <a:xfrm>
            <a:off x="2487168" y="4864608"/>
            <a:ext cx="155448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data templates</a:t>
            </a:r>
            <a:endParaRPr lang="en-US" sz="1100" dirty="0"/>
          </a:p>
        </p:txBody>
      </p:sp>
      <p:sp>
        <p:nvSpPr>
          <p:cNvPr id="10" name="Text 7"/>
          <p:cNvSpPr/>
          <p:nvPr/>
        </p:nvSpPr>
        <p:spPr>
          <a:xfrm>
            <a:off x="4315968" y="4297680"/>
            <a:ext cx="1371600" cy="548640"/>
          </a:xfrm>
          <a:prstGeom prst="rect">
            <a:avLst/>
          </a:prstGeom>
          <a:noFill/>
          <a:ln/>
        </p:spPr>
        <p:txBody>
          <a:bodyPr wrap="square" lIns="0" tIns="0" rIns="0" bIns="0" rtlCol="0" anchor="ctr"/>
          <a:lstStyle/>
          <a:p>
            <a:pPr indent="0" marL="0">
              <a:buNone/>
            </a:pPr>
            <a:r>
              <a:rPr lang="en-US" sz="3400" b="1" dirty="0">
                <a:solidFill>
                  <a:srgbClr val="C9A227"/>
                </a:solidFill>
                <a:latin typeface="Cambria" pitchFamily="34" charset="0"/>
                <a:ea typeface="Cambria" pitchFamily="34" charset="-122"/>
                <a:cs typeface="Cambria" pitchFamily="34" charset="-120"/>
              </a:rPr>
              <a:t>8</a:t>
            </a:r>
            <a:endParaRPr lang="en-US" sz="3400" dirty="0"/>
          </a:p>
        </p:txBody>
      </p:sp>
      <p:sp>
        <p:nvSpPr>
          <p:cNvPr id="11" name="Text 8"/>
          <p:cNvSpPr/>
          <p:nvPr/>
        </p:nvSpPr>
        <p:spPr>
          <a:xfrm>
            <a:off x="4315968" y="4864608"/>
            <a:ext cx="155448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standards</a:t>
            </a:r>
            <a:endParaRPr lang="en-US" sz="1100" dirty="0"/>
          </a:p>
        </p:txBody>
      </p:sp>
      <p:sp>
        <p:nvSpPr>
          <p:cNvPr id="12" name="Text 9"/>
          <p:cNvSpPr/>
          <p:nvPr/>
        </p:nvSpPr>
        <p:spPr>
          <a:xfrm>
            <a:off x="6144768" y="4297680"/>
            <a:ext cx="1371600" cy="548640"/>
          </a:xfrm>
          <a:prstGeom prst="rect">
            <a:avLst/>
          </a:prstGeom>
          <a:noFill/>
          <a:ln/>
        </p:spPr>
        <p:txBody>
          <a:bodyPr wrap="square" lIns="0" tIns="0" rIns="0" bIns="0" rtlCol="0" anchor="ctr"/>
          <a:lstStyle/>
          <a:p>
            <a:pPr indent="0" marL="0">
              <a:buNone/>
            </a:pPr>
            <a:r>
              <a:rPr lang="en-US" sz="3400" b="1" dirty="0">
                <a:solidFill>
                  <a:srgbClr val="C9A227"/>
                </a:solidFill>
                <a:latin typeface="Cambria" pitchFamily="34" charset="0"/>
                <a:ea typeface="Cambria" pitchFamily="34" charset="-122"/>
                <a:cs typeface="Cambria" pitchFamily="34" charset="-120"/>
              </a:rPr>
              <a:t>10</a:t>
            </a:r>
            <a:endParaRPr lang="en-US" sz="3400" dirty="0"/>
          </a:p>
        </p:txBody>
      </p:sp>
      <p:sp>
        <p:nvSpPr>
          <p:cNvPr id="13" name="Text 10"/>
          <p:cNvSpPr/>
          <p:nvPr/>
        </p:nvSpPr>
        <p:spPr>
          <a:xfrm>
            <a:off x="6144768" y="4864608"/>
            <a:ext cx="155448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integrations</a:t>
            </a:r>
            <a:endParaRPr lang="en-US" sz="1100" dirty="0"/>
          </a:p>
        </p:txBody>
      </p:sp>
      <p:sp>
        <p:nvSpPr>
          <p:cNvPr id="14" name="Text 11"/>
          <p:cNvSpPr/>
          <p:nvPr/>
        </p:nvSpPr>
        <p:spPr>
          <a:xfrm>
            <a:off x="658368" y="5852160"/>
            <a:ext cx="868680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SoW ARGP-DIGI-APP-SOW-001 Rev 00, task T-173, Gate G4 scope   |   15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Your four diagrams, one system</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You described the asset data backbone. This is that description, built.</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Text 2"/>
          <p:cNvSpPr/>
          <p:nvPr/>
        </p:nvSpPr>
        <p:spPr>
          <a:xfrm>
            <a:off x="777240" y="1463040"/>
            <a:ext cx="2743200" cy="228600"/>
          </a:xfrm>
          <a:prstGeom prst="rect">
            <a:avLst/>
          </a:prstGeom>
          <a:noFill/>
          <a:ln/>
        </p:spPr>
        <p:txBody>
          <a:bodyPr wrap="square" lIns="0" tIns="0" rIns="0" bIns="0" rtlCol="0" anchor="ctr"/>
          <a:lstStyle/>
          <a:p>
            <a:pPr indent="0" marL="0">
              <a:buNone/>
            </a:pPr>
            <a:r>
              <a:rPr lang="en-US" sz="950" b="1" dirty="0">
                <a:solidFill>
                  <a:srgbClr val="6B6D76"/>
                </a:solidFill>
                <a:latin typeface="Calibri" pitchFamily="34" charset="0"/>
                <a:ea typeface="Calibri" pitchFamily="34" charset="-122"/>
                <a:cs typeface="Calibri" pitchFamily="34" charset="-120"/>
              </a:rPr>
              <a:t>YOUR DIAGRAM</a:t>
            </a:r>
            <a:endParaRPr lang="en-US" sz="950" dirty="0"/>
          </a:p>
        </p:txBody>
      </p:sp>
      <p:sp>
        <p:nvSpPr>
          <p:cNvPr id="6" name="Text 3"/>
          <p:cNvSpPr/>
          <p:nvPr/>
        </p:nvSpPr>
        <p:spPr>
          <a:xfrm>
            <a:off x="3749040" y="1463040"/>
            <a:ext cx="3291840" cy="228600"/>
          </a:xfrm>
          <a:prstGeom prst="rect">
            <a:avLst/>
          </a:prstGeom>
          <a:noFill/>
          <a:ln/>
        </p:spPr>
        <p:txBody>
          <a:bodyPr wrap="square" lIns="0" tIns="0" rIns="0" bIns="0" rtlCol="0" anchor="ctr"/>
          <a:lstStyle/>
          <a:p>
            <a:pPr indent="0" marL="0">
              <a:buNone/>
            </a:pPr>
            <a:r>
              <a:rPr lang="en-US" sz="950" b="1" dirty="0">
                <a:solidFill>
                  <a:srgbClr val="6B6D76"/>
                </a:solidFill>
                <a:latin typeface="Calibri" pitchFamily="34" charset="0"/>
                <a:ea typeface="Calibri" pitchFamily="34" charset="-122"/>
                <a:cs typeface="Calibri" pitchFamily="34" charset="-120"/>
              </a:rPr>
              <a:t>WHAT IT SAYS</a:t>
            </a:r>
            <a:endParaRPr lang="en-US" sz="950" dirty="0"/>
          </a:p>
        </p:txBody>
      </p:sp>
      <p:sp>
        <p:nvSpPr>
          <p:cNvPr id="7" name="Text 4"/>
          <p:cNvSpPr/>
          <p:nvPr/>
        </p:nvSpPr>
        <p:spPr>
          <a:xfrm>
            <a:off x="7315200" y="1463040"/>
            <a:ext cx="4114800" cy="228600"/>
          </a:xfrm>
          <a:prstGeom prst="rect">
            <a:avLst/>
          </a:prstGeom>
          <a:noFill/>
          <a:ln/>
        </p:spPr>
        <p:txBody>
          <a:bodyPr wrap="square" lIns="0" tIns="0" rIns="0" bIns="0" rtlCol="0" anchor="ctr"/>
          <a:lstStyle/>
          <a:p>
            <a:pPr indent="0" marL="0">
              <a:buNone/>
            </a:pPr>
            <a:r>
              <a:rPr lang="en-US" sz="950" b="1" dirty="0">
                <a:solidFill>
                  <a:srgbClr val="6B6D76"/>
                </a:solidFill>
                <a:latin typeface="Calibri" pitchFamily="34" charset="0"/>
                <a:ea typeface="Calibri" pitchFamily="34" charset="-122"/>
                <a:cs typeface="Calibri" pitchFamily="34" charset="-120"/>
              </a:rPr>
              <a:t>WHAT IS RUNNING</a:t>
            </a:r>
            <a:endParaRPr lang="en-US" sz="950" dirty="0"/>
          </a:p>
        </p:txBody>
      </p:sp>
      <p:sp>
        <p:nvSpPr>
          <p:cNvPr id="8" name="Shape 5"/>
          <p:cNvSpPr/>
          <p:nvPr/>
        </p:nvSpPr>
        <p:spPr>
          <a:xfrm>
            <a:off x="548640" y="1783080"/>
            <a:ext cx="11064240" cy="987552"/>
          </a:xfrm>
          <a:prstGeom prst="roundRect">
            <a:avLst>
              <a:gd name="adj" fmla="val 7407"/>
            </a:avLst>
          </a:prstGeom>
          <a:solidFill>
            <a:srgbClr val="F4F3F0"/>
          </a:solidFill>
          <a:ln w="9525">
            <a:solidFill>
              <a:srgbClr val="E3E1DA"/>
            </a:solidFill>
            <a:prstDash val="solid"/>
          </a:ln>
        </p:spPr>
      </p:sp>
      <p:sp>
        <p:nvSpPr>
          <p:cNvPr id="9" name="Text 6"/>
          <p:cNvSpPr/>
          <p:nvPr/>
        </p:nvSpPr>
        <p:spPr>
          <a:xfrm>
            <a:off x="777240" y="1911096"/>
            <a:ext cx="2834640" cy="731520"/>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Data requirements chain</a:t>
            </a:r>
            <a:endParaRPr lang="en-US" sz="1300" dirty="0"/>
          </a:p>
        </p:txBody>
      </p:sp>
      <p:sp>
        <p:nvSpPr>
          <p:cNvPr id="10" name="Text 7"/>
          <p:cNvSpPr/>
          <p:nvPr/>
        </p:nvSpPr>
        <p:spPr>
          <a:xfrm>
            <a:off x="3749040" y="1911096"/>
            <a:ext cx="3383280" cy="731520"/>
          </a:xfrm>
          <a:prstGeom prst="rect">
            <a:avLst/>
          </a:prstGeom>
          <a:noFill/>
          <a:ln/>
        </p:spPr>
        <p:txBody>
          <a:bodyPr wrap="square" lIns="0" tIns="0" rIns="0" bIns="0" rtlCol="0" anchor="ctr"/>
          <a:lstStyle/>
          <a:p>
            <a:pPr indent="0" marL="0">
              <a:lnSpc>
                <a:spcPts val="1400"/>
              </a:lnSpc>
              <a:buNone/>
            </a:pPr>
            <a:r>
              <a:rPr lang="en-US" sz="1100" dirty="0">
                <a:solidFill>
                  <a:srgbClr val="6B6D76"/>
                </a:solidFill>
                <a:latin typeface="Calibri" pitchFamily="34" charset="0"/>
                <a:ea typeface="Calibri" pitchFamily="34" charset="-122"/>
                <a:cs typeface="Calibri" pitchFamily="34" charset="-120"/>
              </a:rPr>
              <a:t>Standard defines Product Type defines Property Set defines Data Template.</a:t>
            </a:r>
            <a:endParaRPr lang="en-US" sz="1100" dirty="0"/>
          </a:p>
        </p:txBody>
      </p:sp>
      <p:sp>
        <p:nvSpPr>
          <p:cNvPr id="11" name="Text 8"/>
          <p:cNvSpPr/>
          <p:nvPr/>
        </p:nvSpPr>
        <p:spPr>
          <a:xfrm>
            <a:off x="7315200" y="1911096"/>
            <a:ext cx="4114800" cy="731520"/>
          </a:xfrm>
          <a:prstGeom prst="rect">
            <a:avLst/>
          </a:prstGeom>
          <a:noFill/>
          <a:ln/>
        </p:spPr>
        <p:txBody>
          <a:bodyPr wrap="square" lIns="0" tIns="0" rIns="0" bIns="0" rtlCol="0" anchor="ctr"/>
          <a:lstStyle/>
          <a:p>
            <a:pPr indent="0" marL="0">
              <a:lnSpc>
                <a:spcPts val="1400"/>
              </a:lnSpc>
              <a:buNone/>
            </a:pPr>
            <a:r>
              <a:rPr lang="en-US" sz="1100" dirty="0">
                <a:solidFill>
                  <a:srgbClr val="2E7D32"/>
                </a:solidFill>
                <a:latin typeface="Calibri" pitchFamily="34" charset="0"/>
                <a:ea typeface="Calibri" pitchFamily="34" charset="-122"/>
                <a:cs typeface="Calibri" pitchFamily="34" charset="-120"/>
              </a:rPr>
              <a:t>Data Template Library: 8 templates, 24 properties, each derived from a named standard.</a:t>
            </a:r>
            <a:endParaRPr lang="en-US" sz="1100" dirty="0"/>
          </a:p>
        </p:txBody>
      </p:sp>
      <p:sp>
        <p:nvSpPr>
          <p:cNvPr id="12" name="Shape 9"/>
          <p:cNvSpPr/>
          <p:nvPr/>
        </p:nvSpPr>
        <p:spPr>
          <a:xfrm>
            <a:off x="548640" y="2880360"/>
            <a:ext cx="11064240" cy="987552"/>
          </a:xfrm>
          <a:prstGeom prst="roundRect">
            <a:avLst>
              <a:gd name="adj" fmla="val 7407"/>
            </a:avLst>
          </a:prstGeom>
          <a:solidFill>
            <a:srgbClr val="F4F3F0"/>
          </a:solidFill>
          <a:ln w="9525">
            <a:solidFill>
              <a:srgbClr val="E3E1DA"/>
            </a:solidFill>
            <a:prstDash val="solid"/>
          </a:ln>
        </p:spPr>
      </p:sp>
      <p:sp>
        <p:nvSpPr>
          <p:cNvPr id="13" name="Text 10"/>
          <p:cNvSpPr/>
          <p:nvPr/>
        </p:nvSpPr>
        <p:spPr>
          <a:xfrm>
            <a:off x="777240" y="3008376"/>
            <a:ext cx="2834640" cy="731520"/>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Governance and compliance</a:t>
            </a:r>
            <a:endParaRPr lang="en-US" sz="1300" dirty="0"/>
          </a:p>
        </p:txBody>
      </p:sp>
      <p:sp>
        <p:nvSpPr>
          <p:cNvPr id="14" name="Text 11"/>
          <p:cNvSpPr/>
          <p:nvPr/>
        </p:nvSpPr>
        <p:spPr>
          <a:xfrm>
            <a:off x="3749040" y="3008376"/>
            <a:ext cx="3383280" cy="731520"/>
          </a:xfrm>
          <a:prstGeom prst="rect">
            <a:avLst/>
          </a:prstGeom>
          <a:noFill/>
          <a:ln/>
        </p:spPr>
        <p:txBody>
          <a:bodyPr wrap="square" lIns="0" tIns="0" rIns="0" bIns="0" rtlCol="0" anchor="ctr"/>
          <a:lstStyle/>
          <a:p>
            <a:pPr indent="0" marL="0">
              <a:lnSpc>
                <a:spcPts val="1400"/>
              </a:lnSpc>
              <a:buNone/>
            </a:pPr>
            <a:r>
              <a:rPr lang="en-US" sz="1100" dirty="0">
                <a:solidFill>
                  <a:srgbClr val="6B6D76"/>
                </a:solidFill>
                <a:latin typeface="Calibri" pitchFamily="34" charset="0"/>
                <a:ea typeface="Calibri" pitchFamily="34" charset="-122"/>
                <a:cs typeface="Calibri" pitchFamily="34" charset="-120"/>
              </a:rPr>
              <a:t>Three governance inputs feed three compliance checks before a template is applied.</a:t>
            </a:r>
            <a:endParaRPr lang="en-US" sz="1100" dirty="0"/>
          </a:p>
        </p:txBody>
      </p:sp>
      <p:sp>
        <p:nvSpPr>
          <p:cNvPr id="15" name="Text 12"/>
          <p:cNvSpPr/>
          <p:nvPr/>
        </p:nvSpPr>
        <p:spPr>
          <a:xfrm>
            <a:off x="7315200" y="3008376"/>
            <a:ext cx="4114800" cy="731520"/>
          </a:xfrm>
          <a:prstGeom prst="rect">
            <a:avLst/>
          </a:prstGeom>
          <a:noFill/>
          <a:ln/>
        </p:spPr>
        <p:txBody>
          <a:bodyPr wrap="square" lIns="0" tIns="0" rIns="0" bIns="0" rtlCol="0" anchor="ctr"/>
          <a:lstStyle/>
          <a:p>
            <a:pPr indent="0" marL="0">
              <a:lnSpc>
                <a:spcPts val="1400"/>
              </a:lnSpc>
              <a:buNone/>
            </a:pPr>
            <a:r>
              <a:rPr lang="en-US" sz="1100" dirty="0">
                <a:solidFill>
                  <a:srgbClr val="2E7D32"/>
                </a:solidFill>
                <a:latin typeface="Calibri" pitchFamily="34" charset="0"/>
                <a:ea typeface="Calibri" pitchFamily="34" charset="-122"/>
                <a:cs typeface="Calibri" pitchFamily="34" charset="-120"/>
              </a:rPr>
              <a:t>Compliance Centre: 10 rules across the three families, run on demand.</a:t>
            </a:r>
            <a:endParaRPr lang="en-US" sz="1100" dirty="0"/>
          </a:p>
        </p:txBody>
      </p:sp>
      <p:sp>
        <p:nvSpPr>
          <p:cNvPr id="16" name="Shape 13"/>
          <p:cNvSpPr/>
          <p:nvPr/>
        </p:nvSpPr>
        <p:spPr>
          <a:xfrm>
            <a:off x="548640" y="3977640"/>
            <a:ext cx="11064240" cy="987552"/>
          </a:xfrm>
          <a:prstGeom prst="roundRect">
            <a:avLst>
              <a:gd name="adj" fmla="val 7407"/>
            </a:avLst>
          </a:prstGeom>
          <a:solidFill>
            <a:srgbClr val="F4F3F0"/>
          </a:solidFill>
          <a:ln w="9525">
            <a:solidFill>
              <a:srgbClr val="E3E1DA"/>
            </a:solidFill>
            <a:prstDash val="solid"/>
          </a:ln>
        </p:spPr>
      </p:sp>
      <p:sp>
        <p:nvSpPr>
          <p:cNvPr id="17" name="Text 14"/>
          <p:cNvSpPr/>
          <p:nvPr/>
        </p:nvSpPr>
        <p:spPr>
          <a:xfrm>
            <a:off x="777240" y="4105656"/>
            <a:ext cx="2834640" cy="731520"/>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Asset standards to CDE</a:t>
            </a:r>
            <a:endParaRPr lang="en-US" sz="1300" dirty="0"/>
          </a:p>
        </p:txBody>
      </p:sp>
      <p:sp>
        <p:nvSpPr>
          <p:cNvPr id="18" name="Text 15"/>
          <p:cNvSpPr/>
          <p:nvPr/>
        </p:nvSpPr>
        <p:spPr>
          <a:xfrm>
            <a:off x="3749040" y="4105656"/>
            <a:ext cx="3383280" cy="731520"/>
          </a:xfrm>
          <a:prstGeom prst="rect">
            <a:avLst/>
          </a:prstGeom>
          <a:noFill/>
          <a:ln/>
        </p:spPr>
        <p:txBody>
          <a:bodyPr wrap="square" lIns="0" tIns="0" rIns="0" bIns="0" rtlCol="0" anchor="ctr"/>
          <a:lstStyle/>
          <a:p>
            <a:pPr indent="0" marL="0">
              <a:lnSpc>
                <a:spcPts val="1400"/>
              </a:lnSpc>
              <a:buNone/>
            </a:pPr>
            <a:r>
              <a:rPr lang="en-US" sz="1100" dirty="0">
                <a:solidFill>
                  <a:srgbClr val="6B6D76"/>
                </a:solidFill>
                <a:latin typeface="Calibri" pitchFamily="34" charset="0"/>
                <a:ea typeface="Calibri" pitchFamily="34" charset="-122"/>
                <a:cs typeface="Calibri" pitchFamily="34" charset="-120"/>
              </a:rPr>
              <a:t>Four asset classes with governed IDs and revisions, published to downstream systems.</a:t>
            </a:r>
            <a:endParaRPr lang="en-US" sz="1100" dirty="0"/>
          </a:p>
        </p:txBody>
      </p:sp>
      <p:sp>
        <p:nvSpPr>
          <p:cNvPr id="19" name="Text 16"/>
          <p:cNvSpPr/>
          <p:nvPr/>
        </p:nvSpPr>
        <p:spPr>
          <a:xfrm>
            <a:off x="7315200" y="4105656"/>
            <a:ext cx="4114800" cy="731520"/>
          </a:xfrm>
          <a:prstGeom prst="rect">
            <a:avLst/>
          </a:prstGeom>
          <a:noFill/>
          <a:ln/>
        </p:spPr>
        <p:txBody>
          <a:bodyPr wrap="square" lIns="0" tIns="0" rIns="0" bIns="0" rtlCol="0" anchor="ctr"/>
          <a:lstStyle/>
          <a:p>
            <a:pPr indent="0" marL="0">
              <a:lnSpc>
                <a:spcPts val="1400"/>
              </a:lnSpc>
              <a:buNone/>
            </a:pPr>
            <a:r>
              <a:rPr lang="en-US" sz="1100" dirty="0">
                <a:solidFill>
                  <a:srgbClr val="2E7D32"/>
                </a:solidFill>
                <a:latin typeface="Calibri" pitchFamily="34" charset="0"/>
                <a:ea typeface="Calibri" pitchFamily="34" charset="-122"/>
                <a:cs typeface="Calibri" pitchFamily="34" charset="-120"/>
              </a:rPr>
              <a:t>Asset Registry: 40 tags across STR, ELE, EQP and MAT, with revisions and lifecycle.</a:t>
            </a:r>
            <a:endParaRPr lang="en-US" sz="1100" dirty="0"/>
          </a:p>
        </p:txBody>
      </p:sp>
      <p:sp>
        <p:nvSpPr>
          <p:cNvPr id="20" name="Shape 17"/>
          <p:cNvSpPr/>
          <p:nvPr/>
        </p:nvSpPr>
        <p:spPr>
          <a:xfrm>
            <a:off x="548640" y="5074920"/>
            <a:ext cx="11064240" cy="987552"/>
          </a:xfrm>
          <a:prstGeom prst="roundRect">
            <a:avLst>
              <a:gd name="adj" fmla="val 7407"/>
            </a:avLst>
          </a:prstGeom>
          <a:solidFill>
            <a:srgbClr val="F4F3F0"/>
          </a:solidFill>
          <a:ln w="9525">
            <a:solidFill>
              <a:srgbClr val="E3E1DA"/>
            </a:solidFill>
            <a:prstDash val="solid"/>
          </a:ln>
        </p:spPr>
      </p:sp>
      <p:sp>
        <p:nvSpPr>
          <p:cNvPr id="21" name="Text 18"/>
          <p:cNvSpPr/>
          <p:nvPr/>
        </p:nvSpPr>
        <p:spPr>
          <a:xfrm>
            <a:off x="777240" y="5202936"/>
            <a:ext cx="2834640" cy="731520"/>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The CDE hub</a:t>
            </a:r>
            <a:endParaRPr lang="en-US" sz="1300" dirty="0"/>
          </a:p>
        </p:txBody>
      </p:sp>
      <p:sp>
        <p:nvSpPr>
          <p:cNvPr id="22" name="Text 19"/>
          <p:cNvSpPr/>
          <p:nvPr/>
        </p:nvSpPr>
        <p:spPr>
          <a:xfrm>
            <a:off x="3749040" y="5202936"/>
            <a:ext cx="3383280" cy="731520"/>
          </a:xfrm>
          <a:prstGeom prst="rect">
            <a:avLst/>
          </a:prstGeom>
          <a:noFill/>
          <a:ln/>
        </p:spPr>
        <p:txBody>
          <a:bodyPr wrap="square" lIns="0" tIns="0" rIns="0" bIns="0" rtlCol="0" anchor="ctr"/>
          <a:lstStyle/>
          <a:p>
            <a:pPr indent="0" marL="0">
              <a:lnSpc>
                <a:spcPts val="1400"/>
              </a:lnSpc>
              <a:buNone/>
            </a:pPr>
            <a:r>
              <a:rPr lang="en-US" sz="1100" dirty="0">
                <a:solidFill>
                  <a:srgbClr val="6B6D76"/>
                </a:solidFill>
                <a:latin typeface="Calibri" pitchFamily="34" charset="0"/>
                <a:ea typeface="Calibri" pitchFamily="34" charset="-122"/>
                <a:cs typeface="Calibri" pitchFamily="34" charset="-120"/>
              </a:rPr>
              <a:t>The CDE at the centre of six system families.</a:t>
            </a:r>
            <a:endParaRPr lang="en-US" sz="1100" dirty="0"/>
          </a:p>
        </p:txBody>
      </p:sp>
      <p:sp>
        <p:nvSpPr>
          <p:cNvPr id="23" name="Text 20"/>
          <p:cNvSpPr/>
          <p:nvPr/>
        </p:nvSpPr>
        <p:spPr>
          <a:xfrm>
            <a:off x="7315200" y="5202936"/>
            <a:ext cx="4114800" cy="731520"/>
          </a:xfrm>
          <a:prstGeom prst="rect">
            <a:avLst/>
          </a:prstGeom>
          <a:noFill/>
          <a:ln/>
        </p:spPr>
        <p:txBody>
          <a:bodyPr wrap="square" lIns="0" tIns="0" rIns="0" bIns="0" rtlCol="0" anchor="ctr"/>
          <a:lstStyle/>
          <a:p>
            <a:pPr indent="0" marL="0">
              <a:lnSpc>
                <a:spcPts val="1400"/>
              </a:lnSpc>
              <a:buNone/>
            </a:pPr>
            <a:r>
              <a:rPr lang="en-US" sz="1100" dirty="0">
                <a:solidFill>
                  <a:srgbClr val="2E7D32"/>
                </a:solidFill>
                <a:latin typeface="Calibri" pitchFamily="34" charset="0"/>
                <a:ea typeface="Calibri" pitchFamily="34" charset="-122"/>
                <a:cs typeface="Calibri" pitchFamily="34" charset="-120"/>
              </a:rPr>
              <a:t>Publish Hub: the 10 roadmap integrations, with payloads and hashes.</a:t>
            </a:r>
            <a:endParaRPr lang="en-US" sz="1100" dirty="0"/>
          </a:p>
        </p:txBody>
      </p:sp>
      <p:sp>
        <p:nvSpPr>
          <p:cNvPr id="24" name="Text 21"/>
          <p:cNvSpPr/>
          <p:nvPr/>
        </p:nvSpPr>
        <p:spPr>
          <a:xfrm>
            <a:off x="548640" y="5870448"/>
            <a:ext cx="11064240" cy="292608"/>
          </a:xfrm>
          <a:prstGeom prst="rect">
            <a:avLst/>
          </a:prstGeom>
          <a:noFill/>
          <a:ln/>
        </p:spPr>
        <p:txBody>
          <a:bodyPr wrap="square" lIns="0" tIns="0" rIns="0" bIns="0" rtlCol="0" anchor="ctr"/>
          <a:lstStyle/>
          <a:p>
            <a:pPr indent="0" marL="0">
              <a:buNone/>
            </a:pPr>
            <a:r>
              <a:rPr lang="en-US" sz="1200" i="1" dirty="0">
                <a:solidFill>
                  <a:srgbClr val="6B6D76"/>
                </a:solidFill>
                <a:latin typeface="Calibri" pitchFamily="34" charset="0"/>
                <a:ea typeface="Calibri" pitchFamily="34" charset="-122"/>
                <a:cs typeface="Calibri" pitchFamily="34" charset="-120"/>
              </a:rPr>
              <a:t>Nothing here is a mockup. It runs on PostgreSQL, on the stack the Master Roadmap specifies.</a:t>
            </a:r>
            <a:endParaRPr lang="en-US" sz="1200" dirty="0"/>
          </a:p>
        </p:txBody>
      </p:sp>
      <p:sp>
        <p:nvSpPr>
          <p:cNvPr id="25" name="Text 22"/>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The Data Template chain</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Your common digital language, enforced end to end</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737360"/>
            <a:ext cx="1828800" cy="2377440"/>
          </a:xfrm>
          <a:prstGeom prst="roundRect">
            <a:avLst>
              <a:gd name="adj" fmla="val 4000"/>
            </a:avLst>
          </a:prstGeom>
          <a:solidFill>
            <a:srgbClr val="FFFFFF"/>
          </a:solidFill>
          <a:ln w="9525">
            <a:solidFill>
              <a:srgbClr val="C9A227"/>
            </a:solidFill>
            <a:prstDash val="solid"/>
          </a:ln>
        </p:spPr>
      </p:sp>
      <p:sp>
        <p:nvSpPr>
          <p:cNvPr id="6" name="Text 3"/>
          <p:cNvSpPr/>
          <p:nvPr/>
        </p:nvSpPr>
        <p:spPr>
          <a:xfrm>
            <a:off x="640080" y="1920240"/>
            <a:ext cx="1645920" cy="274320"/>
          </a:xfrm>
          <a:prstGeom prst="rect">
            <a:avLst/>
          </a:prstGeom>
          <a:noFill/>
          <a:ln/>
        </p:spPr>
        <p:txBody>
          <a:bodyPr wrap="square" lIns="0" tIns="0" rIns="0" bIns="0" rtlCol="0" anchor="ctr"/>
          <a:lstStyle/>
          <a:p>
            <a:pPr algn="ctr" indent="0" marL="0">
              <a:buNone/>
            </a:pPr>
            <a:r>
              <a:rPr lang="en-US" sz="1000" b="1" dirty="0">
                <a:solidFill>
                  <a:srgbClr val="9A7B1A"/>
                </a:solidFill>
                <a:latin typeface="Calibri" pitchFamily="34" charset="0"/>
                <a:ea typeface="Calibri" pitchFamily="34" charset="-122"/>
                <a:cs typeface="Calibri" pitchFamily="34" charset="-120"/>
              </a:rPr>
              <a:t>STANDARD</a:t>
            </a:r>
            <a:endParaRPr lang="en-US" sz="1000" dirty="0"/>
          </a:p>
        </p:txBody>
      </p:sp>
      <p:sp>
        <p:nvSpPr>
          <p:cNvPr id="7" name="Text 4"/>
          <p:cNvSpPr/>
          <p:nvPr/>
        </p:nvSpPr>
        <p:spPr>
          <a:xfrm>
            <a:off x="640080" y="2286000"/>
            <a:ext cx="1645920" cy="640080"/>
          </a:xfrm>
          <a:prstGeom prst="rect">
            <a:avLst/>
          </a:prstGeom>
          <a:noFill/>
          <a:ln/>
        </p:spPr>
        <p:txBody>
          <a:bodyPr wrap="square" lIns="0" tIns="0" rIns="0" bIns="0" rtlCol="0" anchor="ctr"/>
          <a:lstStyle/>
          <a:p>
            <a:pPr algn="ctr" indent="0" marL="0">
              <a:buNone/>
            </a:pPr>
            <a:r>
              <a:rPr lang="en-US" sz="1250" b="1" dirty="0">
                <a:solidFill>
                  <a:srgbClr val="1F2024"/>
                </a:solidFill>
                <a:latin typeface="Cambria" pitchFamily="34" charset="0"/>
                <a:ea typeface="Cambria" pitchFamily="34" charset="-122"/>
                <a:cs typeface="Cambria" pitchFamily="34" charset="-120"/>
              </a:rPr>
              <a:t>API 610</a:t>
            </a:r>
            <a:endParaRPr lang="en-US" sz="1250" dirty="0"/>
          </a:p>
        </p:txBody>
      </p:sp>
      <p:sp>
        <p:nvSpPr>
          <p:cNvPr id="8" name="Text 5"/>
          <p:cNvSpPr/>
          <p:nvPr/>
        </p:nvSpPr>
        <p:spPr>
          <a:xfrm>
            <a:off x="640080" y="3063240"/>
            <a:ext cx="1645920" cy="822960"/>
          </a:xfrm>
          <a:prstGeom prst="rect">
            <a:avLst/>
          </a:prstGeom>
          <a:noFill/>
          <a:ln/>
        </p:spPr>
        <p:txBody>
          <a:bodyPr wrap="square" lIns="0" tIns="0" rIns="0" bIns="0" rtlCol="0" anchor="ctr"/>
          <a:lstStyle/>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Issued by a body</a:t>
            </a:r>
            <a:endParaRPr lang="en-US" sz="1000" dirty="0"/>
          </a:p>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you already follow</a:t>
            </a:r>
            <a:endParaRPr lang="en-US" sz="1000" dirty="0"/>
          </a:p>
        </p:txBody>
      </p:sp>
      <p:sp>
        <p:nvSpPr>
          <p:cNvPr id="9" name="Text 6"/>
          <p:cNvSpPr/>
          <p:nvPr/>
        </p:nvSpPr>
        <p:spPr>
          <a:xfrm>
            <a:off x="2377440" y="2743200"/>
            <a:ext cx="548640" cy="274320"/>
          </a:xfrm>
          <a:prstGeom prst="rect">
            <a:avLst/>
          </a:prstGeom>
          <a:noFill/>
          <a:ln/>
        </p:spPr>
        <p:txBody>
          <a:bodyPr wrap="square" lIns="0" tIns="0" rIns="0" bIns="0" rtlCol="0" anchor="ctr"/>
          <a:lstStyle/>
          <a:p>
            <a:pPr algn="ctr" indent="0" marL="0">
              <a:buNone/>
            </a:pPr>
            <a:r>
              <a:rPr lang="en-US" sz="850" b="1" dirty="0">
                <a:solidFill>
                  <a:srgbClr val="9A7B1A"/>
                </a:solidFill>
                <a:latin typeface="Calibri" pitchFamily="34" charset="0"/>
                <a:ea typeface="Calibri" pitchFamily="34" charset="-122"/>
                <a:cs typeface="Calibri" pitchFamily="34" charset="-120"/>
              </a:rPr>
              <a:t>defines</a:t>
            </a:r>
            <a:endParaRPr lang="en-US" sz="850" dirty="0"/>
          </a:p>
        </p:txBody>
      </p:sp>
      <p:sp>
        <p:nvSpPr>
          <p:cNvPr id="10" name="Shape 7"/>
          <p:cNvSpPr/>
          <p:nvPr/>
        </p:nvSpPr>
        <p:spPr>
          <a:xfrm>
            <a:off x="2926080" y="1737360"/>
            <a:ext cx="1828800" cy="2377440"/>
          </a:xfrm>
          <a:prstGeom prst="roundRect">
            <a:avLst>
              <a:gd name="adj" fmla="val 4000"/>
            </a:avLst>
          </a:prstGeom>
          <a:solidFill>
            <a:srgbClr val="FFFFFF"/>
          </a:solidFill>
          <a:ln w="9525">
            <a:solidFill>
              <a:srgbClr val="C9A227"/>
            </a:solidFill>
            <a:prstDash val="solid"/>
          </a:ln>
        </p:spPr>
      </p:sp>
      <p:sp>
        <p:nvSpPr>
          <p:cNvPr id="11" name="Text 8"/>
          <p:cNvSpPr/>
          <p:nvPr/>
        </p:nvSpPr>
        <p:spPr>
          <a:xfrm>
            <a:off x="3017520" y="1920240"/>
            <a:ext cx="1645920" cy="274320"/>
          </a:xfrm>
          <a:prstGeom prst="rect">
            <a:avLst/>
          </a:prstGeom>
          <a:noFill/>
          <a:ln/>
        </p:spPr>
        <p:txBody>
          <a:bodyPr wrap="square" lIns="0" tIns="0" rIns="0" bIns="0" rtlCol="0" anchor="ctr"/>
          <a:lstStyle/>
          <a:p>
            <a:pPr algn="ctr" indent="0" marL="0">
              <a:buNone/>
            </a:pPr>
            <a:r>
              <a:rPr lang="en-US" sz="1000" b="1" dirty="0">
                <a:solidFill>
                  <a:srgbClr val="9A7B1A"/>
                </a:solidFill>
                <a:latin typeface="Calibri" pitchFamily="34" charset="0"/>
                <a:ea typeface="Calibri" pitchFamily="34" charset="-122"/>
                <a:cs typeface="Calibri" pitchFamily="34" charset="-120"/>
              </a:rPr>
              <a:t>PRODUCT TYPE</a:t>
            </a:r>
            <a:endParaRPr lang="en-US" sz="1000" dirty="0"/>
          </a:p>
        </p:txBody>
      </p:sp>
      <p:sp>
        <p:nvSpPr>
          <p:cNvPr id="12" name="Text 9"/>
          <p:cNvSpPr/>
          <p:nvPr/>
        </p:nvSpPr>
        <p:spPr>
          <a:xfrm>
            <a:off x="3017520" y="2286000"/>
            <a:ext cx="1645920" cy="640080"/>
          </a:xfrm>
          <a:prstGeom prst="rect">
            <a:avLst/>
          </a:prstGeom>
          <a:noFill/>
          <a:ln/>
        </p:spPr>
        <p:txBody>
          <a:bodyPr wrap="square" lIns="0" tIns="0" rIns="0" bIns="0" rtlCol="0" anchor="ctr"/>
          <a:lstStyle/>
          <a:p>
            <a:pPr algn="ctr" indent="0" marL="0">
              <a:buNone/>
            </a:pPr>
            <a:r>
              <a:rPr lang="en-US" sz="1250" b="1" dirty="0">
                <a:solidFill>
                  <a:srgbClr val="1F2024"/>
                </a:solidFill>
                <a:latin typeface="Cambria" pitchFamily="34" charset="0"/>
                <a:ea typeface="Cambria" pitchFamily="34" charset="-122"/>
                <a:cs typeface="Cambria" pitchFamily="34" charset="-120"/>
              </a:rPr>
              <a:t>Centrifugal Pump</a:t>
            </a:r>
            <a:endParaRPr lang="en-US" sz="1250" dirty="0"/>
          </a:p>
        </p:txBody>
      </p:sp>
      <p:sp>
        <p:nvSpPr>
          <p:cNvPr id="13" name="Text 10"/>
          <p:cNvSpPr/>
          <p:nvPr/>
        </p:nvSpPr>
        <p:spPr>
          <a:xfrm>
            <a:off x="3017520" y="3063240"/>
            <a:ext cx="1645920" cy="822960"/>
          </a:xfrm>
          <a:prstGeom prst="rect">
            <a:avLst/>
          </a:prstGeom>
          <a:noFill/>
          <a:ln/>
        </p:spPr>
        <p:txBody>
          <a:bodyPr wrap="square" lIns="0" tIns="0" rIns="0" bIns="0" rtlCol="0" anchor="ctr"/>
          <a:lstStyle/>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A node in the</a:t>
            </a:r>
            <a:endParaRPr lang="en-US" sz="1000" dirty="0"/>
          </a:p>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class library</a:t>
            </a:r>
            <a:endParaRPr lang="en-US" sz="1000" dirty="0"/>
          </a:p>
        </p:txBody>
      </p:sp>
      <p:sp>
        <p:nvSpPr>
          <p:cNvPr id="14" name="Text 11"/>
          <p:cNvSpPr/>
          <p:nvPr/>
        </p:nvSpPr>
        <p:spPr>
          <a:xfrm>
            <a:off x="4754880" y="2743200"/>
            <a:ext cx="548640" cy="274320"/>
          </a:xfrm>
          <a:prstGeom prst="rect">
            <a:avLst/>
          </a:prstGeom>
          <a:noFill/>
          <a:ln/>
        </p:spPr>
        <p:txBody>
          <a:bodyPr wrap="square" lIns="0" tIns="0" rIns="0" bIns="0" rtlCol="0" anchor="ctr"/>
          <a:lstStyle/>
          <a:p>
            <a:pPr algn="ctr" indent="0" marL="0">
              <a:buNone/>
            </a:pPr>
            <a:r>
              <a:rPr lang="en-US" sz="850" b="1" dirty="0">
                <a:solidFill>
                  <a:srgbClr val="9A7B1A"/>
                </a:solidFill>
                <a:latin typeface="Calibri" pitchFamily="34" charset="0"/>
                <a:ea typeface="Calibri" pitchFamily="34" charset="-122"/>
                <a:cs typeface="Calibri" pitchFamily="34" charset="-120"/>
              </a:rPr>
              <a:t>defines</a:t>
            </a:r>
            <a:endParaRPr lang="en-US" sz="850" dirty="0"/>
          </a:p>
        </p:txBody>
      </p:sp>
      <p:sp>
        <p:nvSpPr>
          <p:cNvPr id="15" name="Shape 12"/>
          <p:cNvSpPr/>
          <p:nvPr/>
        </p:nvSpPr>
        <p:spPr>
          <a:xfrm>
            <a:off x="5303520" y="1737360"/>
            <a:ext cx="1828800" cy="2377440"/>
          </a:xfrm>
          <a:prstGeom prst="roundRect">
            <a:avLst>
              <a:gd name="adj" fmla="val 4000"/>
            </a:avLst>
          </a:prstGeom>
          <a:solidFill>
            <a:srgbClr val="FFFFFF"/>
          </a:solidFill>
          <a:ln w="9525">
            <a:solidFill>
              <a:srgbClr val="C9A227"/>
            </a:solidFill>
            <a:prstDash val="solid"/>
          </a:ln>
        </p:spPr>
      </p:sp>
      <p:sp>
        <p:nvSpPr>
          <p:cNvPr id="16" name="Text 13"/>
          <p:cNvSpPr/>
          <p:nvPr/>
        </p:nvSpPr>
        <p:spPr>
          <a:xfrm>
            <a:off x="5394960" y="1920240"/>
            <a:ext cx="1645920" cy="274320"/>
          </a:xfrm>
          <a:prstGeom prst="rect">
            <a:avLst/>
          </a:prstGeom>
          <a:noFill/>
          <a:ln/>
        </p:spPr>
        <p:txBody>
          <a:bodyPr wrap="square" lIns="0" tIns="0" rIns="0" bIns="0" rtlCol="0" anchor="ctr"/>
          <a:lstStyle/>
          <a:p>
            <a:pPr algn="ctr" indent="0" marL="0">
              <a:buNone/>
            </a:pPr>
            <a:r>
              <a:rPr lang="en-US" sz="1000" b="1" dirty="0">
                <a:solidFill>
                  <a:srgbClr val="9A7B1A"/>
                </a:solidFill>
                <a:latin typeface="Calibri" pitchFamily="34" charset="0"/>
                <a:ea typeface="Calibri" pitchFamily="34" charset="-122"/>
                <a:cs typeface="Calibri" pitchFamily="34" charset="-120"/>
              </a:rPr>
              <a:t>PROPERTY SET</a:t>
            </a:r>
            <a:endParaRPr lang="en-US" sz="1000" dirty="0"/>
          </a:p>
        </p:txBody>
      </p:sp>
      <p:sp>
        <p:nvSpPr>
          <p:cNvPr id="17" name="Text 14"/>
          <p:cNvSpPr/>
          <p:nvPr/>
        </p:nvSpPr>
        <p:spPr>
          <a:xfrm>
            <a:off x="5394960" y="2286000"/>
            <a:ext cx="1645920" cy="640080"/>
          </a:xfrm>
          <a:prstGeom prst="rect">
            <a:avLst/>
          </a:prstGeom>
          <a:noFill/>
          <a:ln/>
        </p:spPr>
        <p:txBody>
          <a:bodyPr wrap="square" lIns="0" tIns="0" rIns="0" bIns="0" rtlCol="0" anchor="ctr"/>
          <a:lstStyle/>
          <a:p>
            <a:pPr algn="ctr" indent="0" marL="0">
              <a:buNone/>
            </a:pPr>
            <a:r>
              <a:rPr lang="en-US" sz="1250" b="1" dirty="0">
                <a:solidFill>
                  <a:srgbClr val="1F2024"/>
                </a:solidFill>
                <a:latin typeface="Cambria" pitchFamily="34" charset="0"/>
                <a:ea typeface="Cambria" pitchFamily="34" charset="-122"/>
                <a:cs typeface="Cambria" pitchFamily="34" charset="-120"/>
              </a:rPr>
              <a:t>flow, pressure,</a:t>
            </a:r>
            <a:endParaRPr lang="en-US" sz="1250" dirty="0"/>
          </a:p>
          <a:p>
            <a:pPr algn="ctr" indent="0" marL="0">
              <a:buNone/>
            </a:pPr>
            <a:r>
              <a:rPr lang="en-US" sz="1250" b="1" dirty="0">
                <a:solidFill>
                  <a:srgbClr val="1F2024"/>
                </a:solidFill>
                <a:latin typeface="Cambria" pitchFamily="34" charset="0"/>
                <a:ea typeface="Cambria" pitchFamily="34" charset="-122"/>
                <a:cs typeface="Cambria" pitchFamily="34" charset="-120"/>
              </a:rPr>
              <a:t>power, material</a:t>
            </a:r>
            <a:endParaRPr lang="en-US" sz="1250" dirty="0"/>
          </a:p>
        </p:txBody>
      </p:sp>
      <p:sp>
        <p:nvSpPr>
          <p:cNvPr id="18" name="Text 15"/>
          <p:cNvSpPr/>
          <p:nvPr/>
        </p:nvSpPr>
        <p:spPr>
          <a:xfrm>
            <a:off x="5394960" y="3063240"/>
            <a:ext cx="1645920" cy="822960"/>
          </a:xfrm>
          <a:prstGeom prst="rect">
            <a:avLst/>
          </a:prstGeom>
          <a:noFill/>
          <a:ln/>
        </p:spPr>
        <p:txBody>
          <a:bodyPr wrap="square" lIns="0" tIns="0" rIns="0" bIns="0" rtlCol="0" anchor="ctr"/>
          <a:lstStyle/>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What must be known</a:t>
            </a:r>
            <a:endParaRPr lang="en-US" sz="1000" dirty="0"/>
          </a:p>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about the type</a:t>
            </a:r>
            <a:endParaRPr lang="en-US" sz="1000" dirty="0"/>
          </a:p>
        </p:txBody>
      </p:sp>
      <p:sp>
        <p:nvSpPr>
          <p:cNvPr id="19" name="Text 16"/>
          <p:cNvSpPr/>
          <p:nvPr/>
        </p:nvSpPr>
        <p:spPr>
          <a:xfrm>
            <a:off x="7132320" y="2743200"/>
            <a:ext cx="548640" cy="274320"/>
          </a:xfrm>
          <a:prstGeom prst="rect">
            <a:avLst/>
          </a:prstGeom>
          <a:noFill/>
          <a:ln/>
        </p:spPr>
        <p:txBody>
          <a:bodyPr wrap="square" lIns="0" tIns="0" rIns="0" bIns="0" rtlCol="0" anchor="ctr"/>
          <a:lstStyle/>
          <a:p>
            <a:pPr algn="ctr" indent="0" marL="0">
              <a:buNone/>
            </a:pPr>
            <a:r>
              <a:rPr lang="en-US" sz="850" b="1" dirty="0">
                <a:solidFill>
                  <a:srgbClr val="9A7B1A"/>
                </a:solidFill>
                <a:latin typeface="Calibri" pitchFamily="34" charset="0"/>
                <a:ea typeface="Calibri" pitchFamily="34" charset="-122"/>
                <a:cs typeface="Calibri" pitchFamily="34" charset="-120"/>
              </a:rPr>
              <a:t>defines</a:t>
            </a:r>
            <a:endParaRPr lang="en-US" sz="850" dirty="0"/>
          </a:p>
        </p:txBody>
      </p:sp>
      <p:sp>
        <p:nvSpPr>
          <p:cNvPr id="20" name="Shape 17"/>
          <p:cNvSpPr/>
          <p:nvPr/>
        </p:nvSpPr>
        <p:spPr>
          <a:xfrm>
            <a:off x="7680960" y="1737360"/>
            <a:ext cx="1828800" cy="2377440"/>
          </a:xfrm>
          <a:prstGeom prst="roundRect">
            <a:avLst>
              <a:gd name="adj" fmla="val 4000"/>
            </a:avLst>
          </a:prstGeom>
          <a:solidFill>
            <a:srgbClr val="FFFFFF"/>
          </a:solidFill>
          <a:ln w="9525">
            <a:solidFill>
              <a:srgbClr val="C9A227"/>
            </a:solidFill>
            <a:prstDash val="solid"/>
          </a:ln>
        </p:spPr>
      </p:sp>
      <p:sp>
        <p:nvSpPr>
          <p:cNvPr id="21" name="Text 18"/>
          <p:cNvSpPr/>
          <p:nvPr/>
        </p:nvSpPr>
        <p:spPr>
          <a:xfrm>
            <a:off x="7772400" y="1920240"/>
            <a:ext cx="1645920" cy="274320"/>
          </a:xfrm>
          <a:prstGeom prst="rect">
            <a:avLst/>
          </a:prstGeom>
          <a:noFill/>
          <a:ln/>
        </p:spPr>
        <p:txBody>
          <a:bodyPr wrap="square" lIns="0" tIns="0" rIns="0" bIns="0" rtlCol="0" anchor="ctr"/>
          <a:lstStyle/>
          <a:p>
            <a:pPr algn="ctr" indent="0" marL="0">
              <a:buNone/>
            </a:pPr>
            <a:r>
              <a:rPr lang="en-US" sz="1000" b="1" dirty="0">
                <a:solidFill>
                  <a:srgbClr val="9A7B1A"/>
                </a:solidFill>
                <a:latin typeface="Calibri" pitchFamily="34" charset="0"/>
                <a:ea typeface="Calibri" pitchFamily="34" charset="-122"/>
                <a:cs typeface="Calibri" pitchFamily="34" charset="-120"/>
              </a:rPr>
              <a:t>DATA TEMPLATE</a:t>
            </a:r>
            <a:endParaRPr lang="en-US" sz="1000" dirty="0"/>
          </a:p>
        </p:txBody>
      </p:sp>
      <p:sp>
        <p:nvSpPr>
          <p:cNvPr id="22" name="Text 19"/>
          <p:cNvSpPr/>
          <p:nvPr/>
        </p:nvSpPr>
        <p:spPr>
          <a:xfrm>
            <a:off x="7772400" y="2286000"/>
            <a:ext cx="1645920" cy="640080"/>
          </a:xfrm>
          <a:prstGeom prst="rect">
            <a:avLst/>
          </a:prstGeom>
          <a:noFill/>
          <a:ln/>
        </p:spPr>
        <p:txBody>
          <a:bodyPr wrap="square" lIns="0" tIns="0" rIns="0" bIns="0" rtlCol="0" anchor="ctr"/>
          <a:lstStyle/>
          <a:p>
            <a:pPr algn="ctr" indent="0" marL="0">
              <a:buNone/>
            </a:pPr>
            <a:r>
              <a:rPr lang="en-US" sz="1250" b="1" dirty="0">
                <a:solidFill>
                  <a:srgbClr val="1F2024"/>
                </a:solidFill>
                <a:latin typeface="Cambria" pitchFamily="34" charset="0"/>
                <a:ea typeface="Cambria" pitchFamily="34" charset="-122"/>
                <a:cs typeface="Cambria" pitchFamily="34" charset="-120"/>
              </a:rPr>
              <a:t>DT-EQP-PUMP-001</a:t>
            </a:r>
            <a:endParaRPr lang="en-US" sz="1250" dirty="0"/>
          </a:p>
        </p:txBody>
      </p:sp>
      <p:sp>
        <p:nvSpPr>
          <p:cNvPr id="23" name="Text 20"/>
          <p:cNvSpPr/>
          <p:nvPr/>
        </p:nvSpPr>
        <p:spPr>
          <a:xfrm>
            <a:off x="7772400" y="3063240"/>
            <a:ext cx="1645920" cy="822960"/>
          </a:xfrm>
          <a:prstGeom prst="rect">
            <a:avLst/>
          </a:prstGeom>
          <a:noFill/>
          <a:ln/>
        </p:spPr>
        <p:txBody>
          <a:bodyPr wrap="square" lIns="0" tIns="0" rIns="0" bIns="0" rtlCol="0" anchor="ctr"/>
          <a:lstStyle/>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The governed</a:t>
            </a:r>
            <a:endParaRPr lang="en-US" sz="1000" dirty="0"/>
          </a:p>
          <a:p>
            <a:pPr algn="ctr" indent="0" marL="0">
              <a:lnSpc>
                <a:spcPts val="1300"/>
              </a:lnSpc>
              <a:buNone/>
            </a:pPr>
            <a:r>
              <a:rPr lang="en-US" sz="1000" dirty="0">
                <a:solidFill>
                  <a:srgbClr val="6B6D76"/>
                </a:solidFill>
                <a:latin typeface="Calibri" pitchFamily="34" charset="0"/>
                <a:ea typeface="Calibri" pitchFamily="34" charset="-122"/>
                <a:cs typeface="Calibri" pitchFamily="34" charset="-120"/>
              </a:rPr>
              <a:t>contract, Rev A</a:t>
            </a:r>
            <a:endParaRPr lang="en-US" sz="1000" dirty="0"/>
          </a:p>
        </p:txBody>
      </p:sp>
      <p:sp>
        <p:nvSpPr>
          <p:cNvPr id="24" name="Text 21"/>
          <p:cNvSpPr/>
          <p:nvPr/>
        </p:nvSpPr>
        <p:spPr>
          <a:xfrm>
            <a:off x="9509760" y="2743200"/>
            <a:ext cx="548640" cy="274320"/>
          </a:xfrm>
          <a:prstGeom prst="rect">
            <a:avLst/>
          </a:prstGeom>
          <a:noFill/>
          <a:ln/>
        </p:spPr>
        <p:txBody>
          <a:bodyPr wrap="square" lIns="0" tIns="0" rIns="0" bIns="0" rtlCol="0" anchor="ctr"/>
          <a:lstStyle/>
          <a:p>
            <a:pPr algn="ctr" indent="0" marL="0">
              <a:buNone/>
            </a:pPr>
            <a:r>
              <a:rPr lang="en-US" sz="850" b="1" dirty="0">
                <a:solidFill>
                  <a:srgbClr val="9A7B1A"/>
                </a:solidFill>
                <a:latin typeface="Calibri" pitchFamily="34" charset="0"/>
                <a:ea typeface="Calibri" pitchFamily="34" charset="-122"/>
                <a:cs typeface="Calibri" pitchFamily="34" charset="-120"/>
              </a:rPr>
              <a:t>becomes</a:t>
            </a:r>
            <a:endParaRPr lang="en-US" sz="850" dirty="0"/>
          </a:p>
        </p:txBody>
      </p:sp>
      <p:sp>
        <p:nvSpPr>
          <p:cNvPr id="25" name="Shape 22"/>
          <p:cNvSpPr/>
          <p:nvPr/>
        </p:nvSpPr>
        <p:spPr>
          <a:xfrm>
            <a:off x="10058400" y="1737360"/>
            <a:ext cx="1828800" cy="2377440"/>
          </a:xfrm>
          <a:prstGeom prst="roundRect">
            <a:avLst>
              <a:gd name="adj" fmla="val 4000"/>
            </a:avLst>
          </a:prstGeom>
          <a:solidFill>
            <a:srgbClr val="23242A"/>
          </a:solidFill>
          <a:ln w="9525">
            <a:solidFill>
              <a:srgbClr val="C9A227"/>
            </a:solidFill>
            <a:prstDash val="solid"/>
          </a:ln>
        </p:spPr>
      </p:sp>
      <p:sp>
        <p:nvSpPr>
          <p:cNvPr id="26" name="Text 23"/>
          <p:cNvSpPr/>
          <p:nvPr/>
        </p:nvSpPr>
        <p:spPr>
          <a:xfrm>
            <a:off x="10149840" y="1920240"/>
            <a:ext cx="1645920" cy="274320"/>
          </a:xfrm>
          <a:prstGeom prst="rect">
            <a:avLst/>
          </a:prstGeom>
          <a:noFill/>
          <a:ln/>
        </p:spPr>
        <p:txBody>
          <a:bodyPr wrap="square" lIns="0" tIns="0" rIns="0" bIns="0" rtlCol="0" anchor="ctr"/>
          <a:lstStyle/>
          <a:p>
            <a:pPr algn="ctr" indent="0" marL="0">
              <a:buNone/>
            </a:pPr>
            <a:r>
              <a:rPr lang="en-US" sz="1000" b="1" dirty="0">
                <a:solidFill>
                  <a:srgbClr val="C9A227"/>
                </a:solidFill>
                <a:latin typeface="Calibri" pitchFamily="34" charset="0"/>
                <a:ea typeface="Calibri" pitchFamily="34" charset="-122"/>
                <a:cs typeface="Calibri" pitchFamily="34" charset="-120"/>
              </a:rPr>
              <a:t>ASSET TAG</a:t>
            </a:r>
            <a:endParaRPr lang="en-US" sz="1000" dirty="0"/>
          </a:p>
        </p:txBody>
      </p:sp>
      <p:sp>
        <p:nvSpPr>
          <p:cNvPr id="27" name="Text 24"/>
          <p:cNvSpPr/>
          <p:nvPr/>
        </p:nvSpPr>
        <p:spPr>
          <a:xfrm>
            <a:off x="10149840" y="2286000"/>
            <a:ext cx="164592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EQP-000789</a:t>
            </a:r>
            <a:endParaRPr lang="en-US" sz="1250" dirty="0"/>
          </a:p>
        </p:txBody>
      </p:sp>
      <p:sp>
        <p:nvSpPr>
          <p:cNvPr id="28" name="Text 25"/>
          <p:cNvSpPr/>
          <p:nvPr/>
        </p:nvSpPr>
        <p:spPr>
          <a:xfrm>
            <a:off x="10149840" y="3063240"/>
            <a:ext cx="1645920" cy="822960"/>
          </a:xfrm>
          <a:prstGeom prst="rect">
            <a:avLst/>
          </a:prstGeom>
          <a:noFill/>
          <a:ln/>
        </p:spPr>
        <p:txBody>
          <a:bodyPr wrap="square" lIns="0" tIns="0" rIns="0" bIns="0" rtlCol="0" anchor="ctr"/>
          <a:lstStyle/>
          <a:p>
            <a:pPr algn="ctr" indent="0" marL="0">
              <a:lnSpc>
                <a:spcPts val="1300"/>
              </a:lnSpc>
              <a:buNone/>
            </a:pPr>
            <a:r>
              <a:rPr lang="en-US" sz="1000" dirty="0">
                <a:solidFill>
                  <a:srgbClr val="C4C5CC"/>
                </a:solidFill>
                <a:latin typeface="Calibri" pitchFamily="34" charset="0"/>
                <a:ea typeface="Calibri" pitchFamily="34" charset="-122"/>
                <a:cs typeface="Calibri" pitchFamily="34" charset="-120"/>
              </a:rPr>
              <a:t>The real pump,</a:t>
            </a:r>
            <a:endParaRPr lang="en-US" sz="1000" dirty="0"/>
          </a:p>
          <a:p>
            <a:pPr algn="ctr" indent="0" marL="0">
              <a:lnSpc>
                <a:spcPts val="1300"/>
              </a:lnSpc>
              <a:buNone/>
            </a:pPr>
            <a:r>
              <a:rPr lang="en-US" sz="1000" dirty="0">
                <a:solidFill>
                  <a:srgbClr val="C4C5CC"/>
                </a:solidFill>
                <a:latin typeface="Calibri" pitchFamily="34" charset="0"/>
                <a:ea typeface="Calibri" pitchFamily="34" charset="-122"/>
                <a:cs typeface="Calibri" pitchFamily="34" charset="-120"/>
              </a:rPr>
              <a:t>Rev A, Area 310</a:t>
            </a:r>
            <a:endParaRPr lang="en-US" sz="1000" dirty="0"/>
          </a:p>
        </p:txBody>
      </p:sp>
      <p:sp>
        <p:nvSpPr>
          <p:cNvPr id="29" name="Shape 26"/>
          <p:cNvSpPr/>
          <p:nvPr/>
        </p:nvSpPr>
        <p:spPr>
          <a:xfrm>
            <a:off x="548640" y="4480560"/>
            <a:ext cx="11064240" cy="1234440"/>
          </a:xfrm>
          <a:prstGeom prst="roundRect">
            <a:avLst>
              <a:gd name="adj" fmla="val 5926"/>
            </a:avLst>
          </a:prstGeom>
          <a:solidFill>
            <a:srgbClr val="F4F3F0"/>
          </a:solidFill>
          <a:ln w="9525">
            <a:solidFill>
              <a:srgbClr val="E3E1DA"/>
            </a:solidFill>
            <a:prstDash val="solid"/>
          </a:ln>
        </p:spPr>
      </p:sp>
      <p:sp>
        <p:nvSpPr>
          <p:cNvPr id="30" name="Text 27"/>
          <p:cNvSpPr/>
          <p:nvPr/>
        </p:nvSpPr>
        <p:spPr>
          <a:xfrm>
            <a:off x="777240" y="4617720"/>
            <a:ext cx="10607040" cy="960120"/>
          </a:xfrm>
          <a:prstGeom prst="rect">
            <a:avLst/>
          </a:prstGeom>
          <a:noFill/>
          <a:ln/>
        </p:spPr>
        <p:txBody>
          <a:bodyPr wrap="square" lIns="0" tIns="0" rIns="0" bIns="0" rtlCol="0" anchor="ctr"/>
          <a:lstStyle/>
          <a:p>
            <a:pPr indent="0" marL="0">
              <a:lnSpc>
                <a:spcPts val="1900"/>
              </a:lnSpc>
              <a:buNone/>
            </a:pPr>
            <a:r>
              <a:rPr lang="en-US" sz="1300" b="1" dirty="0">
                <a:solidFill>
                  <a:srgbClr val="1F2024"/>
                </a:solidFill>
                <a:latin typeface="Calibri" pitchFamily="34" charset="0"/>
                <a:ea typeface="Calibri" pitchFamily="34" charset="-122"/>
                <a:cs typeface="Calibri" pitchFamily="34" charset="-120"/>
              </a:rPr>
              <a:t>Why this matters.  </a:t>
            </a:r>
            <a:pPr indent="0" marL="0">
              <a:lnSpc>
                <a:spcPts val="1900"/>
              </a:lnSpc>
              <a:buNone/>
            </a:pPr>
            <a:r>
              <a:rPr lang="en-US" sz="1300" dirty="0">
                <a:solidFill>
                  <a:srgbClr val="1F2024"/>
                </a:solidFill>
                <a:latin typeface="Calibri" pitchFamily="34" charset="0"/>
                <a:ea typeface="Calibri" pitchFamily="34" charset="-122"/>
                <a:cs typeface="Calibri" pitchFamily="34" charset="-120"/>
              </a:rPr>
              <a:t>Every tag, model element and document in the ARGP becomes machine-readable against the same contract. M2 work packages, M3 checksheets, M4 ITPs and M5 material tracking all consume this layer. Get the backbone right and the other four modules inherit it. Get it wrong and every module rebuilds its own version of the truth.</a:t>
            </a:r>
            <a:endParaRPr lang="en-US" sz="1300" dirty="0"/>
          </a:p>
        </p:txBody>
      </p:sp>
      <p:sp>
        <p:nvSpPr>
          <p:cNvPr id="31" name="Text 28"/>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The registry: 40 governed tags</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Area, Unit, System, Subsystem, per SoW 3.1.3. Seeded to the ARGP gold plant.</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54480"/>
            <a:ext cx="2697480" cy="1508760"/>
          </a:xfrm>
          <a:prstGeom prst="roundRect">
            <a:avLst>
              <a:gd name="adj" fmla="val 4848"/>
            </a:avLst>
          </a:prstGeom>
          <a:solidFill>
            <a:srgbClr val="F4F3F0"/>
          </a:solidFill>
          <a:ln w="9525">
            <a:solidFill>
              <a:srgbClr val="E3E1DA"/>
            </a:solidFill>
            <a:prstDash val="solid"/>
          </a:ln>
        </p:spPr>
      </p:sp>
      <p:sp>
        <p:nvSpPr>
          <p:cNvPr id="6" name="Shape 3"/>
          <p:cNvSpPr/>
          <p:nvPr/>
        </p:nvSpPr>
        <p:spPr>
          <a:xfrm>
            <a:off x="777240" y="1783080"/>
            <a:ext cx="594360" cy="237744"/>
          </a:xfrm>
          <a:prstGeom prst="roundRect">
            <a:avLst>
              <a:gd name="adj" fmla="val 50000"/>
            </a:avLst>
          </a:prstGeom>
          <a:solidFill>
            <a:srgbClr val="FDF3D7"/>
          </a:solidFill>
          <a:ln w="12700">
            <a:solidFill>
              <a:srgbClr val="FDF3D7"/>
            </a:solidFill>
            <a:prstDash val="solid"/>
          </a:ln>
        </p:spPr>
      </p:sp>
      <p:sp>
        <p:nvSpPr>
          <p:cNvPr id="7" name="Text 4"/>
          <p:cNvSpPr/>
          <p:nvPr/>
        </p:nvSpPr>
        <p:spPr>
          <a:xfrm>
            <a:off x="777240" y="1783080"/>
            <a:ext cx="594360" cy="237744"/>
          </a:xfrm>
          <a:prstGeom prst="rect">
            <a:avLst/>
          </a:prstGeom>
          <a:noFill/>
          <a:ln/>
        </p:spPr>
        <p:txBody>
          <a:bodyPr wrap="square" lIns="0" tIns="0" rIns="0" bIns="0" rtlCol="0" anchor="ctr"/>
          <a:lstStyle/>
          <a:p>
            <a:pPr algn="ctr" indent="0" marL="0">
              <a:buNone/>
            </a:pPr>
            <a:r>
              <a:rPr lang="en-US" sz="950" b="1" dirty="0">
                <a:solidFill>
                  <a:srgbClr val="9A7B1A"/>
                </a:solidFill>
                <a:latin typeface="Calibri" pitchFamily="34" charset="0"/>
                <a:ea typeface="Calibri" pitchFamily="34" charset="-122"/>
                <a:cs typeface="Calibri" pitchFamily="34" charset="-120"/>
              </a:rPr>
              <a:t>EQP</a:t>
            </a:r>
            <a:endParaRPr lang="en-US" sz="950" dirty="0"/>
          </a:p>
        </p:txBody>
      </p:sp>
      <p:sp>
        <p:nvSpPr>
          <p:cNvPr id="8" name="Text 5"/>
          <p:cNvSpPr/>
          <p:nvPr/>
        </p:nvSpPr>
        <p:spPr>
          <a:xfrm>
            <a:off x="777240" y="2103120"/>
            <a:ext cx="2194560" cy="50292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17</a:t>
            </a:r>
            <a:endParaRPr lang="en-US" sz="3000" dirty="0"/>
          </a:p>
        </p:txBody>
      </p:sp>
      <p:sp>
        <p:nvSpPr>
          <p:cNvPr id="9" name="Text 6"/>
          <p:cNvSpPr/>
          <p:nvPr/>
        </p:nvSpPr>
        <p:spPr>
          <a:xfrm>
            <a:off x="777240" y="2633472"/>
            <a:ext cx="2286000" cy="320040"/>
          </a:xfrm>
          <a:prstGeom prst="rect">
            <a:avLst/>
          </a:prstGeom>
          <a:noFill/>
          <a:ln/>
        </p:spPr>
        <p:txBody>
          <a:bodyPr wrap="square" lIns="0" tIns="0" rIns="0" bIns="0" rtlCol="0" anchor="ctr"/>
          <a:lstStyle/>
          <a:p>
            <a:pPr indent="0" marL="0">
              <a:buNone/>
            </a:pPr>
            <a:r>
              <a:rPr lang="en-US" sz="1000" dirty="0">
                <a:solidFill>
                  <a:srgbClr val="6B6D76"/>
                </a:solidFill>
                <a:latin typeface="Calibri" pitchFamily="34" charset="0"/>
                <a:ea typeface="Calibri" pitchFamily="34" charset="-122"/>
                <a:cs typeface="Calibri" pitchFamily="34" charset="-120"/>
              </a:rPr>
              <a:t>Pumps, vessels, gate valves</a:t>
            </a:r>
            <a:endParaRPr lang="en-US" sz="1000" dirty="0"/>
          </a:p>
        </p:txBody>
      </p:sp>
      <p:sp>
        <p:nvSpPr>
          <p:cNvPr id="10" name="Shape 7"/>
          <p:cNvSpPr/>
          <p:nvPr/>
        </p:nvSpPr>
        <p:spPr>
          <a:xfrm>
            <a:off x="3383280" y="1554480"/>
            <a:ext cx="2697480" cy="1508760"/>
          </a:xfrm>
          <a:prstGeom prst="roundRect">
            <a:avLst>
              <a:gd name="adj" fmla="val 4848"/>
            </a:avLst>
          </a:prstGeom>
          <a:solidFill>
            <a:srgbClr val="F4F3F0"/>
          </a:solidFill>
          <a:ln w="9525">
            <a:solidFill>
              <a:srgbClr val="E3E1DA"/>
            </a:solidFill>
            <a:prstDash val="solid"/>
          </a:ln>
        </p:spPr>
      </p:sp>
      <p:sp>
        <p:nvSpPr>
          <p:cNvPr id="11" name="Shape 8"/>
          <p:cNvSpPr/>
          <p:nvPr/>
        </p:nvSpPr>
        <p:spPr>
          <a:xfrm>
            <a:off x="3611880" y="1783080"/>
            <a:ext cx="594360" cy="237744"/>
          </a:xfrm>
          <a:prstGeom prst="roundRect">
            <a:avLst>
              <a:gd name="adj" fmla="val 50000"/>
            </a:avLst>
          </a:prstGeom>
          <a:solidFill>
            <a:srgbClr val="EEE6F5"/>
          </a:solidFill>
          <a:ln w="12700">
            <a:solidFill>
              <a:srgbClr val="EEE6F5"/>
            </a:solidFill>
            <a:prstDash val="solid"/>
          </a:ln>
        </p:spPr>
      </p:sp>
      <p:sp>
        <p:nvSpPr>
          <p:cNvPr id="12" name="Text 9"/>
          <p:cNvSpPr/>
          <p:nvPr/>
        </p:nvSpPr>
        <p:spPr>
          <a:xfrm>
            <a:off x="3611880" y="1783080"/>
            <a:ext cx="594360" cy="237744"/>
          </a:xfrm>
          <a:prstGeom prst="rect">
            <a:avLst/>
          </a:prstGeom>
          <a:noFill/>
          <a:ln/>
        </p:spPr>
        <p:txBody>
          <a:bodyPr wrap="square" lIns="0" tIns="0" rIns="0" bIns="0" rtlCol="0" anchor="ctr"/>
          <a:lstStyle/>
          <a:p>
            <a:pPr algn="ctr" indent="0" marL="0">
              <a:buNone/>
            </a:pPr>
            <a:r>
              <a:rPr lang="en-US" sz="950" b="1" dirty="0">
                <a:solidFill>
                  <a:srgbClr val="6A3D9A"/>
                </a:solidFill>
                <a:latin typeface="Calibri" pitchFamily="34" charset="0"/>
                <a:ea typeface="Calibri" pitchFamily="34" charset="-122"/>
                <a:cs typeface="Calibri" pitchFamily="34" charset="-120"/>
              </a:rPr>
              <a:t>ELE</a:t>
            </a:r>
            <a:endParaRPr lang="en-US" sz="950" dirty="0"/>
          </a:p>
        </p:txBody>
      </p:sp>
      <p:sp>
        <p:nvSpPr>
          <p:cNvPr id="13" name="Text 10"/>
          <p:cNvSpPr/>
          <p:nvPr/>
        </p:nvSpPr>
        <p:spPr>
          <a:xfrm>
            <a:off x="3611880" y="2103120"/>
            <a:ext cx="2194560" cy="50292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10</a:t>
            </a:r>
            <a:endParaRPr lang="en-US" sz="3000" dirty="0"/>
          </a:p>
        </p:txBody>
      </p:sp>
      <p:sp>
        <p:nvSpPr>
          <p:cNvPr id="14" name="Text 11"/>
          <p:cNvSpPr/>
          <p:nvPr/>
        </p:nvSpPr>
        <p:spPr>
          <a:xfrm>
            <a:off x="3611880" y="2633472"/>
            <a:ext cx="2286000" cy="320040"/>
          </a:xfrm>
          <a:prstGeom prst="rect">
            <a:avLst/>
          </a:prstGeom>
          <a:noFill/>
          <a:ln/>
        </p:spPr>
        <p:txBody>
          <a:bodyPr wrap="square" lIns="0" tIns="0" rIns="0" bIns="0" rtlCol="0" anchor="ctr"/>
          <a:lstStyle/>
          <a:p>
            <a:pPr indent="0" marL="0">
              <a:buNone/>
            </a:pPr>
            <a:r>
              <a:rPr lang="en-US" sz="1000" dirty="0">
                <a:solidFill>
                  <a:srgbClr val="6B6D76"/>
                </a:solidFill>
                <a:latin typeface="Calibri" pitchFamily="34" charset="0"/>
                <a:ea typeface="Calibri" pitchFamily="34" charset="-122"/>
                <a:cs typeface="Calibri" pitchFamily="34" charset="-120"/>
              </a:rPr>
              <a:t>E-Houses, LV motors</a:t>
            </a:r>
            <a:endParaRPr lang="en-US" sz="1000" dirty="0"/>
          </a:p>
        </p:txBody>
      </p:sp>
      <p:sp>
        <p:nvSpPr>
          <p:cNvPr id="15" name="Shape 12"/>
          <p:cNvSpPr/>
          <p:nvPr/>
        </p:nvSpPr>
        <p:spPr>
          <a:xfrm>
            <a:off x="6217920" y="1554480"/>
            <a:ext cx="2697480" cy="1508760"/>
          </a:xfrm>
          <a:prstGeom prst="roundRect">
            <a:avLst>
              <a:gd name="adj" fmla="val 4848"/>
            </a:avLst>
          </a:prstGeom>
          <a:solidFill>
            <a:srgbClr val="F4F3F0"/>
          </a:solidFill>
          <a:ln w="9525">
            <a:solidFill>
              <a:srgbClr val="E3E1DA"/>
            </a:solidFill>
            <a:prstDash val="solid"/>
          </a:ln>
        </p:spPr>
      </p:sp>
      <p:sp>
        <p:nvSpPr>
          <p:cNvPr id="16" name="Shape 13"/>
          <p:cNvSpPr/>
          <p:nvPr/>
        </p:nvSpPr>
        <p:spPr>
          <a:xfrm>
            <a:off x="6446520" y="1783080"/>
            <a:ext cx="594360" cy="237744"/>
          </a:xfrm>
          <a:prstGeom prst="roundRect">
            <a:avLst>
              <a:gd name="adj" fmla="val 50000"/>
            </a:avLst>
          </a:prstGeom>
          <a:solidFill>
            <a:srgbClr val="E3ECF5"/>
          </a:solidFill>
          <a:ln w="12700">
            <a:solidFill>
              <a:srgbClr val="E3ECF5"/>
            </a:solidFill>
            <a:prstDash val="solid"/>
          </a:ln>
        </p:spPr>
      </p:sp>
      <p:sp>
        <p:nvSpPr>
          <p:cNvPr id="17" name="Text 14"/>
          <p:cNvSpPr/>
          <p:nvPr/>
        </p:nvSpPr>
        <p:spPr>
          <a:xfrm>
            <a:off x="6446520" y="1783080"/>
            <a:ext cx="594360" cy="237744"/>
          </a:xfrm>
          <a:prstGeom prst="rect">
            <a:avLst/>
          </a:prstGeom>
          <a:noFill/>
          <a:ln/>
        </p:spPr>
        <p:txBody>
          <a:bodyPr wrap="square" lIns="0" tIns="0" rIns="0" bIns="0" rtlCol="0" anchor="ctr"/>
          <a:lstStyle/>
          <a:p>
            <a:pPr algn="ctr" indent="0" marL="0">
              <a:buNone/>
            </a:pPr>
            <a:r>
              <a:rPr lang="en-US" sz="950" b="1" dirty="0">
                <a:solidFill>
                  <a:srgbClr val="2C5F8A"/>
                </a:solidFill>
                <a:latin typeface="Calibri" pitchFamily="34" charset="0"/>
                <a:ea typeface="Calibri" pitchFamily="34" charset="-122"/>
                <a:cs typeface="Calibri" pitchFamily="34" charset="-120"/>
              </a:rPr>
              <a:t>STR</a:t>
            </a:r>
            <a:endParaRPr lang="en-US" sz="950" dirty="0"/>
          </a:p>
        </p:txBody>
      </p:sp>
      <p:sp>
        <p:nvSpPr>
          <p:cNvPr id="18" name="Text 15"/>
          <p:cNvSpPr/>
          <p:nvPr/>
        </p:nvSpPr>
        <p:spPr>
          <a:xfrm>
            <a:off x="6446520" y="2103120"/>
            <a:ext cx="2194560" cy="50292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8</a:t>
            </a:r>
            <a:endParaRPr lang="en-US" sz="3000" dirty="0"/>
          </a:p>
        </p:txBody>
      </p:sp>
      <p:sp>
        <p:nvSpPr>
          <p:cNvPr id="19" name="Text 16"/>
          <p:cNvSpPr/>
          <p:nvPr/>
        </p:nvSpPr>
        <p:spPr>
          <a:xfrm>
            <a:off x="6446520" y="2633472"/>
            <a:ext cx="2286000" cy="320040"/>
          </a:xfrm>
          <a:prstGeom prst="rect">
            <a:avLst/>
          </a:prstGeom>
          <a:noFill/>
          <a:ln/>
        </p:spPr>
        <p:txBody>
          <a:bodyPr wrap="square" lIns="0" tIns="0" rIns="0" bIns="0" rtlCol="0" anchor="ctr"/>
          <a:lstStyle/>
          <a:p>
            <a:pPr indent="0" marL="0">
              <a:buNone/>
            </a:pPr>
            <a:r>
              <a:rPr lang="en-US" sz="1000" dirty="0">
                <a:solidFill>
                  <a:srgbClr val="6B6D76"/>
                </a:solidFill>
                <a:latin typeface="Calibri" pitchFamily="34" charset="0"/>
                <a:ea typeface="Calibri" pitchFamily="34" charset="-122"/>
                <a:cs typeface="Calibri" pitchFamily="34" charset="-120"/>
              </a:rPr>
              <a:t>Steel frames, cladding panels</a:t>
            </a:r>
            <a:endParaRPr lang="en-US" sz="1000" dirty="0"/>
          </a:p>
        </p:txBody>
      </p:sp>
      <p:sp>
        <p:nvSpPr>
          <p:cNvPr id="20" name="Shape 17"/>
          <p:cNvSpPr/>
          <p:nvPr/>
        </p:nvSpPr>
        <p:spPr>
          <a:xfrm>
            <a:off x="9052560" y="1554480"/>
            <a:ext cx="2697480" cy="1508760"/>
          </a:xfrm>
          <a:prstGeom prst="roundRect">
            <a:avLst>
              <a:gd name="adj" fmla="val 4848"/>
            </a:avLst>
          </a:prstGeom>
          <a:solidFill>
            <a:srgbClr val="F4F3F0"/>
          </a:solidFill>
          <a:ln w="9525">
            <a:solidFill>
              <a:srgbClr val="E3E1DA"/>
            </a:solidFill>
            <a:prstDash val="solid"/>
          </a:ln>
        </p:spPr>
      </p:sp>
      <p:sp>
        <p:nvSpPr>
          <p:cNvPr id="21" name="Shape 18"/>
          <p:cNvSpPr/>
          <p:nvPr/>
        </p:nvSpPr>
        <p:spPr>
          <a:xfrm>
            <a:off x="9281160" y="1783080"/>
            <a:ext cx="594360" cy="237744"/>
          </a:xfrm>
          <a:prstGeom prst="roundRect">
            <a:avLst>
              <a:gd name="adj" fmla="val 50000"/>
            </a:avLst>
          </a:prstGeom>
          <a:solidFill>
            <a:srgbClr val="E5F2E6"/>
          </a:solidFill>
          <a:ln w="12700">
            <a:solidFill>
              <a:srgbClr val="E5F2E6"/>
            </a:solidFill>
            <a:prstDash val="solid"/>
          </a:ln>
        </p:spPr>
      </p:sp>
      <p:sp>
        <p:nvSpPr>
          <p:cNvPr id="22" name="Text 19"/>
          <p:cNvSpPr/>
          <p:nvPr/>
        </p:nvSpPr>
        <p:spPr>
          <a:xfrm>
            <a:off x="9281160" y="1783080"/>
            <a:ext cx="594360" cy="237744"/>
          </a:xfrm>
          <a:prstGeom prst="rect">
            <a:avLst/>
          </a:prstGeom>
          <a:noFill/>
          <a:ln/>
        </p:spPr>
        <p:txBody>
          <a:bodyPr wrap="square" lIns="0" tIns="0" rIns="0" bIns="0" rtlCol="0" anchor="ctr"/>
          <a:lstStyle/>
          <a:p>
            <a:pPr algn="ctr" indent="0" marL="0">
              <a:buNone/>
            </a:pPr>
            <a:r>
              <a:rPr lang="en-US" sz="950" b="1" dirty="0">
                <a:solidFill>
                  <a:srgbClr val="2E7D32"/>
                </a:solidFill>
                <a:latin typeface="Calibri" pitchFamily="34" charset="0"/>
                <a:ea typeface="Calibri" pitchFamily="34" charset="-122"/>
                <a:cs typeface="Calibri" pitchFamily="34" charset="-120"/>
              </a:rPr>
              <a:t>MAT</a:t>
            </a:r>
            <a:endParaRPr lang="en-US" sz="950" dirty="0"/>
          </a:p>
        </p:txBody>
      </p:sp>
      <p:sp>
        <p:nvSpPr>
          <p:cNvPr id="23" name="Text 20"/>
          <p:cNvSpPr/>
          <p:nvPr/>
        </p:nvSpPr>
        <p:spPr>
          <a:xfrm>
            <a:off x="9281160" y="2103120"/>
            <a:ext cx="2194560" cy="50292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5</a:t>
            </a:r>
            <a:endParaRPr lang="en-US" sz="3000" dirty="0"/>
          </a:p>
        </p:txBody>
      </p:sp>
      <p:sp>
        <p:nvSpPr>
          <p:cNvPr id="24" name="Text 21"/>
          <p:cNvSpPr/>
          <p:nvPr/>
        </p:nvSpPr>
        <p:spPr>
          <a:xfrm>
            <a:off x="9281160" y="2633472"/>
            <a:ext cx="2286000" cy="320040"/>
          </a:xfrm>
          <a:prstGeom prst="rect">
            <a:avLst/>
          </a:prstGeom>
          <a:noFill/>
          <a:ln/>
        </p:spPr>
        <p:txBody>
          <a:bodyPr wrap="square" lIns="0" tIns="0" rIns="0" bIns="0" rtlCol="0" anchor="ctr"/>
          <a:lstStyle/>
          <a:p>
            <a:pPr indent="0" marL="0">
              <a:buNone/>
            </a:pPr>
            <a:r>
              <a:rPr lang="en-US" sz="1000" dirty="0">
                <a:solidFill>
                  <a:srgbClr val="6B6D76"/>
                </a:solidFill>
                <a:latin typeface="Calibri" pitchFamily="34" charset="0"/>
                <a:ea typeface="Calibri" pitchFamily="34" charset="-122"/>
                <a:cs typeface="Calibri" pitchFamily="34" charset="-120"/>
              </a:rPr>
              <a:t>Stainless steel plate lots</a:t>
            </a:r>
            <a:endParaRPr lang="en-US" sz="1000" dirty="0"/>
          </a:p>
        </p:txBody>
      </p:sp>
      <p:sp>
        <p:nvSpPr>
          <p:cNvPr id="25" name="Text 22"/>
          <p:cNvSpPr/>
          <p:nvPr/>
        </p:nvSpPr>
        <p:spPr>
          <a:xfrm>
            <a:off x="548640" y="3337560"/>
            <a:ext cx="1005840" cy="365760"/>
          </a:xfrm>
          <a:prstGeom prst="rect">
            <a:avLst/>
          </a:prstGeom>
          <a:noFill/>
          <a:ln/>
        </p:spPr>
        <p:txBody>
          <a:bodyPr wrap="square" lIns="0" tIns="0" rIns="0" bIns="0" rtlCol="0" anchor="ctr"/>
          <a:lstStyle/>
          <a:p>
            <a:pPr algn="r" indent="0" marL="0">
              <a:buNone/>
            </a:pPr>
            <a:r>
              <a:rPr lang="en-US" sz="1900" b="1" dirty="0">
                <a:solidFill>
                  <a:srgbClr val="C9A227"/>
                </a:solidFill>
                <a:latin typeface="Cambria" pitchFamily="34" charset="0"/>
                <a:ea typeface="Cambria" pitchFamily="34" charset="-122"/>
                <a:cs typeface="Cambria" pitchFamily="34" charset="-120"/>
              </a:rPr>
              <a:t>6</a:t>
            </a:r>
            <a:endParaRPr lang="en-US" sz="1900" dirty="0"/>
          </a:p>
        </p:txBody>
      </p:sp>
      <p:sp>
        <p:nvSpPr>
          <p:cNvPr id="26" name="Text 23"/>
          <p:cNvSpPr/>
          <p:nvPr/>
        </p:nvSpPr>
        <p:spPr>
          <a:xfrm>
            <a:off x="1691640" y="3383280"/>
            <a:ext cx="2103120" cy="2926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areas</a:t>
            </a:r>
            <a:endParaRPr lang="en-US" sz="1300" dirty="0"/>
          </a:p>
        </p:txBody>
      </p:sp>
      <p:sp>
        <p:nvSpPr>
          <p:cNvPr id="27" name="Text 24"/>
          <p:cNvSpPr/>
          <p:nvPr/>
        </p:nvSpPr>
        <p:spPr>
          <a:xfrm>
            <a:off x="3931920" y="3383280"/>
            <a:ext cx="7680960" cy="29260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Crushing, Grinding, CIL, Elution, Tailings, Infrastructure</a:t>
            </a:r>
            <a:endParaRPr lang="en-US" sz="1150" dirty="0"/>
          </a:p>
        </p:txBody>
      </p:sp>
      <p:sp>
        <p:nvSpPr>
          <p:cNvPr id="28" name="Text 25"/>
          <p:cNvSpPr/>
          <p:nvPr/>
        </p:nvSpPr>
        <p:spPr>
          <a:xfrm>
            <a:off x="548640" y="3904488"/>
            <a:ext cx="1005840" cy="365760"/>
          </a:xfrm>
          <a:prstGeom prst="rect">
            <a:avLst/>
          </a:prstGeom>
          <a:noFill/>
          <a:ln/>
        </p:spPr>
        <p:txBody>
          <a:bodyPr wrap="square" lIns="0" tIns="0" rIns="0" bIns="0" rtlCol="0" anchor="ctr"/>
          <a:lstStyle/>
          <a:p>
            <a:pPr algn="r" indent="0" marL="0">
              <a:buNone/>
            </a:pPr>
            <a:r>
              <a:rPr lang="en-US" sz="1900" b="1" dirty="0">
                <a:solidFill>
                  <a:srgbClr val="C9A227"/>
                </a:solidFill>
                <a:latin typeface="Cambria" pitchFamily="34" charset="0"/>
                <a:ea typeface="Cambria" pitchFamily="34" charset="-122"/>
                <a:cs typeface="Cambria" pitchFamily="34" charset="-120"/>
              </a:rPr>
              <a:t>27</a:t>
            </a:r>
            <a:endParaRPr lang="en-US" sz="1900" dirty="0"/>
          </a:p>
        </p:txBody>
      </p:sp>
      <p:sp>
        <p:nvSpPr>
          <p:cNvPr id="29" name="Text 26"/>
          <p:cNvSpPr/>
          <p:nvPr/>
        </p:nvSpPr>
        <p:spPr>
          <a:xfrm>
            <a:off x="1691640" y="3950208"/>
            <a:ext cx="2103120" cy="2926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hierarchy nodes</a:t>
            </a:r>
            <a:endParaRPr lang="en-US" sz="1300" dirty="0"/>
          </a:p>
        </p:txBody>
      </p:sp>
      <p:sp>
        <p:nvSpPr>
          <p:cNvPr id="30" name="Text 27"/>
          <p:cNvSpPr/>
          <p:nvPr/>
        </p:nvSpPr>
        <p:spPr>
          <a:xfrm>
            <a:off x="3931920" y="3950208"/>
            <a:ext cx="7680960" cy="29260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Area to Unit to System to Subsystem, fully navigable</a:t>
            </a:r>
            <a:endParaRPr lang="en-US" sz="1150" dirty="0"/>
          </a:p>
        </p:txBody>
      </p:sp>
      <p:sp>
        <p:nvSpPr>
          <p:cNvPr id="31" name="Text 28"/>
          <p:cNvSpPr/>
          <p:nvPr/>
        </p:nvSpPr>
        <p:spPr>
          <a:xfrm>
            <a:off x="548640" y="4471416"/>
            <a:ext cx="1005840" cy="365760"/>
          </a:xfrm>
          <a:prstGeom prst="rect">
            <a:avLst/>
          </a:prstGeom>
          <a:noFill/>
          <a:ln/>
        </p:spPr>
        <p:txBody>
          <a:bodyPr wrap="square" lIns="0" tIns="0" rIns="0" bIns="0" rtlCol="0" anchor="ctr"/>
          <a:lstStyle/>
          <a:p>
            <a:pPr algn="r" indent="0" marL="0">
              <a:buNone/>
            </a:pPr>
            <a:r>
              <a:rPr lang="en-US" sz="1900" b="1" dirty="0">
                <a:solidFill>
                  <a:srgbClr val="C9A227"/>
                </a:solidFill>
                <a:latin typeface="Cambria" pitchFamily="34" charset="0"/>
                <a:ea typeface="Cambria" pitchFamily="34" charset="-122"/>
                <a:cs typeface="Cambria" pitchFamily="34" charset="-120"/>
              </a:rPr>
              <a:t>8</a:t>
            </a:r>
            <a:endParaRPr lang="en-US" sz="1900" dirty="0"/>
          </a:p>
        </p:txBody>
      </p:sp>
      <p:sp>
        <p:nvSpPr>
          <p:cNvPr id="32" name="Text 29"/>
          <p:cNvSpPr/>
          <p:nvPr/>
        </p:nvSpPr>
        <p:spPr>
          <a:xfrm>
            <a:off x="1691640" y="4517136"/>
            <a:ext cx="2103120" cy="2926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data templates</a:t>
            </a:r>
            <a:endParaRPr lang="en-US" sz="1300" dirty="0"/>
          </a:p>
        </p:txBody>
      </p:sp>
      <p:sp>
        <p:nvSpPr>
          <p:cNvPr id="33" name="Text 30"/>
          <p:cNvSpPr/>
          <p:nvPr/>
        </p:nvSpPr>
        <p:spPr>
          <a:xfrm>
            <a:off x="3931920" y="4517136"/>
            <a:ext cx="7680960" cy="29260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Every tag bound to an Approved template</a:t>
            </a:r>
            <a:endParaRPr lang="en-US" sz="1150" dirty="0"/>
          </a:p>
        </p:txBody>
      </p:sp>
      <p:sp>
        <p:nvSpPr>
          <p:cNvPr id="34" name="Text 31"/>
          <p:cNvSpPr/>
          <p:nvPr/>
        </p:nvSpPr>
        <p:spPr>
          <a:xfrm>
            <a:off x="548640" y="5038344"/>
            <a:ext cx="1005840" cy="365760"/>
          </a:xfrm>
          <a:prstGeom prst="rect">
            <a:avLst/>
          </a:prstGeom>
          <a:noFill/>
          <a:ln/>
        </p:spPr>
        <p:txBody>
          <a:bodyPr wrap="square" lIns="0" tIns="0" rIns="0" bIns="0" rtlCol="0" anchor="ctr"/>
          <a:lstStyle/>
          <a:p>
            <a:pPr algn="r" indent="0" marL="0">
              <a:buNone/>
            </a:pPr>
            <a:r>
              <a:rPr lang="en-US" sz="1900" b="1" dirty="0">
                <a:solidFill>
                  <a:srgbClr val="C9A227"/>
                </a:solidFill>
                <a:latin typeface="Cambria" pitchFamily="34" charset="0"/>
                <a:ea typeface="Cambria" pitchFamily="34" charset="-122"/>
                <a:cs typeface="Cambria" pitchFamily="34" charset="-120"/>
              </a:rPr>
              <a:t>100%</a:t>
            </a:r>
            <a:endParaRPr lang="en-US" sz="1900" dirty="0"/>
          </a:p>
        </p:txBody>
      </p:sp>
      <p:sp>
        <p:nvSpPr>
          <p:cNvPr id="35" name="Text 32"/>
          <p:cNvSpPr/>
          <p:nvPr/>
        </p:nvSpPr>
        <p:spPr>
          <a:xfrm>
            <a:off x="1691640" y="5084064"/>
            <a:ext cx="2103120" cy="292608"/>
          </a:xfrm>
          <a:prstGeom prst="rect">
            <a:avLst/>
          </a:prstGeom>
          <a:noFill/>
          <a:ln/>
        </p:spPr>
        <p:txBody>
          <a:bodyPr wrap="square" lIns="0" tIns="0" rIns="0" bIns="0" rtlCol="0" anchor="ctr"/>
          <a:lstStyle/>
          <a:p>
            <a:pPr indent="0" marL="0">
              <a:buNone/>
            </a:pPr>
            <a:r>
              <a:rPr lang="en-US" sz="1300" b="1" dirty="0">
                <a:solidFill>
                  <a:srgbClr val="1F2024"/>
                </a:solidFill>
                <a:latin typeface="Calibri" pitchFamily="34" charset="0"/>
                <a:ea typeface="Calibri" pitchFamily="34" charset="-122"/>
                <a:cs typeface="Calibri" pitchFamily="34" charset="-120"/>
              </a:rPr>
              <a:t>template coverage</a:t>
            </a:r>
            <a:endParaRPr lang="en-US" sz="1300" dirty="0"/>
          </a:p>
        </p:txBody>
      </p:sp>
      <p:sp>
        <p:nvSpPr>
          <p:cNvPr id="36" name="Text 33"/>
          <p:cNvSpPr/>
          <p:nvPr/>
        </p:nvSpPr>
        <p:spPr>
          <a:xfrm>
            <a:off x="3931920" y="5084064"/>
            <a:ext cx="7680960" cy="292608"/>
          </a:xfrm>
          <a:prstGeom prst="rect">
            <a:avLst/>
          </a:prstGeom>
          <a:noFill/>
          <a:ln/>
        </p:spPr>
        <p:txBody>
          <a:bodyPr wrap="square" lIns="0" tIns="0" rIns="0" bIns="0" rtlCol="0" anchor="ctr"/>
          <a:lstStyle/>
          <a:p>
            <a:pPr indent="0" marL="0">
              <a:buNone/>
            </a:pPr>
            <a:r>
              <a:rPr lang="en-US" sz="1150" dirty="0">
                <a:solidFill>
                  <a:srgbClr val="6B6D76"/>
                </a:solidFill>
                <a:latin typeface="Calibri" pitchFamily="34" charset="0"/>
                <a:ea typeface="Calibri" pitchFamily="34" charset="-122"/>
                <a:cs typeface="Calibri" pitchFamily="34" charset="-120"/>
              </a:rPr>
              <a:t>No orphan tags in the register</a:t>
            </a:r>
            <a:endParaRPr lang="en-US" sz="1150" dirty="0"/>
          </a:p>
        </p:txBody>
      </p:sp>
      <p:sp>
        <p:nvSpPr>
          <p:cNvPr id="37" name="Text 34"/>
          <p:cNvSpPr/>
          <p:nvPr/>
        </p:nvSpPr>
        <p:spPr>
          <a:xfrm>
            <a:off x="548640" y="5760720"/>
            <a:ext cx="11064240" cy="292608"/>
          </a:xfrm>
          <a:prstGeom prst="rect">
            <a:avLst/>
          </a:prstGeom>
          <a:noFill/>
          <a:ln/>
        </p:spPr>
        <p:txBody>
          <a:bodyPr wrap="square" lIns="0" tIns="0" rIns="0" bIns="0" rtlCol="0" anchor="ctr"/>
          <a:lstStyle/>
          <a:p>
            <a:pPr indent="0" marL="0">
              <a:buNone/>
            </a:pPr>
            <a:r>
              <a:rPr lang="en-US" sz="1200" i="1" dirty="0">
                <a:solidFill>
                  <a:srgbClr val="6B6D76"/>
                </a:solidFill>
                <a:latin typeface="Calibri" pitchFamily="34" charset="0"/>
                <a:ea typeface="Calibri" pitchFamily="34" charset="-122"/>
                <a:cs typeface="Calibri" pitchFamily="34" charset="-120"/>
              </a:rPr>
              <a:t>Tag format, revisions and lifecycle states follow the conventions you set: EQP-000789, Rev A, Registered to Data Loaded to Validated to Published.</a:t>
            </a:r>
            <a:endParaRPr lang="en-US" sz="1200" dirty="0"/>
          </a:p>
        </p:txBody>
      </p:sp>
      <p:sp>
        <p:nvSpPr>
          <p:cNvPr id="38" name="Text 35"/>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Governance enforced before publication</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Your diagram: three governance inputs, three compliance checks, then the template applies</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54480"/>
            <a:ext cx="3611880" cy="2286000"/>
          </a:xfrm>
          <a:prstGeom prst="roundRect">
            <a:avLst>
              <a:gd name="adj" fmla="val 3200"/>
            </a:avLst>
          </a:prstGeom>
          <a:solidFill>
            <a:srgbClr val="F4F3F0"/>
          </a:solidFill>
          <a:ln w="9525">
            <a:solidFill>
              <a:srgbClr val="E3E1DA"/>
            </a:solidFill>
            <a:prstDash val="solid"/>
          </a:ln>
        </p:spPr>
      </p:sp>
      <p:sp>
        <p:nvSpPr>
          <p:cNvPr id="6" name="Shape 3"/>
          <p:cNvSpPr/>
          <p:nvPr/>
        </p:nvSpPr>
        <p:spPr>
          <a:xfrm>
            <a:off x="777240" y="1783080"/>
            <a:ext cx="1234440" cy="256032"/>
          </a:xfrm>
          <a:prstGeom prst="roundRect">
            <a:avLst>
              <a:gd name="adj" fmla="val 50000"/>
            </a:avLst>
          </a:prstGeom>
          <a:solidFill>
            <a:srgbClr val="FBE4E4"/>
          </a:solidFill>
          <a:ln w="12700">
            <a:solidFill>
              <a:srgbClr val="FBE4E4"/>
            </a:solidFill>
            <a:prstDash val="solid"/>
          </a:ln>
        </p:spPr>
      </p:sp>
      <p:sp>
        <p:nvSpPr>
          <p:cNvPr id="7" name="Text 4"/>
          <p:cNvSpPr/>
          <p:nvPr/>
        </p:nvSpPr>
        <p:spPr>
          <a:xfrm>
            <a:off x="777240" y="1783080"/>
            <a:ext cx="1234440" cy="256032"/>
          </a:xfrm>
          <a:prstGeom prst="rect">
            <a:avLst/>
          </a:prstGeom>
          <a:noFill/>
          <a:ln/>
        </p:spPr>
        <p:txBody>
          <a:bodyPr wrap="square" lIns="0" tIns="0" rIns="0" bIns="0" rtlCol="0" anchor="ctr"/>
          <a:lstStyle/>
          <a:p>
            <a:pPr algn="ctr" indent="0" marL="0">
              <a:buNone/>
            </a:pPr>
            <a:r>
              <a:rPr lang="en-US" sz="900" b="1" dirty="0">
                <a:solidFill>
                  <a:srgbClr val="C62828"/>
                </a:solidFill>
                <a:latin typeface="Calibri" pitchFamily="34" charset="0"/>
                <a:ea typeface="Calibri" pitchFamily="34" charset="-122"/>
                <a:cs typeface="Calibri" pitchFamily="34" charset="-120"/>
              </a:rPr>
              <a:t>STRUCTURE</a:t>
            </a:r>
            <a:endParaRPr lang="en-US" sz="900" dirty="0"/>
          </a:p>
        </p:txBody>
      </p:sp>
      <p:sp>
        <p:nvSpPr>
          <p:cNvPr id="8" name="Text 5"/>
          <p:cNvSpPr/>
          <p:nvPr/>
        </p:nvSpPr>
        <p:spPr>
          <a:xfrm>
            <a:off x="777240" y="2194560"/>
            <a:ext cx="3108960" cy="320040"/>
          </a:xfrm>
          <a:prstGeom prst="rect">
            <a:avLst/>
          </a:prstGeom>
          <a:noFill/>
          <a:ln/>
        </p:spPr>
        <p:txBody>
          <a:bodyPr wrap="square" lIns="0" tIns="0" rIns="0" bIns="0" rtlCol="0" anchor="ctr"/>
          <a:lstStyle/>
          <a:p>
            <a:pPr indent="0" marL="0">
              <a:buNone/>
            </a:pPr>
            <a:r>
              <a:rPr lang="en-US" sz="1600" b="1" dirty="0">
                <a:solidFill>
                  <a:srgbClr val="1F2024"/>
                </a:solidFill>
                <a:latin typeface="Cambria" pitchFamily="34" charset="0"/>
                <a:ea typeface="Cambria" pitchFamily="34" charset="-122"/>
                <a:cs typeface="Cambria" pitchFamily="34" charset="-120"/>
              </a:rPr>
              <a:t>Asset data framework</a:t>
            </a:r>
            <a:endParaRPr lang="en-US" sz="1600" dirty="0"/>
          </a:p>
        </p:txBody>
      </p:sp>
      <p:sp>
        <p:nvSpPr>
          <p:cNvPr id="9" name="Text 6"/>
          <p:cNvSpPr/>
          <p:nvPr/>
        </p:nvSpPr>
        <p:spPr>
          <a:xfrm>
            <a:off x="777240" y="2606040"/>
            <a:ext cx="3108960" cy="100584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Mandatory properties populated, template assigned, hierarchy placement, tag format</a:t>
            </a:r>
            <a:endParaRPr lang="en-US" sz="1150" dirty="0"/>
          </a:p>
        </p:txBody>
      </p:sp>
      <p:sp>
        <p:nvSpPr>
          <p:cNvPr id="10" name="Shape 7"/>
          <p:cNvSpPr/>
          <p:nvPr/>
        </p:nvSpPr>
        <p:spPr>
          <a:xfrm>
            <a:off x="4343400" y="1554480"/>
            <a:ext cx="3611880" cy="2286000"/>
          </a:xfrm>
          <a:prstGeom prst="roundRect">
            <a:avLst>
              <a:gd name="adj" fmla="val 3200"/>
            </a:avLst>
          </a:prstGeom>
          <a:solidFill>
            <a:srgbClr val="F4F3F0"/>
          </a:solidFill>
          <a:ln w="9525">
            <a:solidFill>
              <a:srgbClr val="E3E1DA"/>
            </a:solidFill>
            <a:prstDash val="solid"/>
          </a:ln>
        </p:spPr>
      </p:sp>
      <p:sp>
        <p:nvSpPr>
          <p:cNvPr id="11" name="Shape 8"/>
          <p:cNvSpPr/>
          <p:nvPr/>
        </p:nvSpPr>
        <p:spPr>
          <a:xfrm>
            <a:off x="4572000" y="1783080"/>
            <a:ext cx="1234440" cy="256032"/>
          </a:xfrm>
          <a:prstGeom prst="roundRect">
            <a:avLst>
              <a:gd name="adj" fmla="val 50000"/>
            </a:avLst>
          </a:prstGeom>
          <a:solidFill>
            <a:srgbClr val="FDF0DC"/>
          </a:solidFill>
          <a:ln w="12700">
            <a:solidFill>
              <a:srgbClr val="FDF0DC"/>
            </a:solidFill>
            <a:prstDash val="solid"/>
          </a:ln>
        </p:spPr>
      </p:sp>
      <p:sp>
        <p:nvSpPr>
          <p:cNvPr id="12" name="Text 9"/>
          <p:cNvSpPr/>
          <p:nvPr/>
        </p:nvSpPr>
        <p:spPr>
          <a:xfrm>
            <a:off x="4572000" y="1783080"/>
            <a:ext cx="1234440" cy="256032"/>
          </a:xfrm>
          <a:prstGeom prst="rect">
            <a:avLst/>
          </a:prstGeom>
          <a:noFill/>
          <a:ln/>
        </p:spPr>
        <p:txBody>
          <a:bodyPr wrap="square" lIns="0" tIns="0" rIns="0" bIns="0" rtlCol="0" anchor="ctr"/>
          <a:lstStyle/>
          <a:p>
            <a:pPr algn="ctr" indent="0" marL="0">
              <a:buNone/>
            </a:pPr>
            <a:r>
              <a:rPr lang="en-US" sz="900" b="1" dirty="0">
                <a:solidFill>
                  <a:srgbClr val="B26A00"/>
                </a:solidFill>
                <a:latin typeface="Calibri" pitchFamily="34" charset="0"/>
                <a:ea typeface="Calibri" pitchFamily="34" charset="-122"/>
                <a:cs typeface="Calibri" pitchFamily="34" charset="-120"/>
              </a:rPr>
              <a:t>PROCESS</a:t>
            </a:r>
            <a:endParaRPr lang="en-US" sz="900" dirty="0"/>
          </a:p>
        </p:txBody>
      </p:sp>
      <p:sp>
        <p:nvSpPr>
          <p:cNvPr id="13" name="Text 10"/>
          <p:cNvSpPr/>
          <p:nvPr/>
        </p:nvSpPr>
        <p:spPr>
          <a:xfrm>
            <a:off x="4572000" y="2194560"/>
            <a:ext cx="3108960" cy="320040"/>
          </a:xfrm>
          <a:prstGeom prst="rect">
            <a:avLst/>
          </a:prstGeom>
          <a:noFill/>
          <a:ln/>
        </p:spPr>
        <p:txBody>
          <a:bodyPr wrap="square" lIns="0" tIns="0" rIns="0" bIns="0" rtlCol="0" anchor="ctr"/>
          <a:lstStyle/>
          <a:p>
            <a:pPr indent="0" marL="0">
              <a:buNone/>
            </a:pPr>
            <a:r>
              <a:rPr lang="en-US" sz="1600" b="1" dirty="0">
                <a:solidFill>
                  <a:srgbClr val="1F2024"/>
                </a:solidFill>
                <a:latin typeface="Cambria" pitchFamily="34" charset="0"/>
                <a:ea typeface="Cambria" pitchFamily="34" charset="-122"/>
                <a:cs typeface="Cambria" pitchFamily="34" charset="-120"/>
              </a:rPr>
              <a:t>Data quality</a:t>
            </a:r>
            <a:endParaRPr lang="en-US" sz="1600" dirty="0"/>
          </a:p>
        </p:txBody>
      </p:sp>
      <p:sp>
        <p:nvSpPr>
          <p:cNvPr id="14" name="Text 11"/>
          <p:cNvSpPr/>
          <p:nvPr/>
        </p:nvSpPr>
        <p:spPr>
          <a:xfrm>
            <a:off x="4572000" y="2606040"/>
            <a:ext cx="3108960" cy="100584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Unit of measure, datatype, value ranges, duplicate tags</a:t>
            </a:r>
            <a:endParaRPr lang="en-US" sz="1150" dirty="0"/>
          </a:p>
        </p:txBody>
      </p:sp>
      <p:sp>
        <p:nvSpPr>
          <p:cNvPr id="15" name="Shape 12"/>
          <p:cNvSpPr/>
          <p:nvPr/>
        </p:nvSpPr>
        <p:spPr>
          <a:xfrm>
            <a:off x="8138160" y="1554480"/>
            <a:ext cx="3611880" cy="2286000"/>
          </a:xfrm>
          <a:prstGeom prst="roundRect">
            <a:avLst>
              <a:gd name="adj" fmla="val 3200"/>
            </a:avLst>
          </a:prstGeom>
          <a:solidFill>
            <a:srgbClr val="F4F3F0"/>
          </a:solidFill>
          <a:ln w="9525">
            <a:solidFill>
              <a:srgbClr val="E3E1DA"/>
            </a:solidFill>
            <a:prstDash val="solid"/>
          </a:ln>
        </p:spPr>
      </p:sp>
      <p:sp>
        <p:nvSpPr>
          <p:cNvPr id="16" name="Shape 13"/>
          <p:cNvSpPr/>
          <p:nvPr/>
        </p:nvSpPr>
        <p:spPr>
          <a:xfrm>
            <a:off x="8366760" y="1783080"/>
            <a:ext cx="1234440" cy="256032"/>
          </a:xfrm>
          <a:prstGeom prst="roundRect">
            <a:avLst>
              <a:gd name="adj" fmla="val 50000"/>
            </a:avLst>
          </a:prstGeom>
          <a:solidFill>
            <a:srgbClr val="E3ECF5"/>
          </a:solidFill>
          <a:ln w="12700">
            <a:solidFill>
              <a:srgbClr val="E3ECF5"/>
            </a:solidFill>
            <a:prstDash val="solid"/>
          </a:ln>
        </p:spPr>
      </p:sp>
      <p:sp>
        <p:nvSpPr>
          <p:cNvPr id="17" name="Text 14"/>
          <p:cNvSpPr/>
          <p:nvPr/>
        </p:nvSpPr>
        <p:spPr>
          <a:xfrm>
            <a:off x="8366760" y="1783080"/>
            <a:ext cx="1234440" cy="256032"/>
          </a:xfrm>
          <a:prstGeom prst="rect">
            <a:avLst/>
          </a:prstGeom>
          <a:noFill/>
          <a:ln/>
        </p:spPr>
        <p:txBody>
          <a:bodyPr wrap="square" lIns="0" tIns="0" rIns="0" bIns="0" rtlCol="0" anchor="ctr"/>
          <a:lstStyle/>
          <a:p>
            <a:pPr algn="ctr" indent="0" marL="0">
              <a:buNone/>
            </a:pPr>
            <a:r>
              <a:rPr lang="en-US" sz="900" b="1" dirty="0">
                <a:solidFill>
                  <a:srgbClr val="2C5F8A"/>
                </a:solidFill>
                <a:latin typeface="Calibri" pitchFamily="34" charset="0"/>
                <a:ea typeface="Calibri" pitchFamily="34" charset="-122"/>
                <a:cs typeface="Calibri" pitchFamily="34" charset="-120"/>
              </a:rPr>
              <a:t>CONTENT</a:t>
            </a:r>
            <a:endParaRPr lang="en-US" sz="900" dirty="0"/>
          </a:p>
        </p:txBody>
      </p:sp>
      <p:sp>
        <p:nvSpPr>
          <p:cNvPr id="18" name="Text 15"/>
          <p:cNvSpPr/>
          <p:nvPr/>
        </p:nvSpPr>
        <p:spPr>
          <a:xfrm>
            <a:off x="8366760" y="2194560"/>
            <a:ext cx="3108960" cy="320040"/>
          </a:xfrm>
          <a:prstGeom prst="rect">
            <a:avLst/>
          </a:prstGeom>
          <a:noFill/>
          <a:ln/>
        </p:spPr>
        <p:txBody>
          <a:bodyPr wrap="square" lIns="0" tIns="0" rIns="0" bIns="0" rtlCol="0" anchor="ctr"/>
          <a:lstStyle/>
          <a:p>
            <a:pPr indent="0" marL="0">
              <a:buNone/>
            </a:pPr>
            <a:r>
              <a:rPr lang="en-US" sz="1600" b="1" dirty="0">
                <a:solidFill>
                  <a:srgbClr val="1F2024"/>
                </a:solidFill>
                <a:latin typeface="Cambria" pitchFamily="34" charset="0"/>
                <a:ea typeface="Cambria" pitchFamily="34" charset="-122"/>
                <a:cs typeface="Cambria" pitchFamily="34" charset="-120"/>
              </a:rPr>
              <a:t>Technical and market</a:t>
            </a:r>
            <a:endParaRPr lang="en-US" sz="1600" dirty="0"/>
          </a:p>
        </p:txBody>
      </p:sp>
      <p:sp>
        <p:nvSpPr>
          <p:cNvPr id="19" name="Text 16"/>
          <p:cNvSpPr/>
          <p:nvPr/>
        </p:nvSpPr>
        <p:spPr>
          <a:xfrm>
            <a:off x="8366760" y="2606040"/>
            <a:ext cx="3108960" cy="100584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Values against the standard's own limits, materials against approved lists</a:t>
            </a:r>
            <a:endParaRPr lang="en-US" sz="1150" dirty="0"/>
          </a:p>
        </p:txBody>
      </p:sp>
      <p:sp>
        <p:nvSpPr>
          <p:cNvPr id="20" name="Shape 17"/>
          <p:cNvSpPr/>
          <p:nvPr/>
        </p:nvSpPr>
        <p:spPr>
          <a:xfrm>
            <a:off x="548640" y="4069080"/>
            <a:ext cx="11064240" cy="1600200"/>
          </a:xfrm>
          <a:prstGeom prst="roundRect">
            <a:avLst>
              <a:gd name="adj" fmla="val 4571"/>
            </a:avLst>
          </a:prstGeom>
          <a:solidFill>
            <a:srgbClr val="23242A"/>
          </a:solidFill>
          <a:ln w="9525">
            <a:solidFill>
              <a:srgbClr val="E3E1DA"/>
            </a:solidFill>
            <a:prstDash val="solid"/>
          </a:ln>
        </p:spPr>
      </p:sp>
      <p:sp>
        <p:nvSpPr>
          <p:cNvPr id="21" name="Text 18"/>
          <p:cNvSpPr/>
          <p:nvPr/>
        </p:nvSpPr>
        <p:spPr>
          <a:xfrm>
            <a:off x="822960" y="4251960"/>
            <a:ext cx="10515600" cy="320040"/>
          </a:xfrm>
          <a:prstGeom prst="rect">
            <a:avLst/>
          </a:prstGeom>
          <a:noFill/>
          <a:ln/>
        </p:spPr>
        <p:txBody>
          <a:bodyPr wrap="square" lIns="0" tIns="0" rIns="0" bIns="0" rtlCol="0" anchor="ctr"/>
          <a:lstStyle/>
          <a:p>
            <a:pPr indent="0" marL="0">
              <a:buNone/>
            </a:pPr>
            <a:r>
              <a:rPr lang="en-US" sz="1700" b="1" dirty="0">
                <a:solidFill>
                  <a:srgbClr val="C9A227"/>
                </a:solidFill>
                <a:latin typeface="Cambria" pitchFamily="34" charset="0"/>
                <a:ea typeface="Cambria" pitchFamily="34" charset="-122"/>
                <a:cs typeface="Cambria" pitchFamily="34" charset="-120"/>
              </a:rPr>
              <a:t>10 rules, run on demand, written against the standard</a:t>
            </a:r>
            <a:endParaRPr lang="en-US" sz="1700" dirty="0"/>
          </a:p>
        </p:txBody>
      </p:sp>
      <p:sp>
        <p:nvSpPr>
          <p:cNvPr id="22" name="Text 19"/>
          <p:cNvSpPr/>
          <p:nvPr/>
        </p:nvSpPr>
        <p:spPr>
          <a:xfrm>
            <a:off x="822960" y="4663440"/>
            <a:ext cx="10515600" cy="914400"/>
          </a:xfrm>
          <a:prstGeom prst="rect">
            <a:avLst/>
          </a:prstGeom>
          <a:noFill/>
          <a:ln/>
        </p:spPr>
        <p:txBody>
          <a:bodyPr wrap="square" lIns="0" tIns="0" rIns="0" bIns="0" rtlCol="0" anchor="ctr"/>
          <a:lstStyle/>
          <a:p>
            <a:pPr indent="0" marL="0">
              <a:lnSpc>
                <a:spcPts val="1900"/>
              </a:lnSpc>
              <a:buNone/>
            </a:pPr>
            <a:r>
              <a:rPr lang="en-US" sz="1300" dirty="0">
                <a:solidFill>
                  <a:srgbClr val="D8D8DC"/>
                </a:solidFill>
                <a:latin typeface="Calibri" pitchFamily="34" charset="0"/>
                <a:ea typeface="Calibri" pitchFamily="34" charset="-122"/>
                <a:cs typeface="Calibri" pitchFamily="34" charset="-120"/>
              </a:rPr>
              <a:t>A validation run writes an immutable record of what was checked and what failed. An asset only reaches Validated when it has zero failures. It only publishes when it is Validated against an Approved template. The rule that stops a plate shipping is not a comment in a spreadsheet, it is a rule citing ASTM A240 and the minimum it requires.</a:t>
            </a:r>
            <a:endParaRPr lang="en-US" sz="1300" dirty="0"/>
          </a:p>
        </p:txBody>
      </p:sp>
      <p:sp>
        <p:nvSpPr>
          <p:cNvPr id="23" name="Text 20"/>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Your own example, end to end</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EQP-000789, the pump package from your governance diagram</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08760"/>
            <a:ext cx="5120640" cy="3154680"/>
          </a:xfrm>
          <a:prstGeom prst="roundRect">
            <a:avLst>
              <a:gd name="adj" fmla="val 2319"/>
            </a:avLst>
          </a:prstGeom>
          <a:solidFill>
            <a:srgbClr val="F4F3F0"/>
          </a:solidFill>
          <a:ln w="9525">
            <a:solidFill>
              <a:srgbClr val="E3E1DA"/>
            </a:solidFill>
            <a:prstDash val="solid"/>
          </a:ln>
        </p:spPr>
      </p:sp>
      <p:sp>
        <p:nvSpPr>
          <p:cNvPr id="6" name="Text 3"/>
          <p:cNvSpPr/>
          <p:nvPr/>
        </p:nvSpPr>
        <p:spPr>
          <a:xfrm>
            <a:off x="777240" y="1691640"/>
            <a:ext cx="2743200" cy="365760"/>
          </a:xfrm>
          <a:prstGeom prst="rect">
            <a:avLst/>
          </a:prstGeom>
          <a:noFill/>
          <a:ln/>
        </p:spPr>
        <p:txBody>
          <a:bodyPr wrap="square" lIns="0" tIns="0" rIns="0" bIns="0" rtlCol="0" anchor="ctr"/>
          <a:lstStyle/>
          <a:p>
            <a:pPr indent="0" marL="0">
              <a:buNone/>
            </a:pPr>
            <a:r>
              <a:rPr lang="en-US" sz="2000" b="1" dirty="0">
                <a:solidFill>
                  <a:srgbClr val="1F2024"/>
                </a:solidFill>
                <a:latin typeface="Cambria" pitchFamily="34" charset="0"/>
                <a:ea typeface="Cambria" pitchFamily="34" charset="-122"/>
                <a:cs typeface="Cambria" pitchFamily="34" charset="-120"/>
              </a:rPr>
              <a:t>EQP-000789</a:t>
            </a:r>
            <a:endParaRPr lang="en-US" sz="2000" dirty="0"/>
          </a:p>
        </p:txBody>
      </p:sp>
      <p:sp>
        <p:nvSpPr>
          <p:cNvPr id="7" name="Shape 4"/>
          <p:cNvSpPr/>
          <p:nvPr/>
        </p:nvSpPr>
        <p:spPr>
          <a:xfrm>
            <a:off x="2926080" y="1783080"/>
            <a:ext cx="832104" cy="237744"/>
          </a:xfrm>
          <a:prstGeom prst="roundRect">
            <a:avLst>
              <a:gd name="adj" fmla="val 50000"/>
            </a:avLst>
          </a:prstGeom>
          <a:solidFill>
            <a:srgbClr val="E8E8EC"/>
          </a:solidFill>
          <a:ln w="12700">
            <a:solidFill>
              <a:srgbClr val="E8E8EC"/>
            </a:solidFill>
            <a:prstDash val="solid"/>
          </a:ln>
        </p:spPr>
      </p:sp>
      <p:sp>
        <p:nvSpPr>
          <p:cNvPr id="8" name="Text 5"/>
          <p:cNvSpPr/>
          <p:nvPr/>
        </p:nvSpPr>
        <p:spPr>
          <a:xfrm>
            <a:off x="2926080" y="1783080"/>
            <a:ext cx="832104"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Rev A</a:t>
            </a:r>
            <a:endParaRPr lang="en-US" sz="950" dirty="0"/>
          </a:p>
        </p:txBody>
      </p:sp>
      <p:sp>
        <p:nvSpPr>
          <p:cNvPr id="9" name="Shape 6"/>
          <p:cNvSpPr/>
          <p:nvPr/>
        </p:nvSpPr>
        <p:spPr>
          <a:xfrm>
            <a:off x="3749040" y="1783080"/>
            <a:ext cx="1307592" cy="237744"/>
          </a:xfrm>
          <a:prstGeom prst="roundRect">
            <a:avLst>
              <a:gd name="adj" fmla="val 50000"/>
            </a:avLst>
          </a:prstGeom>
          <a:solidFill>
            <a:srgbClr val="E5F2E6"/>
          </a:solidFill>
          <a:ln w="12700">
            <a:solidFill>
              <a:srgbClr val="E5F2E6"/>
            </a:solidFill>
            <a:prstDash val="solid"/>
          </a:ln>
        </p:spPr>
      </p:sp>
      <p:sp>
        <p:nvSpPr>
          <p:cNvPr id="10" name="Text 7"/>
          <p:cNvSpPr/>
          <p:nvPr/>
        </p:nvSpPr>
        <p:spPr>
          <a:xfrm>
            <a:off x="3749040" y="1783080"/>
            <a:ext cx="1307592" cy="237744"/>
          </a:xfrm>
          <a:prstGeom prst="rect">
            <a:avLst/>
          </a:prstGeom>
          <a:noFill/>
          <a:ln/>
        </p:spPr>
        <p:txBody>
          <a:bodyPr wrap="square" lIns="0" tIns="0" rIns="0" bIns="0" rtlCol="0" anchor="ctr"/>
          <a:lstStyle/>
          <a:p>
            <a:pPr algn="ctr" indent="0" marL="0">
              <a:buNone/>
            </a:pPr>
            <a:r>
              <a:rPr lang="en-US" sz="950" b="1" dirty="0">
                <a:solidFill>
                  <a:srgbClr val="2E7D32"/>
                </a:solidFill>
                <a:latin typeface="Calibri" pitchFamily="34" charset="0"/>
                <a:ea typeface="Calibri" pitchFamily="34" charset="-122"/>
                <a:cs typeface="Calibri" pitchFamily="34" charset="-120"/>
              </a:rPr>
              <a:t>Published</a:t>
            </a:r>
            <a:endParaRPr lang="en-US" sz="950" dirty="0"/>
          </a:p>
        </p:txBody>
      </p:sp>
      <p:sp>
        <p:nvSpPr>
          <p:cNvPr id="11" name="Text 8"/>
          <p:cNvSpPr/>
          <p:nvPr/>
        </p:nvSpPr>
        <p:spPr>
          <a:xfrm>
            <a:off x="777240" y="2103120"/>
            <a:ext cx="4663440" cy="274320"/>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CIL Transfer Pump Package, Area 310, Subsystem 311-PU-01</a:t>
            </a:r>
            <a:endParaRPr lang="en-US" sz="1100" dirty="0"/>
          </a:p>
        </p:txBody>
      </p:sp>
      <p:sp>
        <p:nvSpPr>
          <p:cNvPr id="12" name="Text 9"/>
          <p:cNvSpPr/>
          <p:nvPr/>
        </p:nvSpPr>
        <p:spPr>
          <a:xfrm>
            <a:off x="777240" y="2487168"/>
            <a:ext cx="2377440" cy="274320"/>
          </a:xfrm>
          <a:prstGeom prst="rect">
            <a:avLst/>
          </a:prstGeom>
          <a:noFill/>
          <a:ln/>
        </p:spPr>
        <p:txBody>
          <a:bodyPr wrap="square" lIns="0" tIns="0" rIns="0" bIns="0" rtlCol="0" anchor="ctr"/>
          <a:lstStyle/>
          <a:p>
            <a:pPr indent="0" marL="0">
              <a:buNone/>
            </a:pPr>
            <a:r>
              <a:rPr lang="en-US" sz="1200" dirty="0">
                <a:solidFill>
                  <a:srgbClr val="1F2024"/>
                </a:solidFill>
                <a:latin typeface="Calibri" pitchFamily="34" charset="0"/>
                <a:ea typeface="Calibri" pitchFamily="34" charset="-122"/>
                <a:cs typeface="Calibri" pitchFamily="34" charset="-120"/>
              </a:rPr>
              <a:t>Flow rate</a:t>
            </a:r>
            <a:endParaRPr lang="en-US" sz="1200" dirty="0"/>
          </a:p>
        </p:txBody>
      </p:sp>
      <p:sp>
        <p:nvSpPr>
          <p:cNvPr id="13" name="Text 10"/>
          <p:cNvSpPr/>
          <p:nvPr/>
        </p:nvSpPr>
        <p:spPr>
          <a:xfrm>
            <a:off x="3200400" y="2487168"/>
            <a:ext cx="1463040" cy="274320"/>
          </a:xfrm>
          <a:prstGeom prst="rect">
            <a:avLst/>
          </a:prstGeom>
          <a:noFill/>
          <a:ln/>
        </p:spPr>
        <p:txBody>
          <a:bodyPr wrap="square" lIns="0" tIns="0" rIns="0" bIns="0" rtlCol="0" anchor="ctr"/>
          <a:lstStyle/>
          <a:p>
            <a:pPr indent="0" marL="0">
              <a:buNone/>
            </a:pPr>
            <a:r>
              <a:rPr lang="en-US" sz="1200" b="1" dirty="0">
                <a:solidFill>
                  <a:srgbClr val="1F2024"/>
                </a:solidFill>
                <a:latin typeface="Calibri" pitchFamily="34" charset="0"/>
                <a:ea typeface="Calibri" pitchFamily="34" charset="-122"/>
                <a:cs typeface="Calibri" pitchFamily="34" charset="-120"/>
              </a:rPr>
              <a:t>250 m3/h</a:t>
            </a:r>
            <a:endParaRPr lang="en-US" sz="1200" dirty="0"/>
          </a:p>
        </p:txBody>
      </p:sp>
      <p:sp>
        <p:nvSpPr>
          <p:cNvPr id="14" name="Shape 11"/>
          <p:cNvSpPr/>
          <p:nvPr/>
        </p:nvSpPr>
        <p:spPr>
          <a:xfrm>
            <a:off x="4937760" y="2505456"/>
            <a:ext cx="237744" cy="237744"/>
          </a:xfrm>
          <a:prstGeom prst="ellipse">
            <a:avLst/>
          </a:prstGeom>
          <a:solidFill>
            <a:srgbClr val="E5F2E6"/>
          </a:solidFill>
          <a:ln w="12700">
            <a:solidFill>
              <a:srgbClr val="E5F2E6"/>
            </a:solidFill>
            <a:prstDash val="solid"/>
          </a:ln>
        </p:spPr>
      </p:sp>
      <p:sp>
        <p:nvSpPr>
          <p:cNvPr id="15" name="Text 12"/>
          <p:cNvSpPr/>
          <p:nvPr/>
        </p:nvSpPr>
        <p:spPr>
          <a:xfrm>
            <a:off x="4937760" y="2505456"/>
            <a:ext cx="237744" cy="237744"/>
          </a:xfrm>
          <a:prstGeom prst="rect">
            <a:avLst/>
          </a:prstGeom>
          <a:noFill/>
          <a:ln/>
        </p:spPr>
        <p:txBody>
          <a:bodyPr wrap="square" lIns="0" tIns="0" rIns="0" bIns="0" rtlCol="0" anchor="ctr"/>
          <a:lstStyle/>
          <a:p>
            <a:pPr algn="ctr" indent="0" marL="0">
              <a:buNone/>
            </a:pPr>
            <a:r>
              <a:rPr lang="en-US" sz="936" b="1" dirty="0">
                <a:solidFill>
                  <a:srgbClr val="2E7D32"/>
                </a:solidFill>
                <a:latin typeface="Calibri" pitchFamily="34" charset="0"/>
                <a:ea typeface="Calibri" pitchFamily="34" charset="-122"/>
                <a:cs typeface="Calibri" pitchFamily="34" charset="-120"/>
              </a:rPr>
              <a:t>✓</a:t>
            </a:r>
            <a:endParaRPr lang="en-US" sz="936" dirty="0"/>
          </a:p>
        </p:txBody>
      </p:sp>
      <p:sp>
        <p:nvSpPr>
          <p:cNvPr id="16" name="Text 13"/>
          <p:cNvSpPr/>
          <p:nvPr/>
        </p:nvSpPr>
        <p:spPr>
          <a:xfrm>
            <a:off x="777240" y="2798064"/>
            <a:ext cx="2377440" cy="274320"/>
          </a:xfrm>
          <a:prstGeom prst="rect">
            <a:avLst/>
          </a:prstGeom>
          <a:noFill/>
          <a:ln/>
        </p:spPr>
        <p:txBody>
          <a:bodyPr wrap="square" lIns="0" tIns="0" rIns="0" bIns="0" rtlCol="0" anchor="ctr"/>
          <a:lstStyle/>
          <a:p>
            <a:pPr indent="0" marL="0">
              <a:buNone/>
            </a:pPr>
            <a:r>
              <a:rPr lang="en-US" sz="1200" dirty="0">
                <a:solidFill>
                  <a:srgbClr val="1F2024"/>
                </a:solidFill>
                <a:latin typeface="Calibri" pitchFamily="34" charset="0"/>
                <a:ea typeface="Calibri" pitchFamily="34" charset="-122"/>
                <a:cs typeface="Calibri" pitchFamily="34" charset="-120"/>
              </a:rPr>
              <a:t>Pressure (design)</a:t>
            </a:r>
            <a:endParaRPr lang="en-US" sz="1200" dirty="0"/>
          </a:p>
        </p:txBody>
      </p:sp>
      <p:sp>
        <p:nvSpPr>
          <p:cNvPr id="17" name="Text 14"/>
          <p:cNvSpPr/>
          <p:nvPr/>
        </p:nvSpPr>
        <p:spPr>
          <a:xfrm>
            <a:off x="3200400" y="2798064"/>
            <a:ext cx="1463040" cy="274320"/>
          </a:xfrm>
          <a:prstGeom prst="rect">
            <a:avLst/>
          </a:prstGeom>
          <a:noFill/>
          <a:ln/>
        </p:spPr>
        <p:txBody>
          <a:bodyPr wrap="square" lIns="0" tIns="0" rIns="0" bIns="0" rtlCol="0" anchor="ctr"/>
          <a:lstStyle/>
          <a:p>
            <a:pPr indent="0" marL="0">
              <a:buNone/>
            </a:pPr>
            <a:r>
              <a:rPr lang="en-US" sz="1200" b="1" dirty="0">
                <a:solidFill>
                  <a:srgbClr val="1F2024"/>
                </a:solidFill>
                <a:latin typeface="Calibri" pitchFamily="34" charset="0"/>
                <a:ea typeface="Calibri" pitchFamily="34" charset="-122"/>
                <a:cs typeface="Calibri" pitchFamily="34" charset="-120"/>
              </a:rPr>
              <a:t>12 bar</a:t>
            </a:r>
            <a:endParaRPr lang="en-US" sz="1200" dirty="0"/>
          </a:p>
        </p:txBody>
      </p:sp>
      <p:sp>
        <p:nvSpPr>
          <p:cNvPr id="18" name="Shape 15"/>
          <p:cNvSpPr/>
          <p:nvPr/>
        </p:nvSpPr>
        <p:spPr>
          <a:xfrm>
            <a:off x="4937760" y="2816352"/>
            <a:ext cx="237744" cy="237744"/>
          </a:xfrm>
          <a:prstGeom prst="ellipse">
            <a:avLst/>
          </a:prstGeom>
          <a:solidFill>
            <a:srgbClr val="E5F2E6"/>
          </a:solidFill>
          <a:ln w="12700">
            <a:solidFill>
              <a:srgbClr val="E5F2E6"/>
            </a:solidFill>
            <a:prstDash val="solid"/>
          </a:ln>
        </p:spPr>
      </p:sp>
      <p:sp>
        <p:nvSpPr>
          <p:cNvPr id="19" name="Text 16"/>
          <p:cNvSpPr/>
          <p:nvPr/>
        </p:nvSpPr>
        <p:spPr>
          <a:xfrm>
            <a:off x="4937760" y="2816352"/>
            <a:ext cx="237744" cy="237744"/>
          </a:xfrm>
          <a:prstGeom prst="rect">
            <a:avLst/>
          </a:prstGeom>
          <a:noFill/>
          <a:ln/>
        </p:spPr>
        <p:txBody>
          <a:bodyPr wrap="square" lIns="0" tIns="0" rIns="0" bIns="0" rtlCol="0" anchor="ctr"/>
          <a:lstStyle/>
          <a:p>
            <a:pPr algn="ctr" indent="0" marL="0">
              <a:buNone/>
            </a:pPr>
            <a:r>
              <a:rPr lang="en-US" sz="936" b="1" dirty="0">
                <a:solidFill>
                  <a:srgbClr val="2E7D32"/>
                </a:solidFill>
                <a:latin typeface="Calibri" pitchFamily="34" charset="0"/>
                <a:ea typeface="Calibri" pitchFamily="34" charset="-122"/>
                <a:cs typeface="Calibri" pitchFamily="34" charset="-120"/>
              </a:rPr>
              <a:t>✓</a:t>
            </a:r>
            <a:endParaRPr lang="en-US" sz="936" dirty="0"/>
          </a:p>
        </p:txBody>
      </p:sp>
      <p:sp>
        <p:nvSpPr>
          <p:cNvPr id="20" name="Text 17"/>
          <p:cNvSpPr/>
          <p:nvPr/>
        </p:nvSpPr>
        <p:spPr>
          <a:xfrm>
            <a:off x="777240" y="3108960"/>
            <a:ext cx="2377440" cy="274320"/>
          </a:xfrm>
          <a:prstGeom prst="rect">
            <a:avLst/>
          </a:prstGeom>
          <a:noFill/>
          <a:ln/>
        </p:spPr>
        <p:txBody>
          <a:bodyPr wrap="square" lIns="0" tIns="0" rIns="0" bIns="0" rtlCol="0" anchor="ctr"/>
          <a:lstStyle/>
          <a:p>
            <a:pPr indent="0" marL="0">
              <a:buNone/>
            </a:pPr>
            <a:r>
              <a:rPr lang="en-US" sz="1200" dirty="0">
                <a:solidFill>
                  <a:srgbClr val="1F2024"/>
                </a:solidFill>
                <a:latin typeface="Calibri" pitchFamily="34" charset="0"/>
                <a:ea typeface="Calibri" pitchFamily="34" charset="-122"/>
                <a:cs typeface="Calibri" pitchFamily="34" charset="-120"/>
              </a:rPr>
              <a:t>Power (absorbed)</a:t>
            </a:r>
            <a:endParaRPr lang="en-US" sz="1200" dirty="0"/>
          </a:p>
        </p:txBody>
      </p:sp>
      <p:sp>
        <p:nvSpPr>
          <p:cNvPr id="21" name="Text 18"/>
          <p:cNvSpPr/>
          <p:nvPr/>
        </p:nvSpPr>
        <p:spPr>
          <a:xfrm>
            <a:off x="3200400" y="3108960"/>
            <a:ext cx="1463040" cy="274320"/>
          </a:xfrm>
          <a:prstGeom prst="rect">
            <a:avLst/>
          </a:prstGeom>
          <a:noFill/>
          <a:ln/>
        </p:spPr>
        <p:txBody>
          <a:bodyPr wrap="square" lIns="0" tIns="0" rIns="0" bIns="0" rtlCol="0" anchor="ctr"/>
          <a:lstStyle/>
          <a:p>
            <a:pPr indent="0" marL="0">
              <a:buNone/>
            </a:pPr>
            <a:r>
              <a:rPr lang="en-US" sz="1200" b="1" dirty="0">
                <a:solidFill>
                  <a:srgbClr val="1F2024"/>
                </a:solidFill>
                <a:latin typeface="Calibri" pitchFamily="34" charset="0"/>
                <a:ea typeface="Calibri" pitchFamily="34" charset="-122"/>
                <a:cs typeface="Calibri" pitchFamily="34" charset="-120"/>
              </a:rPr>
              <a:t>315 kW</a:t>
            </a:r>
            <a:endParaRPr lang="en-US" sz="1200" dirty="0"/>
          </a:p>
        </p:txBody>
      </p:sp>
      <p:sp>
        <p:nvSpPr>
          <p:cNvPr id="22" name="Shape 19"/>
          <p:cNvSpPr/>
          <p:nvPr/>
        </p:nvSpPr>
        <p:spPr>
          <a:xfrm>
            <a:off x="4937760" y="3127248"/>
            <a:ext cx="237744" cy="237744"/>
          </a:xfrm>
          <a:prstGeom prst="ellipse">
            <a:avLst/>
          </a:prstGeom>
          <a:solidFill>
            <a:srgbClr val="E5F2E6"/>
          </a:solidFill>
          <a:ln w="12700">
            <a:solidFill>
              <a:srgbClr val="E5F2E6"/>
            </a:solidFill>
            <a:prstDash val="solid"/>
          </a:ln>
        </p:spPr>
      </p:sp>
      <p:sp>
        <p:nvSpPr>
          <p:cNvPr id="23" name="Text 20"/>
          <p:cNvSpPr/>
          <p:nvPr/>
        </p:nvSpPr>
        <p:spPr>
          <a:xfrm>
            <a:off x="4937760" y="3127248"/>
            <a:ext cx="237744" cy="237744"/>
          </a:xfrm>
          <a:prstGeom prst="rect">
            <a:avLst/>
          </a:prstGeom>
          <a:noFill/>
          <a:ln/>
        </p:spPr>
        <p:txBody>
          <a:bodyPr wrap="square" lIns="0" tIns="0" rIns="0" bIns="0" rtlCol="0" anchor="ctr"/>
          <a:lstStyle/>
          <a:p>
            <a:pPr algn="ctr" indent="0" marL="0">
              <a:buNone/>
            </a:pPr>
            <a:r>
              <a:rPr lang="en-US" sz="936" b="1" dirty="0">
                <a:solidFill>
                  <a:srgbClr val="2E7D32"/>
                </a:solidFill>
                <a:latin typeface="Calibri" pitchFamily="34" charset="0"/>
                <a:ea typeface="Calibri" pitchFamily="34" charset="-122"/>
                <a:cs typeface="Calibri" pitchFamily="34" charset="-120"/>
              </a:rPr>
              <a:t>✓</a:t>
            </a:r>
            <a:endParaRPr lang="en-US" sz="936" dirty="0"/>
          </a:p>
        </p:txBody>
      </p:sp>
      <p:sp>
        <p:nvSpPr>
          <p:cNvPr id="24" name="Text 21"/>
          <p:cNvSpPr/>
          <p:nvPr/>
        </p:nvSpPr>
        <p:spPr>
          <a:xfrm>
            <a:off x="777240" y="3419856"/>
            <a:ext cx="2377440" cy="274320"/>
          </a:xfrm>
          <a:prstGeom prst="rect">
            <a:avLst/>
          </a:prstGeom>
          <a:noFill/>
          <a:ln/>
        </p:spPr>
        <p:txBody>
          <a:bodyPr wrap="square" lIns="0" tIns="0" rIns="0" bIns="0" rtlCol="0" anchor="ctr"/>
          <a:lstStyle/>
          <a:p>
            <a:pPr indent="0" marL="0">
              <a:buNone/>
            </a:pPr>
            <a:r>
              <a:rPr lang="en-US" sz="1200" dirty="0">
                <a:solidFill>
                  <a:srgbClr val="1F2024"/>
                </a:solidFill>
                <a:latin typeface="Calibri" pitchFamily="34" charset="0"/>
                <a:ea typeface="Calibri" pitchFamily="34" charset="-122"/>
                <a:cs typeface="Calibri" pitchFamily="34" charset="-120"/>
              </a:rPr>
              <a:t>Material (casing)</a:t>
            </a:r>
            <a:endParaRPr lang="en-US" sz="1200" dirty="0"/>
          </a:p>
        </p:txBody>
      </p:sp>
      <p:sp>
        <p:nvSpPr>
          <p:cNvPr id="25" name="Text 22"/>
          <p:cNvSpPr/>
          <p:nvPr/>
        </p:nvSpPr>
        <p:spPr>
          <a:xfrm>
            <a:off x="3200400" y="3419856"/>
            <a:ext cx="1463040" cy="274320"/>
          </a:xfrm>
          <a:prstGeom prst="rect">
            <a:avLst/>
          </a:prstGeom>
          <a:noFill/>
          <a:ln/>
        </p:spPr>
        <p:txBody>
          <a:bodyPr wrap="square" lIns="0" tIns="0" rIns="0" bIns="0" rtlCol="0" anchor="ctr"/>
          <a:lstStyle/>
          <a:p>
            <a:pPr indent="0" marL="0">
              <a:buNone/>
            </a:pPr>
            <a:r>
              <a:rPr lang="en-US" sz="1200" b="1" dirty="0">
                <a:solidFill>
                  <a:srgbClr val="1F2024"/>
                </a:solidFill>
                <a:latin typeface="Calibri" pitchFamily="34" charset="0"/>
                <a:ea typeface="Calibri" pitchFamily="34" charset="-122"/>
                <a:cs typeface="Calibri" pitchFamily="34" charset="-120"/>
              </a:rPr>
              <a:t>SS316</a:t>
            </a:r>
            <a:endParaRPr lang="en-US" sz="1200" dirty="0"/>
          </a:p>
        </p:txBody>
      </p:sp>
      <p:sp>
        <p:nvSpPr>
          <p:cNvPr id="26" name="Shape 23"/>
          <p:cNvSpPr/>
          <p:nvPr/>
        </p:nvSpPr>
        <p:spPr>
          <a:xfrm>
            <a:off x="4937760" y="3438144"/>
            <a:ext cx="237744" cy="237744"/>
          </a:xfrm>
          <a:prstGeom prst="ellipse">
            <a:avLst/>
          </a:prstGeom>
          <a:solidFill>
            <a:srgbClr val="E5F2E6"/>
          </a:solidFill>
          <a:ln w="12700">
            <a:solidFill>
              <a:srgbClr val="E5F2E6"/>
            </a:solidFill>
            <a:prstDash val="solid"/>
          </a:ln>
        </p:spPr>
      </p:sp>
      <p:sp>
        <p:nvSpPr>
          <p:cNvPr id="27" name="Text 24"/>
          <p:cNvSpPr/>
          <p:nvPr/>
        </p:nvSpPr>
        <p:spPr>
          <a:xfrm>
            <a:off x="4937760" y="3438144"/>
            <a:ext cx="237744" cy="237744"/>
          </a:xfrm>
          <a:prstGeom prst="rect">
            <a:avLst/>
          </a:prstGeom>
          <a:noFill/>
          <a:ln/>
        </p:spPr>
        <p:txBody>
          <a:bodyPr wrap="square" lIns="0" tIns="0" rIns="0" bIns="0" rtlCol="0" anchor="ctr"/>
          <a:lstStyle/>
          <a:p>
            <a:pPr algn="ctr" indent="0" marL="0">
              <a:buNone/>
            </a:pPr>
            <a:r>
              <a:rPr lang="en-US" sz="936" b="1" dirty="0">
                <a:solidFill>
                  <a:srgbClr val="2E7D32"/>
                </a:solidFill>
                <a:latin typeface="Calibri" pitchFamily="34" charset="0"/>
                <a:ea typeface="Calibri" pitchFamily="34" charset="-122"/>
                <a:cs typeface="Calibri" pitchFamily="34" charset="-120"/>
              </a:rPr>
              <a:t>✓</a:t>
            </a:r>
            <a:endParaRPr lang="en-US" sz="936" dirty="0"/>
          </a:p>
        </p:txBody>
      </p:sp>
      <p:sp>
        <p:nvSpPr>
          <p:cNvPr id="28" name="Text 25"/>
          <p:cNvSpPr/>
          <p:nvPr/>
        </p:nvSpPr>
        <p:spPr>
          <a:xfrm>
            <a:off x="777240" y="3730752"/>
            <a:ext cx="2377440" cy="274320"/>
          </a:xfrm>
          <a:prstGeom prst="rect">
            <a:avLst/>
          </a:prstGeom>
          <a:noFill/>
          <a:ln/>
        </p:spPr>
        <p:txBody>
          <a:bodyPr wrap="square" lIns="0" tIns="0" rIns="0" bIns="0" rtlCol="0" anchor="ctr"/>
          <a:lstStyle/>
          <a:p>
            <a:pPr indent="0" marL="0">
              <a:buNone/>
            </a:pPr>
            <a:r>
              <a:rPr lang="en-US" sz="1200" dirty="0">
                <a:solidFill>
                  <a:srgbClr val="1F2024"/>
                </a:solidFill>
                <a:latin typeface="Calibri" pitchFamily="34" charset="0"/>
                <a:ea typeface="Calibri" pitchFamily="34" charset="-122"/>
                <a:cs typeface="Calibri" pitchFamily="34" charset="-120"/>
              </a:rPr>
              <a:t>Seal plan</a:t>
            </a:r>
            <a:endParaRPr lang="en-US" sz="1200" dirty="0"/>
          </a:p>
        </p:txBody>
      </p:sp>
      <p:sp>
        <p:nvSpPr>
          <p:cNvPr id="29" name="Text 26"/>
          <p:cNvSpPr/>
          <p:nvPr/>
        </p:nvSpPr>
        <p:spPr>
          <a:xfrm>
            <a:off x="3200400" y="3730752"/>
            <a:ext cx="1463040" cy="274320"/>
          </a:xfrm>
          <a:prstGeom prst="rect">
            <a:avLst/>
          </a:prstGeom>
          <a:noFill/>
          <a:ln/>
        </p:spPr>
        <p:txBody>
          <a:bodyPr wrap="square" lIns="0" tIns="0" rIns="0" bIns="0" rtlCol="0" anchor="ctr"/>
          <a:lstStyle/>
          <a:p>
            <a:pPr indent="0" marL="0">
              <a:buNone/>
            </a:pPr>
            <a:r>
              <a:rPr lang="en-US" sz="1200" b="1" dirty="0">
                <a:solidFill>
                  <a:srgbClr val="1F2024"/>
                </a:solidFill>
                <a:latin typeface="Calibri" pitchFamily="34" charset="0"/>
                <a:ea typeface="Calibri" pitchFamily="34" charset="-122"/>
                <a:cs typeface="Calibri" pitchFamily="34" charset="-120"/>
              </a:rPr>
              <a:t>Plan 53B</a:t>
            </a:r>
            <a:endParaRPr lang="en-US" sz="1200" dirty="0"/>
          </a:p>
        </p:txBody>
      </p:sp>
      <p:sp>
        <p:nvSpPr>
          <p:cNvPr id="30" name="Shape 27"/>
          <p:cNvSpPr/>
          <p:nvPr/>
        </p:nvSpPr>
        <p:spPr>
          <a:xfrm>
            <a:off x="4937760" y="3749040"/>
            <a:ext cx="237744" cy="237744"/>
          </a:xfrm>
          <a:prstGeom prst="ellipse">
            <a:avLst/>
          </a:prstGeom>
          <a:solidFill>
            <a:srgbClr val="E5F2E6"/>
          </a:solidFill>
          <a:ln w="12700">
            <a:solidFill>
              <a:srgbClr val="E5F2E6"/>
            </a:solidFill>
            <a:prstDash val="solid"/>
          </a:ln>
        </p:spPr>
      </p:sp>
      <p:sp>
        <p:nvSpPr>
          <p:cNvPr id="31" name="Text 28"/>
          <p:cNvSpPr/>
          <p:nvPr/>
        </p:nvSpPr>
        <p:spPr>
          <a:xfrm>
            <a:off x="4937760" y="3749040"/>
            <a:ext cx="237744" cy="237744"/>
          </a:xfrm>
          <a:prstGeom prst="rect">
            <a:avLst/>
          </a:prstGeom>
          <a:noFill/>
          <a:ln/>
        </p:spPr>
        <p:txBody>
          <a:bodyPr wrap="square" lIns="0" tIns="0" rIns="0" bIns="0" rtlCol="0" anchor="ctr"/>
          <a:lstStyle/>
          <a:p>
            <a:pPr algn="ctr" indent="0" marL="0">
              <a:buNone/>
            </a:pPr>
            <a:r>
              <a:rPr lang="en-US" sz="936" b="1" dirty="0">
                <a:solidFill>
                  <a:srgbClr val="2E7D32"/>
                </a:solidFill>
                <a:latin typeface="Calibri" pitchFamily="34" charset="0"/>
                <a:ea typeface="Calibri" pitchFamily="34" charset="-122"/>
                <a:cs typeface="Calibri" pitchFamily="34" charset="-120"/>
              </a:rPr>
              <a:t>✓</a:t>
            </a:r>
            <a:endParaRPr lang="en-US" sz="936" dirty="0"/>
          </a:p>
        </p:txBody>
      </p:sp>
      <p:sp>
        <p:nvSpPr>
          <p:cNvPr id="32" name="Text 29"/>
          <p:cNvSpPr/>
          <p:nvPr/>
        </p:nvSpPr>
        <p:spPr>
          <a:xfrm>
            <a:off x="777240" y="4206240"/>
            <a:ext cx="4663440" cy="256032"/>
          </a:xfrm>
          <a:prstGeom prst="rect">
            <a:avLst/>
          </a:prstGeom>
          <a:noFill/>
          <a:ln/>
        </p:spPr>
        <p:txBody>
          <a:bodyPr wrap="square" lIns="0" tIns="0" rIns="0" bIns="0" rtlCol="0" anchor="ctr"/>
          <a:lstStyle/>
          <a:p>
            <a:pPr indent="0" marL="0">
              <a:buNone/>
            </a:pPr>
            <a:r>
              <a:rPr lang="en-US" sz="1000" i="1" dirty="0">
                <a:solidFill>
                  <a:srgbClr val="6B6D76"/>
                </a:solidFill>
                <a:latin typeface="Calibri" pitchFamily="34" charset="0"/>
                <a:ea typeface="Calibri" pitchFamily="34" charset="-122"/>
                <a:cs typeface="Calibri" pitchFamily="34" charset="-120"/>
              </a:rPr>
              <a:t>Every value checked against DT-EQP-PUMP-001, which API 610 defines.</a:t>
            </a:r>
            <a:endParaRPr lang="en-US" sz="1000" dirty="0"/>
          </a:p>
        </p:txBody>
      </p:sp>
      <p:sp>
        <p:nvSpPr>
          <p:cNvPr id="33" name="Shape 30"/>
          <p:cNvSpPr/>
          <p:nvPr/>
        </p:nvSpPr>
        <p:spPr>
          <a:xfrm>
            <a:off x="5852160" y="1508760"/>
            <a:ext cx="5760720" cy="1051560"/>
          </a:xfrm>
          <a:prstGeom prst="roundRect">
            <a:avLst>
              <a:gd name="adj" fmla="val 6957"/>
            </a:avLst>
          </a:prstGeom>
          <a:solidFill>
            <a:srgbClr val="F4F3F0"/>
          </a:solidFill>
          <a:ln w="9525">
            <a:solidFill>
              <a:srgbClr val="E3E1DA"/>
            </a:solidFill>
            <a:prstDash val="solid"/>
          </a:ln>
        </p:spPr>
      </p:sp>
      <p:sp>
        <p:nvSpPr>
          <p:cNvPr id="34" name="Shape 31"/>
          <p:cNvSpPr/>
          <p:nvPr/>
        </p:nvSpPr>
        <p:spPr>
          <a:xfrm>
            <a:off x="6053328" y="1691640"/>
            <a:ext cx="329184" cy="329184"/>
          </a:xfrm>
          <a:prstGeom prst="ellipse">
            <a:avLst/>
          </a:prstGeom>
          <a:solidFill>
            <a:srgbClr val="23242A"/>
          </a:solidFill>
          <a:ln w="12700">
            <a:solidFill>
              <a:srgbClr val="C9A227"/>
            </a:solidFill>
            <a:prstDash val="solid"/>
          </a:ln>
        </p:spPr>
      </p:sp>
      <p:sp>
        <p:nvSpPr>
          <p:cNvPr id="35" name="Text 32"/>
          <p:cNvSpPr/>
          <p:nvPr/>
        </p:nvSpPr>
        <p:spPr>
          <a:xfrm>
            <a:off x="6053328" y="1691640"/>
            <a:ext cx="329184" cy="329184"/>
          </a:xfrm>
          <a:prstGeom prst="rect">
            <a:avLst/>
          </a:prstGeom>
          <a:noFill/>
          <a:ln/>
        </p:spPr>
        <p:txBody>
          <a:bodyPr wrap="square" lIns="0" tIns="0" rIns="0" bIns="0" rtlCol="0" anchor="ctr"/>
          <a:lstStyle/>
          <a:p>
            <a:pPr algn="ctr" indent="0" marL="0">
              <a:buNone/>
            </a:pPr>
            <a:r>
              <a:rPr lang="en-US" sz="1200" b="1" dirty="0">
                <a:solidFill>
                  <a:srgbClr val="C9A227"/>
                </a:solidFill>
                <a:latin typeface="Calibri" pitchFamily="34" charset="0"/>
                <a:ea typeface="Calibri" pitchFamily="34" charset="-122"/>
                <a:cs typeface="Calibri" pitchFamily="34" charset="-120"/>
              </a:rPr>
              <a:t>1</a:t>
            </a:r>
            <a:endParaRPr lang="en-US" sz="1200" dirty="0"/>
          </a:p>
        </p:txBody>
      </p:sp>
      <p:sp>
        <p:nvSpPr>
          <p:cNvPr id="36" name="Text 33"/>
          <p:cNvSpPr/>
          <p:nvPr/>
        </p:nvSpPr>
        <p:spPr>
          <a:xfrm>
            <a:off x="6510528" y="1655064"/>
            <a:ext cx="4937760" cy="25603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Run validation</a:t>
            </a:r>
            <a:endParaRPr lang="en-US" sz="1250" dirty="0"/>
          </a:p>
        </p:txBody>
      </p:sp>
      <p:sp>
        <p:nvSpPr>
          <p:cNvPr id="37" name="Text 34"/>
          <p:cNvSpPr/>
          <p:nvPr/>
        </p:nvSpPr>
        <p:spPr>
          <a:xfrm>
            <a:off x="6510528" y="1929384"/>
            <a:ext cx="4937760" cy="548640"/>
          </a:xfrm>
          <a:prstGeom prst="rect">
            <a:avLst/>
          </a:prstGeom>
          <a:noFill/>
          <a:ln/>
        </p:spPr>
        <p:txBody>
          <a:bodyPr wrap="square" lIns="0" tIns="0" rIns="0" bIns="0" rtlCol="0" anchor="ctr"/>
          <a:lstStyle/>
          <a:p>
            <a:pPr indent="0" marL="0">
              <a:lnSpc>
                <a:spcPts val="1350"/>
              </a:lnSpc>
              <a:buNone/>
            </a:pPr>
            <a:r>
              <a:rPr lang="en-US" sz="1050" dirty="0">
                <a:solidFill>
                  <a:srgbClr val="6B6D76"/>
                </a:solidFill>
                <a:latin typeface="Calibri" pitchFamily="34" charset="0"/>
                <a:ea typeface="Calibri" pitchFamily="34" charset="-122"/>
                <a:cs typeface="Calibri" pitchFamily="34" charset="-120"/>
              </a:rPr>
              <a:t>40 assets checked. Three fail, each in a different family.</a:t>
            </a:r>
            <a:endParaRPr lang="en-US" sz="1050" dirty="0"/>
          </a:p>
        </p:txBody>
      </p:sp>
      <p:sp>
        <p:nvSpPr>
          <p:cNvPr id="38" name="Shape 35"/>
          <p:cNvSpPr/>
          <p:nvPr/>
        </p:nvSpPr>
        <p:spPr>
          <a:xfrm>
            <a:off x="5852160" y="2670048"/>
            <a:ext cx="5760720" cy="1051560"/>
          </a:xfrm>
          <a:prstGeom prst="roundRect">
            <a:avLst>
              <a:gd name="adj" fmla="val 6957"/>
            </a:avLst>
          </a:prstGeom>
          <a:solidFill>
            <a:srgbClr val="F4F3F0"/>
          </a:solidFill>
          <a:ln w="9525">
            <a:solidFill>
              <a:srgbClr val="E3E1DA"/>
            </a:solidFill>
            <a:prstDash val="solid"/>
          </a:ln>
        </p:spPr>
      </p:sp>
      <p:sp>
        <p:nvSpPr>
          <p:cNvPr id="39" name="Shape 36"/>
          <p:cNvSpPr/>
          <p:nvPr/>
        </p:nvSpPr>
        <p:spPr>
          <a:xfrm>
            <a:off x="6053328" y="2852928"/>
            <a:ext cx="329184" cy="329184"/>
          </a:xfrm>
          <a:prstGeom prst="ellipse">
            <a:avLst/>
          </a:prstGeom>
          <a:solidFill>
            <a:srgbClr val="23242A"/>
          </a:solidFill>
          <a:ln w="12700">
            <a:solidFill>
              <a:srgbClr val="C9A227"/>
            </a:solidFill>
            <a:prstDash val="solid"/>
          </a:ln>
        </p:spPr>
      </p:sp>
      <p:sp>
        <p:nvSpPr>
          <p:cNvPr id="40" name="Text 37"/>
          <p:cNvSpPr/>
          <p:nvPr/>
        </p:nvSpPr>
        <p:spPr>
          <a:xfrm>
            <a:off x="6053328" y="2852928"/>
            <a:ext cx="329184" cy="329184"/>
          </a:xfrm>
          <a:prstGeom prst="rect">
            <a:avLst/>
          </a:prstGeom>
          <a:noFill/>
          <a:ln/>
        </p:spPr>
        <p:txBody>
          <a:bodyPr wrap="square" lIns="0" tIns="0" rIns="0" bIns="0" rtlCol="0" anchor="ctr"/>
          <a:lstStyle/>
          <a:p>
            <a:pPr algn="ctr" indent="0" marL="0">
              <a:buNone/>
            </a:pPr>
            <a:r>
              <a:rPr lang="en-US" sz="1200" b="1" dirty="0">
                <a:solidFill>
                  <a:srgbClr val="C9A227"/>
                </a:solidFill>
                <a:latin typeface="Calibri" pitchFamily="34" charset="0"/>
                <a:ea typeface="Calibri" pitchFamily="34" charset="-122"/>
                <a:cs typeface="Calibri" pitchFamily="34" charset="-120"/>
              </a:rPr>
              <a:t>2</a:t>
            </a:r>
            <a:endParaRPr lang="en-US" sz="1200" dirty="0"/>
          </a:p>
        </p:txBody>
      </p:sp>
      <p:sp>
        <p:nvSpPr>
          <p:cNvPr id="41" name="Text 38"/>
          <p:cNvSpPr/>
          <p:nvPr/>
        </p:nvSpPr>
        <p:spPr>
          <a:xfrm>
            <a:off x="6510528" y="2816352"/>
            <a:ext cx="4937760" cy="25603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Three failures, three causes</a:t>
            </a:r>
            <a:endParaRPr lang="en-US" sz="1250" dirty="0"/>
          </a:p>
        </p:txBody>
      </p:sp>
      <p:sp>
        <p:nvSpPr>
          <p:cNvPr id="42" name="Text 39"/>
          <p:cNvSpPr/>
          <p:nvPr/>
        </p:nvSpPr>
        <p:spPr>
          <a:xfrm>
            <a:off x="6510528" y="3090672"/>
            <a:ext cx="4937760" cy="548640"/>
          </a:xfrm>
          <a:prstGeom prst="rect">
            <a:avLst/>
          </a:prstGeom>
          <a:noFill/>
          <a:ln/>
        </p:spPr>
        <p:txBody>
          <a:bodyPr wrap="square" lIns="0" tIns="0" rIns="0" bIns="0" rtlCol="0" anchor="ctr"/>
          <a:lstStyle/>
          <a:p>
            <a:pPr indent="0" marL="0">
              <a:lnSpc>
                <a:spcPts val="1350"/>
              </a:lnSpc>
              <a:buNone/>
            </a:pPr>
            <a:r>
              <a:rPr lang="en-US" sz="1050" dirty="0">
                <a:solidFill>
                  <a:srgbClr val="6B6D76"/>
                </a:solidFill>
                <a:latin typeface="Calibri" pitchFamily="34" charset="0"/>
                <a:ea typeface="Calibri" pitchFamily="34" charset="-122"/>
                <a:cs typeface="Calibri" pitchFamily="34" charset="-120"/>
              </a:rPr>
              <a:t>A missing mandatory property. A length in feet where the template demands millimetres. A yield strength below the ASTM A240 minimum.</a:t>
            </a:r>
            <a:endParaRPr lang="en-US" sz="1050" dirty="0"/>
          </a:p>
        </p:txBody>
      </p:sp>
      <p:sp>
        <p:nvSpPr>
          <p:cNvPr id="43" name="Shape 40"/>
          <p:cNvSpPr/>
          <p:nvPr/>
        </p:nvSpPr>
        <p:spPr>
          <a:xfrm>
            <a:off x="5852160" y="3831336"/>
            <a:ext cx="5760720" cy="1051560"/>
          </a:xfrm>
          <a:prstGeom prst="roundRect">
            <a:avLst>
              <a:gd name="adj" fmla="val 6957"/>
            </a:avLst>
          </a:prstGeom>
          <a:solidFill>
            <a:srgbClr val="F4F3F0"/>
          </a:solidFill>
          <a:ln w="9525">
            <a:solidFill>
              <a:srgbClr val="E3E1DA"/>
            </a:solidFill>
            <a:prstDash val="solid"/>
          </a:ln>
        </p:spPr>
      </p:sp>
      <p:sp>
        <p:nvSpPr>
          <p:cNvPr id="44" name="Shape 41"/>
          <p:cNvSpPr/>
          <p:nvPr/>
        </p:nvSpPr>
        <p:spPr>
          <a:xfrm>
            <a:off x="6053328" y="4014216"/>
            <a:ext cx="329184" cy="329184"/>
          </a:xfrm>
          <a:prstGeom prst="ellipse">
            <a:avLst/>
          </a:prstGeom>
          <a:solidFill>
            <a:srgbClr val="23242A"/>
          </a:solidFill>
          <a:ln w="12700">
            <a:solidFill>
              <a:srgbClr val="C9A227"/>
            </a:solidFill>
            <a:prstDash val="solid"/>
          </a:ln>
        </p:spPr>
      </p:sp>
      <p:sp>
        <p:nvSpPr>
          <p:cNvPr id="45" name="Text 42"/>
          <p:cNvSpPr/>
          <p:nvPr/>
        </p:nvSpPr>
        <p:spPr>
          <a:xfrm>
            <a:off x="6053328" y="4014216"/>
            <a:ext cx="329184" cy="329184"/>
          </a:xfrm>
          <a:prstGeom prst="rect">
            <a:avLst/>
          </a:prstGeom>
          <a:noFill/>
          <a:ln/>
        </p:spPr>
        <p:txBody>
          <a:bodyPr wrap="square" lIns="0" tIns="0" rIns="0" bIns="0" rtlCol="0" anchor="ctr"/>
          <a:lstStyle/>
          <a:p>
            <a:pPr algn="ctr" indent="0" marL="0">
              <a:buNone/>
            </a:pPr>
            <a:r>
              <a:rPr lang="en-US" sz="1200" b="1" dirty="0">
                <a:solidFill>
                  <a:srgbClr val="C9A227"/>
                </a:solidFill>
                <a:latin typeface="Calibri" pitchFamily="34" charset="0"/>
                <a:ea typeface="Calibri" pitchFamily="34" charset="-122"/>
                <a:cs typeface="Calibri" pitchFamily="34" charset="-120"/>
              </a:rPr>
              <a:t>3</a:t>
            </a:r>
            <a:endParaRPr lang="en-US" sz="1200" dirty="0"/>
          </a:p>
        </p:txBody>
      </p:sp>
      <p:sp>
        <p:nvSpPr>
          <p:cNvPr id="46" name="Text 43"/>
          <p:cNvSpPr/>
          <p:nvPr/>
        </p:nvSpPr>
        <p:spPr>
          <a:xfrm>
            <a:off x="6510528" y="3977640"/>
            <a:ext cx="4937760" cy="25603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Fix them in the interface</a:t>
            </a:r>
            <a:endParaRPr lang="en-US" sz="1250" dirty="0"/>
          </a:p>
        </p:txBody>
      </p:sp>
      <p:sp>
        <p:nvSpPr>
          <p:cNvPr id="47" name="Text 44"/>
          <p:cNvSpPr/>
          <p:nvPr/>
        </p:nvSpPr>
        <p:spPr>
          <a:xfrm>
            <a:off x="6510528" y="4251960"/>
            <a:ext cx="4937760" cy="548640"/>
          </a:xfrm>
          <a:prstGeom prst="rect">
            <a:avLst/>
          </a:prstGeom>
          <a:noFill/>
          <a:ln/>
        </p:spPr>
        <p:txBody>
          <a:bodyPr wrap="square" lIns="0" tIns="0" rIns="0" bIns="0" rtlCol="0" anchor="ctr"/>
          <a:lstStyle/>
          <a:p>
            <a:pPr indent="0" marL="0">
              <a:lnSpc>
                <a:spcPts val="1350"/>
              </a:lnSpc>
              <a:buNone/>
            </a:pPr>
            <a:r>
              <a:rPr lang="en-US" sz="1050" dirty="0">
                <a:solidFill>
                  <a:srgbClr val="6B6D76"/>
                </a:solidFill>
                <a:latin typeface="Calibri" pitchFamily="34" charset="0"/>
                <a:ea typeface="Calibri" pitchFamily="34" charset="-122"/>
                <a:cs typeface="Calibri" pitchFamily="34" charset="-120"/>
              </a:rPr>
              <a:t>Each fix is recorded: who changed what, from what, to what, and when.</a:t>
            </a:r>
            <a:endParaRPr lang="en-US" sz="1050" dirty="0"/>
          </a:p>
        </p:txBody>
      </p:sp>
      <p:sp>
        <p:nvSpPr>
          <p:cNvPr id="48" name="Shape 45"/>
          <p:cNvSpPr/>
          <p:nvPr/>
        </p:nvSpPr>
        <p:spPr>
          <a:xfrm>
            <a:off x="5852160" y="4992624"/>
            <a:ext cx="5760720" cy="1051560"/>
          </a:xfrm>
          <a:prstGeom prst="roundRect">
            <a:avLst>
              <a:gd name="adj" fmla="val 6957"/>
            </a:avLst>
          </a:prstGeom>
          <a:solidFill>
            <a:srgbClr val="F4F3F0"/>
          </a:solidFill>
          <a:ln w="9525">
            <a:solidFill>
              <a:srgbClr val="E3E1DA"/>
            </a:solidFill>
            <a:prstDash val="solid"/>
          </a:ln>
        </p:spPr>
      </p:sp>
      <p:sp>
        <p:nvSpPr>
          <p:cNvPr id="49" name="Shape 46"/>
          <p:cNvSpPr/>
          <p:nvPr/>
        </p:nvSpPr>
        <p:spPr>
          <a:xfrm>
            <a:off x="6053328" y="5175504"/>
            <a:ext cx="329184" cy="329184"/>
          </a:xfrm>
          <a:prstGeom prst="ellipse">
            <a:avLst/>
          </a:prstGeom>
          <a:solidFill>
            <a:srgbClr val="23242A"/>
          </a:solidFill>
          <a:ln w="12700">
            <a:solidFill>
              <a:srgbClr val="C9A227"/>
            </a:solidFill>
            <a:prstDash val="solid"/>
          </a:ln>
        </p:spPr>
      </p:sp>
      <p:sp>
        <p:nvSpPr>
          <p:cNvPr id="50" name="Text 47"/>
          <p:cNvSpPr/>
          <p:nvPr/>
        </p:nvSpPr>
        <p:spPr>
          <a:xfrm>
            <a:off x="6053328" y="5175504"/>
            <a:ext cx="329184" cy="329184"/>
          </a:xfrm>
          <a:prstGeom prst="rect">
            <a:avLst/>
          </a:prstGeom>
          <a:noFill/>
          <a:ln/>
        </p:spPr>
        <p:txBody>
          <a:bodyPr wrap="square" lIns="0" tIns="0" rIns="0" bIns="0" rtlCol="0" anchor="ctr"/>
          <a:lstStyle/>
          <a:p>
            <a:pPr algn="ctr" indent="0" marL="0">
              <a:buNone/>
            </a:pPr>
            <a:r>
              <a:rPr lang="en-US" sz="1200" b="1" dirty="0">
                <a:solidFill>
                  <a:srgbClr val="C9A227"/>
                </a:solidFill>
                <a:latin typeface="Calibri" pitchFamily="34" charset="0"/>
                <a:ea typeface="Calibri" pitchFamily="34" charset="-122"/>
                <a:cs typeface="Calibri" pitchFamily="34" charset="-120"/>
              </a:rPr>
              <a:t>4</a:t>
            </a:r>
            <a:endParaRPr lang="en-US" sz="1200" dirty="0"/>
          </a:p>
        </p:txBody>
      </p:sp>
      <p:sp>
        <p:nvSpPr>
          <p:cNvPr id="51" name="Text 48"/>
          <p:cNvSpPr/>
          <p:nvPr/>
        </p:nvSpPr>
        <p:spPr>
          <a:xfrm>
            <a:off x="6510528" y="5138928"/>
            <a:ext cx="4937760" cy="25603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Re-validate, then publish</a:t>
            </a:r>
            <a:endParaRPr lang="en-US" sz="1250" dirty="0"/>
          </a:p>
        </p:txBody>
      </p:sp>
      <p:sp>
        <p:nvSpPr>
          <p:cNvPr id="52" name="Text 49"/>
          <p:cNvSpPr/>
          <p:nvPr/>
        </p:nvSpPr>
        <p:spPr>
          <a:xfrm>
            <a:off x="6510528" y="5413248"/>
            <a:ext cx="4937760" cy="548640"/>
          </a:xfrm>
          <a:prstGeom prst="rect">
            <a:avLst/>
          </a:prstGeom>
          <a:noFill/>
          <a:ln/>
        </p:spPr>
        <p:txBody>
          <a:bodyPr wrap="square" lIns="0" tIns="0" rIns="0" bIns="0" rtlCol="0" anchor="ctr"/>
          <a:lstStyle/>
          <a:p>
            <a:pPr indent="0" marL="0">
              <a:lnSpc>
                <a:spcPts val="1350"/>
              </a:lnSpc>
              <a:buNone/>
            </a:pPr>
            <a:r>
              <a:rPr lang="en-US" sz="1050" dirty="0">
                <a:solidFill>
                  <a:srgbClr val="6B6D76"/>
                </a:solidFill>
                <a:latin typeface="Calibri" pitchFamily="34" charset="0"/>
                <a:ea typeface="Calibri" pitchFamily="34" charset="-122"/>
                <a:cs typeface="Calibri" pitchFamily="34" charset="-120"/>
              </a:rPr>
              <a:t>Zero failures. EQP-000789 goes to the connected systems with a hashed payload.</a:t>
            </a:r>
            <a:endParaRPr lang="en-US" sz="1050" dirty="0"/>
          </a:p>
        </p:txBody>
      </p:sp>
      <p:sp>
        <p:nvSpPr>
          <p:cNvPr id="53" name="Text 50"/>
          <p:cNvSpPr/>
          <p:nvPr/>
        </p:nvSpPr>
        <p:spPr>
          <a:xfrm>
            <a:off x="777240" y="4846320"/>
            <a:ext cx="4663440" cy="548640"/>
          </a:xfrm>
          <a:prstGeom prst="rect">
            <a:avLst/>
          </a:prstGeom>
          <a:noFill/>
          <a:ln/>
        </p:spPr>
        <p:txBody>
          <a:bodyPr wrap="square" lIns="0" tIns="0" rIns="0" bIns="0" rtlCol="0" anchor="ctr"/>
          <a:lstStyle/>
          <a:p>
            <a:pPr indent="0" marL="0">
              <a:lnSpc>
                <a:spcPts val="2000"/>
              </a:lnSpc>
              <a:buNone/>
            </a:pPr>
            <a:r>
              <a:rPr lang="en-US" sz="1400" i="1" dirty="0">
                <a:solidFill>
                  <a:srgbClr val="9A7B1A"/>
                </a:solidFill>
                <a:latin typeface="Cambria" pitchFamily="34" charset="0"/>
                <a:ea typeface="Cambria" pitchFamily="34" charset="-122"/>
                <a:cs typeface="Cambria" pitchFamily="34" charset="-120"/>
              </a:rPr>
              <a:t>Ten minutes, live, on your own example.</a:t>
            </a:r>
            <a:endParaRPr lang="en-US" sz="1400" dirty="0"/>
          </a:p>
          <a:p>
            <a:pPr indent="0" marL="0">
              <a:lnSpc>
                <a:spcPts val="2000"/>
              </a:lnSpc>
              <a:buNone/>
            </a:pPr>
            <a:r>
              <a:rPr lang="en-US" sz="1400" i="1" dirty="0">
                <a:solidFill>
                  <a:srgbClr val="9A7B1A"/>
                </a:solidFill>
                <a:latin typeface="Cambria" pitchFamily="34" charset="0"/>
                <a:ea typeface="Cambria" pitchFamily="34" charset="-122"/>
                <a:cs typeface="Cambria" pitchFamily="34" charset="-120"/>
              </a:rPr>
              <a:t>The dashboard goes green in front of you.</a:t>
            </a:r>
            <a:endParaRPr lang="en-US" sz="1400" dirty="0"/>
          </a:p>
        </p:txBody>
      </p:sp>
      <p:sp>
        <p:nvSpPr>
          <p:cNvPr id="54" name="Text 51"/>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Publishing to your systems</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The CDE at the centre, per your fourth diagram. Governed data out, provably.</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481328"/>
            <a:ext cx="7680960" cy="621792"/>
          </a:xfrm>
          <a:prstGeom prst="roundRect">
            <a:avLst>
              <a:gd name="adj" fmla="val 11765"/>
            </a:avLst>
          </a:prstGeom>
          <a:solidFill>
            <a:srgbClr val="F4F3F0"/>
          </a:solidFill>
          <a:ln w="9525">
            <a:solidFill>
              <a:srgbClr val="E3E1DA"/>
            </a:solidFill>
            <a:prstDash val="solid"/>
          </a:ln>
        </p:spPr>
      </p:sp>
      <p:sp>
        <p:nvSpPr>
          <p:cNvPr id="6" name="Text 3"/>
          <p:cNvSpPr/>
          <p:nvPr/>
        </p:nvSpPr>
        <p:spPr>
          <a:xfrm>
            <a:off x="777240" y="1481328"/>
            <a:ext cx="3108960" cy="62179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Engineering Management</a:t>
            </a:r>
            <a:endParaRPr lang="en-US" sz="1250" dirty="0"/>
          </a:p>
        </p:txBody>
      </p:sp>
      <p:sp>
        <p:nvSpPr>
          <p:cNvPr id="7" name="Text 4"/>
          <p:cNvSpPr/>
          <p:nvPr/>
        </p:nvSpPr>
        <p:spPr>
          <a:xfrm>
            <a:off x="4023360" y="1481328"/>
            <a:ext cx="3108960" cy="621792"/>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Primavera P6, MS EPM, Azure AD, ADFS</a:t>
            </a:r>
            <a:endParaRPr lang="en-US" sz="1100" dirty="0"/>
          </a:p>
        </p:txBody>
      </p:sp>
      <p:sp>
        <p:nvSpPr>
          <p:cNvPr id="8" name="Shape 5"/>
          <p:cNvSpPr/>
          <p:nvPr/>
        </p:nvSpPr>
        <p:spPr>
          <a:xfrm>
            <a:off x="7315200" y="1673352"/>
            <a:ext cx="1307592" cy="237744"/>
          </a:xfrm>
          <a:prstGeom prst="roundRect">
            <a:avLst>
              <a:gd name="adj" fmla="val 50000"/>
            </a:avLst>
          </a:prstGeom>
          <a:solidFill>
            <a:srgbClr val="E5F2E6"/>
          </a:solidFill>
          <a:ln w="12700">
            <a:solidFill>
              <a:srgbClr val="E5F2E6"/>
            </a:solidFill>
            <a:prstDash val="solid"/>
          </a:ln>
        </p:spPr>
      </p:sp>
      <p:sp>
        <p:nvSpPr>
          <p:cNvPr id="9" name="Text 6"/>
          <p:cNvSpPr/>
          <p:nvPr/>
        </p:nvSpPr>
        <p:spPr>
          <a:xfrm>
            <a:off x="7315200" y="1673352"/>
            <a:ext cx="1307592" cy="237744"/>
          </a:xfrm>
          <a:prstGeom prst="rect">
            <a:avLst/>
          </a:prstGeom>
          <a:noFill/>
          <a:ln/>
        </p:spPr>
        <p:txBody>
          <a:bodyPr wrap="square" lIns="0" tIns="0" rIns="0" bIns="0" rtlCol="0" anchor="ctr"/>
          <a:lstStyle/>
          <a:p>
            <a:pPr algn="ctr" indent="0" marL="0">
              <a:buNone/>
            </a:pPr>
            <a:r>
              <a:rPr lang="en-US" sz="950" b="1" dirty="0">
                <a:solidFill>
                  <a:srgbClr val="2E7D32"/>
                </a:solidFill>
                <a:latin typeface="Calibri" pitchFamily="34" charset="0"/>
                <a:ea typeface="Calibri" pitchFamily="34" charset="-122"/>
                <a:cs typeface="Calibri" pitchFamily="34" charset="-120"/>
              </a:rPr>
              <a:t>connected</a:t>
            </a:r>
            <a:endParaRPr lang="en-US" sz="950" dirty="0"/>
          </a:p>
        </p:txBody>
      </p:sp>
      <p:sp>
        <p:nvSpPr>
          <p:cNvPr id="10" name="Shape 7"/>
          <p:cNvSpPr/>
          <p:nvPr/>
        </p:nvSpPr>
        <p:spPr>
          <a:xfrm>
            <a:off x="548640" y="2194560"/>
            <a:ext cx="7680960" cy="621792"/>
          </a:xfrm>
          <a:prstGeom prst="roundRect">
            <a:avLst>
              <a:gd name="adj" fmla="val 11765"/>
            </a:avLst>
          </a:prstGeom>
          <a:solidFill>
            <a:srgbClr val="F4F3F0"/>
          </a:solidFill>
          <a:ln w="9525">
            <a:solidFill>
              <a:srgbClr val="E3E1DA"/>
            </a:solidFill>
            <a:prstDash val="solid"/>
          </a:ln>
        </p:spPr>
      </p:sp>
      <p:sp>
        <p:nvSpPr>
          <p:cNvPr id="11" name="Text 8"/>
          <p:cNvSpPr/>
          <p:nvPr/>
        </p:nvSpPr>
        <p:spPr>
          <a:xfrm>
            <a:off x="777240" y="2194560"/>
            <a:ext cx="3108960" cy="62179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Document Management</a:t>
            </a:r>
            <a:endParaRPr lang="en-US" sz="1250" dirty="0"/>
          </a:p>
        </p:txBody>
      </p:sp>
      <p:sp>
        <p:nvSpPr>
          <p:cNvPr id="12" name="Text 9"/>
          <p:cNvSpPr/>
          <p:nvPr/>
        </p:nvSpPr>
        <p:spPr>
          <a:xfrm>
            <a:off x="4023360" y="2194560"/>
            <a:ext cx="3108960" cy="621792"/>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Oracle Aconex</a:t>
            </a:r>
            <a:endParaRPr lang="en-US" sz="1100" dirty="0"/>
          </a:p>
        </p:txBody>
      </p:sp>
      <p:sp>
        <p:nvSpPr>
          <p:cNvPr id="13" name="Shape 10"/>
          <p:cNvSpPr/>
          <p:nvPr/>
        </p:nvSpPr>
        <p:spPr>
          <a:xfrm>
            <a:off x="7315200" y="2386584"/>
            <a:ext cx="1307592" cy="237744"/>
          </a:xfrm>
          <a:prstGeom prst="roundRect">
            <a:avLst>
              <a:gd name="adj" fmla="val 50000"/>
            </a:avLst>
          </a:prstGeom>
          <a:solidFill>
            <a:srgbClr val="E5F2E6"/>
          </a:solidFill>
          <a:ln w="12700">
            <a:solidFill>
              <a:srgbClr val="E5F2E6"/>
            </a:solidFill>
            <a:prstDash val="solid"/>
          </a:ln>
        </p:spPr>
      </p:sp>
      <p:sp>
        <p:nvSpPr>
          <p:cNvPr id="14" name="Text 11"/>
          <p:cNvSpPr/>
          <p:nvPr/>
        </p:nvSpPr>
        <p:spPr>
          <a:xfrm>
            <a:off x="7315200" y="2386584"/>
            <a:ext cx="1307592" cy="237744"/>
          </a:xfrm>
          <a:prstGeom prst="rect">
            <a:avLst/>
          </a:prstGeom>
          <a:noFill/>
          <a:ln/>
        </p:spPr>
        <p:txBody>
          <a:bodyPr wrap="square" lIns="0" tIns="0" rIns="0" bIns="0" rtlCol="0" anchor="ctr"/>
          <a:lstStyle/>
          <a:p>
            <a:pPr algn="ctr" indent="0" marL="0">
              <a:buNone/>
            </a:pPr>
            <a:r>
              <a:rPr lang="en-US" sz="950" b="1" dirty="0">
                <a:solidFill>
                  <a:srgbClr val="2E7D32"/>
                </a:solidFill>
                <a:latin typeface="Calibri" pitchFamily="34" charset="0"/>
                <a:ea typeface="Calibri" pitchFamily="34" charset="-122"/>
                <a:cs typeface="Calibri" pitchFamily="34" charset="-120"/>
              </a:rPr>
              <a:t>connected</a:t>
            </a:r>
            <a:endParaRPr lang="en-US" sz="950" dirty="0"/>
          </a:p>
        </p:txBody>
      </p:sp>
      <p:sp>
        <p:nvSpPr>
          <p:cNvPr id="15" name="Shape 12"/>
          <p:cNvSpPr/>
          <p:nvPr/>
        </p:nvSpPr>
        <p:spPr>
          <a:xfrm>
            <a:off x="548640" y="2907792"/>
            <a:ext cx="7680960" cy="621792"/>
          </a:xfrm>
          <a:prstGeom prst="roundRect">
            <a:avLst>
              <a:gd name="adj" fmla="val 11765"/>
            </a:avLst>
          </a:prstGeom>
          <a:solidFill>
            <a:srgbClr val="F4F3F0"/>
          </a:solidFill>
          <a:ln w="9525">
            <a:solidFill>
              <a:srgbClr val="E3E1DA"/>
            </a:solidFill>
            <a:prstDash val="solid"/>
          </a:ln>
        </p:spPr>
      </p:sp>
      <p:sp>
        <p:nvSpPr>
          <p:cNvPr id="16" name="Text 13"/>
          <p:cNvSpPr/>
          <p:nvPr/>
        </p:nvSpPr>
        <p:spPr>
          <a:xfrm>
            <a:off x="777240" y="2907792"/>
            <a:ext cx="3108960" cy="62179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Analytics &amp; Reporting</a:t>
            </a:r>
            <a:endParaRPr lang="en-US" sz="1250" dirty="0"/>
          </a:p>
        </p:txBody>
      </p:sp>
      <p:sp>
        <p:nvSpPr>
          <p:cNvPr id="17" name="Text 14"/>
          <p:cNvSpPr/>
          <p:nvPr/>
        </p:nvSpPr>
        <p:spPr>
          <a:xfrm>
            <a:off x="4023360" y="2907792"/>
            <a:ext cx="3108960" cy="621792"/>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Ma'aden SIEM, Outlook</a:t>
            </a:r>
            <a:endParaRPr lang="en-US" sz="1100" dirty="0"/>
          </a:p>
        </p:txBody>
      </p:sp>
      <p:sp>
        <p:nvSpPr>
          <p:cNvPr id="18" name="Shape 15"/>
          <p:cNvSpPr/>
          <p:nvPr/>
        </p:nvSpPr>
        <p:spPr>
          <a:xfrm>
            <a:off x="7315200" y="3099816"/>
            <a:ext cx="1307592" cy="237744"/>
          </a:xfrm>
          <a:prstGeom prst="roundRect">
            <a:avLst>
              <a:gd name="adj" fmla="val 50000"/>
            </a:avLst>
          </a:prstGeom>
          <a:solidFill>
            <a:srgbClr val="E5F2E6"/>
          </a:solidFill>
          <a:ln w="12700">
            <a:solidFill>
              <a:srgbClr val="E5F2E6"/>
            </a:solidFill>
            <a:prstDash val="solid"/>
          </a:ln>
        </p:spPr>
      </p:sp>
      <p:sp>
        <p:nvSpPr>
          <p:cNvPr id="19" name="Text 16"/>
          <p:cNvSpPr/>
          <p:nvPr/>
        </p:nvSpPr>
        <p:spPr>
          <a:xfrm>
            <a:off x="7315200" y="3099816"/>
            <a:ext cx="1307592" cy="237744"/>
          </a:xfrm>
          <a:prstGeom prst="rect">
            <a:avLst/>
          </a:prstGeom>
          <a:noFill/>
          <a:ln/>
        </p:spPr>
        <p:txBody>
          <a:bodyPr wrap="square" lIns="0" tIns="0" rIns="0" bIns="0" rtlCol="0" anchor="ctr"/>
          <a:lstStyle/>
          <a:p>
            <a:pPr algn="ctr" indent="0" marL="0">
              <a:buNone/>
            </a:pPr>
            <a:r>
              <a:rPr lang="en-US" sz="950" b="1" dirty="0">
                <a:solidFill>
                  <a:srgbClr val="2E7D32"/>
                </a:solidFill>
                <a:latin typeface="Calibri" pitchFamily="34" charset="0"/>
                <a:ea typeface="Calibri" pitchFamily="34" charset="-122"/>
                <a:cs typeface="Calibri" pitchFamily="34" charset="-120"/>
              </a:rPr>
              <a:t>connected</a:t>
            </a:r>
            <a:endParaRPr lang="en-US" sz="950" dirty="0"/>
          </a:p>
        </p:txBody>
      </p:sp>
      <p:sp>
        <p:nvSpPr>
          <p:cNvPr id="20" name="Shape 17"/>
          <p:cNvSpPr/>
          <p:nvPr/>
        </p:nvSpPr>
        <p:spPr>
          <a:xfrm>
            <a:off x="548640" y="3621024"/>
            <a:ext cx="7680960" cy="621792"/>
          </a:xfrm>
          <a:prstGeom prst="roundRect">
            <a:avLst>
              <a:gd name="adj" fmla="val 11765"/>
            </a:avLst>
          </a:prstGeom>
          <a:solidFill>
            <a:srgbClr val="F4F3F0"/>
          </a:solidFill>
          <a:ln w="9525">
            <a:solidFill>
              <a:srgbClr val="E3E1DA"/>
            </a:solidFill>
            <a:prstDash val="solid"/>
          </a:ln>
        </p:spPr>
      </p:sp>
      <p:sp>
        <p:nvSpPr>
          <p:cNvPr id="21" name="Text 18"/>
          <p:cNvSpPr/>
          <p:nvPr/>
        </p:nvSpPr>
        <p:spPr>
          <a:xfrm>
            <a:off x="777240" y="3621024"/>
            <a:ext cx="3108960" cy="62179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Operational &amp; Relational DBs</a:t>
            </a:r>
            <a:endParaRPr lang="en-US" sz="1250" dirty="0"/>
          </a:p>
        </p:txBody>
      </p:sp>
      <p:sp>
        <p:nvSpPr>
          <p:cNvPr id="22" name="Text 19"/>
          <p:cNvSpPr/>
          <p:nvPr/>
        </p:nvSpPr>
        <p:spPr>
          <a:xfrm>
            <a:off x="4023360" y="3621024"/>
            <a:ext cx="3108960" cy="621792"/>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SAP S/4HANA, ServiceNow</a:t>
            </a:r>
            <a:endParaRPr lang="en-US" sz="1100" dirty="0"/>
          </a:p>
        </p:txBody>
      </p:sp>
      <p:sp>
        <p:nvSpPr>
          <p:cNvPr id="23" name="Shape 20"/>
          <p:cNvSpPr/>
          <p:nvPr/>
        </p:nvSpPr>
        <p:spPr>
          <a:xfrm>
            <a:off x="7315200" y="3813048"/>
            <a:ext cx="950976" cy="237744"/>
          </a:xfrm>
          <a:prstGeom prst="roundRect">
            <a:avLst>
              <a:gd name="adj" fmla="val 50000"/>
            </a:avLst>
          </a:prstGeom>
          <a:solidFill>
            <a:srgbClr val="FDF0DC"/>
          </a:solidFill>
          <a:ln w="12700">
            <a:solidFill>
              <a:srgbClr val="FDF0DC"/>
            </a:solidFill>
            <a:prstDash val="solid"/>
          </a:ln>
        </p:spPr>
      </p:sp>
      <p:sp>
        <p:nvSpPr>
          <p:cNvPr id="24" name="Text 21"/>
          <p:cNvSpPr/>
          <p:nvPr/>
        </p:nvSpPr>
        <p:spPr>
          <a:xfrm>
            <a:off x="7315200" y="3813048"/>
            <a:ext cx="950976" cy="237744"/>
          </a:xfrm>
          <a:prstGeom prst="rect">
            <a:avLst/>
          </a:prstGeom>
          <a:noFill/>
          <a:ln/>
        </p:spPr>
        <p:txBody>
          <a:bodyPr wrap="square" lIns="0" tIns="0" rIns="0" bIns="0" rtlCol="0" anchor="ctr"/>
          <a:lstStyle/>
          <a:p>
            <a:pPr algn="ctr" indent="0" marL="0">
              <a:buNone/>
            </a:pPr>
            <a:r>
              <a:rPr lang="en-US" sz="950" b="1" dirty="0">
                <a:solidFill>
                  <a:srgbClr val="B26A00"/>
                </a:solidFill>
                <a:latin typeface="Calibri" pitchFamily="34" charset="0"/>
                <a:ea typeface="Calibri" pitchFamily="34" charset="-122"/>
                <a:cs typeface="Calibri" pitchFamily="34" charset="-120"/>
              </a:rPr>
              <a:t>queued</a:t>
            </a:r>
            <a:endParaRPr lang="en-US" sz="950" dirty="0"/>
          </a:p>
        </p:txBody>
      </p:sp>
      <p:sp>
        <p:nvSpPr>
          <p:cNvPr id="25" name="Shape 22"/>
          <p:cNvSpPr/>
          <p:nvPr/>
        </p:nvSpPr>
        <p:spPr>
          <a:xfrm>
            <a:off x="548640" y="4334256"/>
            <a:ext cx="7680960" cy="621792"/>
          </a:xfrm>
          <a:prstGeom prst="roundRect">
            <a:avLst>
              <a:gd name="adj" fmla="val 11765"/>
            </a:avLst>
          </a:prstGeom>
          <a:solidFill>
            <a:srgbClr val="F4F3F0"/>
          </a:solidFill>
          <a:ln w="9525">
            <a:solidFill>
              <a:srgbClr val="E3E1DA"/>
            </a:solidFill>
            <a:prstDash val="solid"/>
          </a:ln>
        </p:spPr>
      </p:sp>
      <p:sp>
        <p:nvSpPr>
          <p:cNvPr id="26" name="Text 23"/>
          <p:cNvSpPr/>
          <p:nvPr/>
        </p:nvSpPr>
        <p:spPr>
          <a:xfrm>
            <a:off x="777240" y="4334256"/>
            <a:ext cx="3108960" cy="62179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Field &amp; Data Acquisition</a:t>
            </a:r>
            <a:endParaRPr lang="en-US" sz="1250" dirty="0"/>
          </a:p>
        </p:txBody>
      </p:sp>
      <p:sp>
        <p:nvSpPr>
          <p:cNvPr id="27" name="Text 24"/>
          <p:cNvSpPr/>
          <p:nvPr/>
        </p:nvSpPr>
        <p:spPr>
          <a:xfrm>
            <a:off x="4023360" y="4334256"/>
            <a:ext cx="3108960" cy="621792"/>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AVEVA PI System</a:t>
            </a:r>
            <a:endParaRPr lang="en-US" sz="1100" dirty="0"/>
          </a:p>
        </p:txBody>
      </p:sp>
      <p:sp>
        <p:nvSpPr>
          <p:cNvPr id="28" name="Shape 25"/>
          <p:cNvSpPr/>
          <p:nvPr/>
        </p:nvSpPr>
        <p:spPr>
          <a:xfrm>
            <a:off x="7315200" y="4526280"/>
            <a:ext cx="1069848" cy="237744"/>
          </a:xfrm>
          <a:prstGeom prst="roundRect">
            <a:avLst>
              <a:gd name="adj" fmla="val 50000"/>
            </a:avLst>
          </a:prstGeom>
          <a:solidFill>
            <a:srgbClr val="E8E8EC"/>
          </a:solidFill>
          <a:ln w="12700">
            <a:solidFill>
              <a:srgbClr val="E8E8EC"/>
            </a:solidFill>
            <a:prstDash val="solid"/>
          </a:ln>
        </p:spPr>
      </p:sp>
      <p:sp>
        <p:nvSpPr>
          <p:cNvPr id="29" name="Text 26"/>
          <p:cNvSpPr/>
          <p:nvPr/>
        </p:nvSpPr>
        <p:spPr>
          <a:xfrm>
            <a:off x="7315200" y="4526280"/>
            <a:ext cx="1069848"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planned</a:t>
            </a:r>
            <a:endParaRPr lang="en-US" sz="950" dirty="0"/>
          </a:p>
        </p:txBody>
      </p:sp>
      <p:sp>
        <p:nvSpPr>
          <p:cNvPr id="30" name="Shape 27"/>
          <p:cNvSpPr/>
          <p:nvPr/>
        </p:nvSpPr>
        <p:spPr>
          <a:xfrm>
            <a:off x="548640" y="5047488"/>
            <a:ext cx="7680960" cy="621792"/>
          </a:xfrm>
          <a:prstGeom prst="roundRect">
            <a:avLst>
              <a:gd name="adj" fmla="val 11765"/>
            </a:avLst>
          </a:prstGeom>
          <a:solidFill>
            <a:srgbClr val="F4F3F0"/>
          </a:solidFill>
          <a:ln w="9525">
            <a:solidFill>
              <a:srgbClr val="E3E1DA"/>
            </a:solidFill>
            <a:prstDash val="solid"/>
          </a:ln>
        </p:spPr>
      </p:sp>
      <p:sp>
        <p:nvSpPr>
          <p:cNvPr id="31" name="Text 28"/>
          <p:cNvSpPr/>
          <p:nvPr/>
        </p:nvSpPr>
        <p:spPr>
          <a:xfrm>
            <a:off x="777240" y="5047488"/>
            <a:ext cx="3108960" cy="621792"/>
          </a:xfrm>
          <a:prstGeom prst="rect">
            <a:avLst/>
          </a:prstGeom>
          <a:noFill/>
          <a:ln/>
        </p:spPr>
        <p:txBody>
          <a:bodyPr wrap="square" lIns="0" tIns="0" rIns="0" bIns="0" rtlCol="0" anchor="ctr"/>
          <a:lstStyle/>
          <a:p>
            <a:pPr indent="0" marL="0">
              <a:buNone/>
            </a:pPr>
            <a:r>
              <a:rPr lang="en-US" sz="1250" b="1" dirty="0">
                <a:solidFill>
                  <a:srgbClr val="1F2024"/>
                </a:solidFill>
                <a:latin typeface="Calibri" pitchFamily="34" charset="0"/>
                <a:ea typeface="Calibri" pitchFamily="34" charset="-122"/>
                <a:cs typeface="Calibri" pitchFamily="34" charset="-120"/>
              </a:rPr>
              <a:t>Geospatial &amp; Mine Planning</a:t>
            </a:r>
            <a:endParaRPr lang="en-US" sz="1250" dirty="0"/>
          </a:p>
        </p:txBody>
      </p:sp>
      <p:sp>
        <p:nvSpPr>
          <p:cNvPr id="32" name="Text 29"/>
          <p:cNvSpPr/>
          <p:nvPr/>
        </p:nvSpPr>
        <p:spPr>
          <a:xfrm>
            <a:off x="4023360" y="5047488"/>
            <a:ext cx="3108960" cy="621792"/>
          </a:xfrm>
          <a:prstGeom prst="rect">
            <a:avLst/>
          </a:prstGeom>
          <a:noFill/>
          <a:ln/>
        </p:spPr>
        <p:txBody>
          <a:bodyPr wrap="square" lIns="0" tIns="0" rIns="0" bIns="0" rtlCol="0" anchor="ctr"/>
          <a:lstStyle/>
          <a:p>
            <a:pPr indent="0" marL="0">
              <a:buNone/>
            </a:pPr>
            <a:r>
              <a:rPr lang="en-US" sz="1100" dirty="0">
                <a:solidFill>
                  <a:srgbClr val="6B6D76"/>
                </a:solidFill>
                <a:latin typeface="Calibri" pitchFamily="34" charset="0"/>
                <a:ea typeface="Calibri" pitchFamily="34" charset="-122"/>
                <a:cs typeface="Calibri" pitchFamily="34" charset="-120"/>
              </a:rPr>
              <a:t>No system named in the roadmap's ten</a:t>
            </a:r>
            <a:endParaRPr lang="en-US" sz="1100" dirty="0"/>
          </a:p>
        </p:txBody>
      </p:sp>
      <p:sp>
        <p:nvSpPr>
          <p:cNvPr id="33" name="Shape 30"/>
          <p:cNvSpPr/>
          <p:nvPr/>
        </p:nvSpPr>
        <p:spPr>
          <a:xfrm>
            <a:off x="7315200" y="5239512"/>
            <a:ext cx="1069848" cy="237744"/>
          </a:xfrm>
          <a:prstGeom prst="roundRect">
            <a:avLst>
              <a:gd name="adj" fmla="val 50000"/>
            </a:avLst>
          </a:prstGeom>
          <a:solidFill>
            <a:srgbClr val="E8E8EC"/>
          </a:solidFill>
          <a:ln w="12700">
            <a:solidFill>
              <a:srgbClr val="E8E8EC"/>
            </a:solidFill>
            <a:prstDash val="solid"/>
          </a:ln>
        </p:spPr>
      </p:sp>
      <p:sp>
        <p:nvSpPr>
          <p:cNvPr id="34" name="Text 31"/>
          <p:cNvSpPr/>
          <p:nvPr/>
        </p:nvSpPr>
        <p:spPr>
          <a:xfrm>
            <a:off x="7315200" y="5239512"/>
            <a:ext cx="1069848" cy="237744"/>
          </a:xfrm>
          <a:prstGeom prst="rect">
            <a:avLst/>
          </a:prstGeom>
          <a:noFill/>
          <a:ln/>
        </p:spPr>
        <p:txBody>
          <a:bodyPr wrap="square" lIns="0" tIns="0" rIns="0" bIns="0" rtlCol="0" anchor="ctr"/>
          <a:lstStyle/>
          <a:p>
            <a:pPr algn="ctr" indent="0" marL="0">
              <a:buNone/>
            </a:pPr>
            <a:r>
              <a:rPr lang="en-US" sz="950" b="1" dirty="0">
                <a:solidFill>
                  <a:srgbClr val="555555"/>
                </a:solidFill>
                <a:latin typeface="Calibri" pitchFamily="34" charset="0"/>
                <a:ea typeface="Calibri" pitchFamily="34" charset="-122"/>
                <a:cs typeface="Calibri" pitchFamily="34" charset="-120"/>
              </a:rPr>
              <a:t>planned</a:t>
            </a:r>
            <a:endParaRPr lang="en-US" sz="950" dirty="0"/>
          </a:p>
        </p:txBody>
      </p:sp>
      <p:sp>
        <p:nvSpPr>
          <p:cNvPr id="35" name="Shape 32"/>
          <p:cNvSpPr/>
          <p:nvPr/>
        </p:nvSpPr>
        <p:spPr>
          <a:xfrm>
            <a:off x="8503920" y="1481328"/>
            <a:ext cx="3108960" cy="4187952"/>
          </a:xfrm>
          <a:prstGeom prst="roundRect">
            <a:avLst>
              <a:gd name="adj" fmla="val 2353"/>
            </a:avLst>
          </a:prstGeom>
          <a:solidFill>
            <a:srgbClr val="23242A"/>
          </a:solidFill>
          <a:ln w="9525">
            <a:solidFill>
              <a:srgbClr val="E3E1DA"/>
            </a:solidFill>
            <a:prstDash val="solid"/>
          </a:ln>
        </p:spPr>
      </p:sp>
      <p:sp>
        <p:nvSpPr>
          <p:cNvPr id="36" name="Text 33"/>
          <p:cNvSpPr/>
          <p:nvPr/>
        </p:nvSpPr>
        <p:spPr>
          <a:xfrm>
            <a:off x="8732520" y="1737360"/>
            <a:ext cx="2651760" cy="320040"/>
          </a:xfrm>
          <a:prstGeom prst="rect">
            <a:avLst/>
          </a:prstGeom>
          <a:noFill/>
          <a:ln/>
        </p:spPr>
        <p:txBody>
          <a:bodyPr wrap="square" lIns="0" tIns="0" rIns="0" bIns="0" rtlCol="0" anchor="ctr"/>
          <a:lstStyle/>
          <a:p>
            <a:pPr indent="0" marL="0">
              <a:buNone/>
            </a:pPr>
            <a:r>
              <a:rPr lang="en-US" sz="1800" b="1" dirty="0">
                <a:solidFill>
                  <a:srgbClr val="C9A227"/>
                </a:solidFill>
                <a:latin typeface="Cambria" pitchFamily="34" charset="0"/>
                <a:ea typeface="Cambria" pitchFamily="34" charset="-122"/>
                <a:cs typeface="Cambria" pitchFamily="34" charset="-120"/>
              </a:rPr>
              <a:t>Provable</a:t>
            </a:r>
            <a:endParaRPr lang="en-US" sz="1800" dirty="0"/>
          </a:p>
        </p:txBody>
      </p:sp>
      <p:sp>
        <p:nvSpPr>
          <p:cNvPr id="37" name="Text 34"/>
          <p:cNvSpPr/>
          <p:nvPr/>
        </p:nvSpPr>
        <p:spPr>
          <a:xfrm>
            <a:off x="8732520" y="2194560"/>
            <a:ext cx="2651760" cy="3017520"/>
          </a:xfrm>
          <a:prstGeom prst="rect">
            <a:avLst/>
          </a:prstGeom>
          <a:noFill/>
          <a:ln/>
        </p:spPr>
        <p:txBody>
          <a:bodyPr wrap="square" lIns="0" tIns="0" rIns="0" bIns="0" rtlCol="0" anchor="ctr"/>
          <a:lstStyle/>
          <a:p>
            <a:pPr indent="0" marL="0">
              <a:lnSpc>
                <a:spcPts val="1600"/>
              </a:lnSpc>
              <a:buNone/>
            </a:pPr>
            <a:r>
              <a:rPr lang="en-US" sz="1150" b="1" dirty="0">
                <a:solidFill>
                  <a:srgbClr val="D8D8DC"/>
                </a:solidFill>
                <a:latin typeface="Calibri" pitchFamily="34" charset="0"/>
                <a:ea typeface="Calibri" pitchFamily="34" charset="-122"/>
                <a:cs typeface="Calibri" pitchFamily="34" charset="-120"/>
              </a:rPr>
              <a:t>Publishing is gated.</a:t>
            </a:r>
            <a:endParaRPr lang="en-US" sz="1150" dirty="0"/>
          </a:p>
          <a:p>
            <a:pPr indent="0" marL="0">
              <a:lnSpc>
                <a:spcPts val="1600"/>
              </a:lnSpc>
              <a:buNone/>
            </a:pPr>
            <a:r>
              <a:rPr lang="en-US" sz="1150" dirty="0">
                <a:solidFill>
                  <a:srgbClr val="D8D8DC"/>
                </a:solidFill>
                <a:latin typeface="Calibri" pitchFamily="34" charset="0"/>
                <a:ea typeface="Calibri" pitchFamily="34" charset="-122"/>
                <a:cs typeface="Calibri" pitchFamily="34" charset="-120"/>
              </a:rPr>
              <a:t>An asset reaches your systems only when it is Validated against an Approved template. A non-compliant asset is blocked, and the block is recorded.</a:t>
            </a:r>
            <a:endParaRPr lang="en-US" sz="1150" dirty="0"/>
          </a:p>
          <a:p>
            <a:pPr indent="0" marL="0">
              <a:lnSpc>
                <a:spcPts val="1600"/>
              </a:lnSpc>
              <a:buNone/>
            </a:pPr>
            <a:endParaRPr lang="en-US" sz="1150" dirty="0"/>
          </a:p>
          <a:p>
            <a:pPr indent="0" marL="0">
              <a:lnSpc>
                <a:spcPts val="1600"/>
              </a:lnSpc>
              <a:buNone/>
            </a:pPr>
            <a:r>
              <a:rPr lang="en-US" sz="1150" b="1" dirty="0">
                <a:solidFill>
                  <a:srgbClr val="D8D8DC"/>
                </a:solidFill>
                <a:latin typeface="Calibri" pitchFamily="34" charset="0"/>
                <a:ea typeface="Calibri" pitchFamily="34" charset="-122"/>
                <a:cs typeface="Calibri" pitchFamily="34" charset="-120"/>
              </a:rPr>
              <a:t>Every publish stores the full payload and a sha256 hash.</a:t>
            </a:r>
            <a:endParaRPr lang="en-US" sz="1150" dirty="0"/>
          </a:p>
          <a:p>
            <a:pPr indent="0" marL="0">
              <a:lnSpc>
                <a:spcPts val="1600"/>
              </a:lnSpc>
              <a:buNone/>
            </a:pPr>
            <a:r>
              <a:rPr lang="en-US" sz="1150" dirty="0">
                <a:solidFill>
                  <a:srgbClr val="D8D8DC"/>
                </a:solidFill>
                <a:latin typeface="Calibri" pitchFamily="34" charset="0"/>
                <a:ea typeface="Calibri" pitchFamily="34" charset="-122"/>
                <a:cs typeface="Calibri" pitchFamily="34" charset="-120"/>
              </a:rPr>
              <a:t>So what went to Aconex, P6 or SAP can be proven months later, not reconstructed from memory.</a:t>
            </a:r>
            <a:endParaRPr lang="en-US" sz="1150" dirty="0"/>
          </a:p>
        </p:txBody>
      </p:sp>
      <p:sp>
        <p:nvSpPr>
          <p:cNvPr id="38" name="Text 35"/>
          <p:cNvSpPr/>
          <p:nvPr/>
        </p:nvSpPr>
        <p:spPr>
          <a:xfrm>
            <a:off x="548640" y="5852160"/>
            <a:ext cx="11064240" cy="292608"/>
          </a:xfrm>
          <a:prstGeom prst="rect">
            <a:avLst/>
          </a:prstGeom>
          <a:noFill/>
          <a:ln/>
        </p:spPr>
        <p:txBody>
          <a:bodyPr wrap="square" lIns="0" tIns="0" rIns="0" bIns="0" rtlCol="0" anchor="ctr"/>
          <a:lstStyle/>
          <a:p>
            <a:pPr indent="0" marL="0">
              <a:buNone/>
            </a:pPr>
            <a:r>
              <a:rPr lang="en-US" sz="1150" i="1" dirty="0">
                <a:solidFill>
                  <a:srgbClr val="6B6D76"/>
                </a:solidFill>
                <a:latin typeface="Calibri" pitchFamily="34" charset="0"/>
                <a:ea typeface="Calibri" pitchFamily="34" charset="-122"/>
                <a:cs typeface="Calibri" pitchFamily="34" charset="-120"/>
              </a:rPr>
              <a:t>The ten roadmap integrations, mapped across your six system families. Geospatial has no system named among the ten, so it is shown as planned rather than claimed.</a:t>
            </a:r>
            <a:endParaRPr lang="en-US" sz="1150" dirty="0"/>
          </a:p>
        </p:txBody>
      </p:sp>
      <p:sp>
        <p:nvSpPr>
          <p:cNvPr id="39" name="Text 36"/>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9692640" cy="548640"/>
          </a:xfrm>
          <a:prstGeom prst="rect">
            <a:avLst/>
          </a:prstGeom>
          <a:noFill/>
          <a:ln/>
        </p:spPr>
        <p:txBody>
          <a:bodyPr wrap="square" lIns="0" tIns="0" rIns="0" bIns="0" rtlCol="0" anchor="ctr"/>
          <a:lstStyle/>
          <a:p>
            <a:pPr indent="0" marL="0">
              <a:buNone/>
            </a:pPr>
            <a:r>
              <a:rPr lang="en-US" sz="3000" b="1" dirty="0">
                <a:solidFill>
                  <a:srgbClr val="1F2024"/>
                </a:solidFill>
                <a:latin typeface="Cambria" pitchFamily="34" charset="0"/>
                <a:ea typeface="Cambria" pitchFamily="34" charset="-122"/>
                <a:cs typeface="Cambria" pitchFamily="34" charset="-120"/>
              </a:rPr>
              <a:t>Built for Ma'aden, not adapted for you</a:t>
            </a:r>
            <a:endParaRPr lang="en-US" sz="3000" dirty="0"/>
          </a:p>
        </p:txBody>
      </p:sp>
      <p:sp>
        <p:nvSpPr>
          <p:cNvPr id="3" name="Text 1"/>
          <p:cNvSpPr/>
          <p:nvPr/>
        </p:nvSpPr>
        <p:spPr>
          <a:xfrm>
            <a:off x="548640" y="914400"/>
            <a:ext cx="9692640" cy="292608"/>
          </a:xfrm>
          <a:prstGeom prst="rect">
            <a:avLst/>
          </a:prstGeom>
          <a:noFill/>
          <a:ln/>
        </p:spPr>
        <p:txBody>
          <a:bodyPr wrap="square" lIns="0" tIns="0" rIns="0" bIns="0" rtlCol="0" anchor="ctr"/>
          <a:lstStyle/>
          <a:p>
            <a:pPr indent="0" marL="0">
              <a:buNone/>
            </a:pPr>
            <a:r>
              <a:rPr lang="en-US" sz="1300" dirty="0">
                <a:solidFill>
                  <a:srgbClr val="6B6D76"/>
                </a:solidFill>
                <a:latin typeface="Calibri" pitchFamily="34" charset="0"/>
                <a:ea typeface="Calibri" pitchFamily="34" charset="-122"/>
                <a:cs typeface="Calibri" pitchFamily="34" charset="-120"/>
              </a:rPr>
              <a:t>Details that matter in the Kingdom, and on this programme</a:t>
            </a:r>
            <a:endParaRPr lang="en-US" sz="1300" dirty="0"/>
          </a:p>
        </p:txBody>
      </p:sp>
      <p:pic>
        <p:nvPicPr>
          <p:cNvPr id="4" name="Image 0" descr="preencoded.png">    </p:cNvPr>
          <p:cNvPicPr>
            <a:picLocks noChangeAspect="1"/>
          </p:cNvPicPr>
          <p:nvPr/>
        </p:nvPicPr>
        <p:blipFill>
          <a:blip r:embed="rId1"/>
          <a:stretch>
            <a:fillRect/>
          </a:stretch>
        </p:blipFill>
        <p:spPr>
          <a:xfrm>
            <a:off x="11292840" y="384048"/>
            <a:ext cx="411480" cy="411480"/>
          </a:xfrm>
          <a:prstGeom prst="rect">
            <a:avLst/>
          </a:prstGeom>
        </p:spPr>
      </p:pic>
      <p:sp>
        <p:nvSpPr>
          <p:cNvPr id="5" name="Shape 2"/>
          <p:cNvSpPr/>
          <p:nvPr/>
        </p:nvSpPr>
        <p:spPr>
          <a:xfrm>
            <a:off x="548640" y="1554480"/>
            <a:ext cx="5394960" cy="2011680"/>
          </a:xfrm>
          <a:prstGeom prst="roundRect">
            <a:avLst>
              <a:gd name="adj" fmla="val 3636"/>
            </a:avLst>
          </a:prstGeom>
          <a:solidFill>
            <a:srgbClr val="F4F3F0"/>
          </a:solidFill>
          <a:ln w="9525">
            <a:solidFill>
              <a:srgbClr val="E3E1DA"/>
            </a:solidFill>
            <a:prstDash val="solid"/>
          </a:ln>
        </p:spPr>
      </p:sp>
      <p:sp>
        <p:nvSpPr>
          <p:cNvPr id="6" name="Shape 3"/>
          <p:cNvSpPr/>
          <p:nvPr/>
        </p:nvSpPr>
        <p:spPr>
          <a:xfrm>
            <a:off x="804672" y="1828800"/>
            <a:ext cx="347472" cy="347472"/>
          </a:xfrm>
          <a:prstGeom prst="ellipse">
            <a:avLst/>
          </a:prstGeom>
          <a:solidFill>
            <a:srgbClr val="FDF3D7"/>
          </a:solidFill>
          <a:ln w="12700">
            <a:solidFill>
              <a:srgbClr val="FDF3D7"/>
            </a:solidFill>
            <a:prstDash val="solid"/>
          </a:ln>
        </p:spPr>
      </p:sp>
      <p:sp>
        <p:nvSpPr>
          <p:cNvPr id="7" name="Text 4"/>
          <p:cNvSpPr/>
          <p:nvPr/>
        </p:nvSpPr>
        <p:spPr>
          <a:xfrm>
            <a:off x="804672" y="1828800"/>
            <a:ext cx="347472" cy="347472"/>
          </a:xfrm>
          <a:prstGeom prst="rect">
            <a:avLst/>
          </a:prstGeom>
          <a:noFill/>
          <a:ln/>
        </p:spPr>
        <p:txBody>
          <a:bodyPr wrap="square" lIns="0" tIns="0" rIns="0" bIns="0" rtlCol="0" anchor="ctr"/>
          <a:lstStyle/>
          <a:p>
            <a:pPr algn="ctr" indent="0" marL="0">
              <a:buNone/>
            </a:pPr>
            <a:r>
              <a:rPr lang="en-US" sz="1368" b="1" dirty="0">
                <a:solidFill>
                  <a:srgbClr val="9A7B1A"/>
                </a:solidFill>
                <a:latin typeface="Calibri" pitchFamily="34" charset="0"/>
                <a:ea typeface="Calibri" pitchFamily="34" charset="-122"/>
                <a:cs typeface="Calibri" pitchFamily="34" charset="-120"/>
              </a:rPr>
              <a:t>✓</a:t>
            </a:r>
            <a:endParaRPr lang="en-US" sz="1368" dirty="0"/>
          </a:p>
        </p:txBody>
      </p:sp>
      <p:sp>
        <p:nvSpPr>
          <p:cNvPr id="8" name="Text 5"/>
          <p:cNvSpPr/>
          <p:nvPr/>
        </p:nvSpPr>
        <p:spPr>
          <a:xfrm>
            <a:off x="1280160" y="1792224"/>
            <a:ext cx="448056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Arabic, right to left</a:t>
            </a:r>
            <a:endParaRPr lang="en-US" sz="1400" dirty="0"/>
          </a:p>
        </p:txBody>
      </p:sp>
      <p:sp>
        <p:nvSpPr>
          <p:cNvPr id="9" name="Text 6"/>
          <p:cNvSpPr/>
          <p:nvPr/>
        </p:nvSpPr>
        <p:spPr>
          <a:xfrm>
            <a:off x="1280160" y="2157984"/>
            <a:ext cx="4480560" cy="11887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The full interface switches to Arabic and re-lays out right to left, with Tajawal. Tag IDs and standard codes stay as they are, because that is how your engineers reference them.</a:t>
            </a:r>
            <a:endParaRPr lang="en-US" sz="1150" dirty="0"/>
          </a:p>
        </p:txBody>
      </p:sp>
      <p:sp>
        <p:nvSpPr>
          <p:cNvPr id="10" name="Shape 7"/>
          <p:cNvSpPr/>
          <p:nvPr/>
        </p:nvSpPr>
        <p:spPr>
          <a:xfrm>
            <a:off x="6217920" y="1554480"/>
            <a:ext cx="5394960" cy="2011680"/>
          </a:xfrm>
          <a:prstGeom prst="roundRect">
            <a:avLst>
              <a:gd name="adj" fmla="val 3636"/>
            </a:avLst>
          </a:prstGeom>
          <a:solidFill>
            <a:srgbClr val="F4F3F0"/>
          </a:solidFill>
          <a:ln w="9525">
            <a:solidFill>
              <a:srgbClr val="E3E1DA"/>
            </a:solidFill>
            <a:prstDash val="solid"/>
          </a:ln>
        </p:spPr>
      </p:sp>
      <p:sp>
        <p:nvSpPr>
          <p:cNvPr id="11" name="Shape 8"/>
          <p:cNvSpPr/>
          <p:nvPr/>
        </p:nvSpPr>
        <p:spPr>
          <a:xfrm>
            <a:off x="6473952" y="1828800"/>
            <a:ext cx="347472" cy="347472"/>
          </a:xfrm>
          <a:prstGeom prst="ellipse">
            <a:avLst/>
          </a:prstGeom>
          <a:solidFill>
            <a:srgbClr val="FDF3D7"/>
          </a:solidFill>
          <a:ln w="12700">
            <a:solidFill>
              <a:srgbClr val="FDF3D7"/>
            </a:solidFill>
            <a:prstDash val="solid"/>
          </a:ln>
        </p:spPr>
      </p:sp>
      <p:sp>
        <p:nvSpPr>
          <p:cNvPr id="12" name="Text 9"/>
          <p:cNvSpPr/>
          <p:nvPr/>
        </p:nvSpPr>
        <p:spPr>
          <a:xfrm>
            <a:off x="6473952" y="1828800"/>
            <a:ext cx="347472" cy="347472"/>
          </a:xfrm>
          <a:prstGeom prst="rect">
            <a:avLst/>
          </a:prstGeom>
          <a:noFill/>
          <a:ln/>
        </p:spPr>
        <p:txBody>
          <a:bodyPr wrap="square" lIns="0" tIns="0" rIns="0" bIns="0" rtlCol="0" anchor="ctr"/>
          <a:lstStyle/>
          <a:p>
            <a:pPr algn="ctr" indent="0" marL="0">
              <a:buNone/>
            </a:pPr>
            <a:r>
              <a:rPr lang="en-US" sz="1368" b="1" dirty="0">
                <a:solidFill>
                  <a:srgbClr val="9A7B1A"/>
                </a:solidFill>
                <a:latin typeface="Calibri" pitchFamily="34" charset="0"/>
                <a:ea typeface="Calibri" pitchFamily="34" charset="-122"/>
                <a:cs typeface="Calibri" pitchFamily="34" charset="-120"/>
              </a:rPr>
              <a:t>✓</a:t>
            </a:r>
            <a:endParaRPr lang="en-US" sz="1368" dirty="0"/>
          </a:p>
        </p:txBody>
      </p:sp>
      <p:sp>
        <p:nvSpPr>
          <p:cNvPr id="13" name="Text 10"/>
          <p:cNvSpPr/>
          <p:nvPr/>
        </p:nvSpPr>
        <p:spPr>
          <a:xfrm>
            <a:off x="6949440" y="1792224"/>
            <a:ext cx="448056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Your roadmap's stack</a:t>
            </a:r>
            <a:endParaRPr lang="en-US" sz="1400" dirty="0"/>
          </a:p>
        </p:txBody>
      </p:sp>
      <p:sp>
        <p:nvSpPr>
          <p:cNvPr id="14" name="Text 11"/>
          <p:cNvSpPr/>
          <p:nvPr/>
        </p:nvSpPr>
        <p:spPr>
          <a:xfrm>
            <a:off x="6949440" y="2157984"/>
            <a:ext cx="4480560" cy="11887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Next.js, TypeScript, Tailwind and PostgreSQL. The same stack the Master Roadmap specifies, so nothing here is a prototype to be thrown away.</a:t>
            </a:r>
            <a:endParaRPr lang="en-US" sz="1150" dirty="0"/>
          </a:p>
        </p:txBody>
      </p:sp>
      <p:sp>
        <p:nvSpPr>
          <p:cNvPr id="15" name="Shape 12"/>
          <p:cNvSpPr/>
          <p:nvPr/>
        </p:nvSpPr>
        <p:spPr>
          <a:xfrm>
            <a:off x="548640" y="3703320"/>
            <a:ext cx="5394960" cy="2011680"/>
          </a:xfrm>
          <a:prstGeom prst="roundRect">
            <a:avLst>
              <a:gd name="adj" fmla="val 3636"/>
            </a:avLst>
          </a:prstGeom>
          <a:solidFill>
            <a:srgbClr val="F4F3F0"/>
          </a:solidFill>
          <a:ln w="9525">
            <a:solidFill>
              <a:srgbClr val="E3E1DA"/>
            </a:solidFill>
            <a:prstDash val="solid"/>
          </a:ln>
        </p:spPr>
      </p:sp>
      <p:sp>
        <p:nvSpPr>
          <p:cNvPr id="16" name="Shape 13"/>
          <p:cNvSpPr/>
          <p:nvPr/>
        </p:nvSpPr>
        <p:spPr>
          <a:xfrm>
            <a:off x="804672" y="3977640"/>
            <a:ext cx="347472" cy="347472"/>
          </a:xfrm>
          <a:prstGeom prst="ellipse">
            <a:avLst/>
          </a:prstGeom>
          <a:solidFill>
            <a:srgbClr val="FDF3D7"/>
          </a:solidFill>
          <a:ln w="12700">
            <a:solidFill>
              <a:srgbClr val="FDF3D7"/>
            </a:solidFill>
            <a:prstDash val="solid"/>
          </a:ln>
        </p:spPr>
      </p:sp>
      <p:sp>
        <p:nvSpPr>
          <p:cNvPr id="17" name="Text 14"/>
          <p:cNvSpPr/>
          <p:nvPr/>
        </p:nvSpPr>
        <p:spPr>
          <a:xfrm>
            <a:off x="804672" y="3977640"/>
            <a:ext cx="347472" cy="347472"/>
          </a:xfrm>
          <a:prstGeom prst="rect">
            <a:avLst/>
          </a:prstGeom>
          <a:noFill/>
          <a:ln/>
        </p:spPr>
        <p:txBody>
          <a:bodyPr wrap="square" lIns="0" tIns="0" rIns="0" bIns="0" rtlCol="0" anchor="ctr"/>
          <a:lstStyle/>
          <a:p>
            <a:pPr algn="ctr" indent="0" marL="0">
              <a:buNone/>
            </a:pPr>
            <a:r>
              <a:rPr lang="en-US" sz="1368" b="1" dirty="0">
                <a:solidFill>
                  <a:srgbClr val="9A7B1A"/>
                </a:solidFill>
                <a:latin typeface="Calibri" pitchFamily="34" charset="0"/>
                <a:ea typeface="Calibri" pitchFamily="34" charset="-122"/>
                <a:cs typeface="Calibri" pitchFamily="34" charset="-120"/>
              </a:rPr>
              <a:t>✓</a:t>
            </a:r>
            <a:endParaRPr lang="en-US" sz="1368" dirty="0"/>
          </a:p>
        </p:txBody>
      </p:sp>
      <p:sp>
        <p:nvSpPr>
          <p:cNvPr id="18" name="Text 15"/>
          <p:cNvSpPr/>
          <p:nvPr/>
        </p:nvSpPr>
        <p:spPr>
          <a:xfrm>
            <a:off x="1280160" y="3941064"/>
            <a:ext cx="448056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An API from day one</a:t>
            </a:r>
            <a:endParaRPr lang="en-US" sz="1400" dirty="0"/>
          </a:p>
        </p:txBody>
      </p:sp>
      <p:sp>
        <p:nvSpPr>
          <p:cNvPr id="19" name="Text 16"/>
          <p:cNvSpPr/>
          <p:nvPr/>
        </p:nvSpPr>
        <p:spPr>
          <a:xfrm>
            <a:off x="1280160" y="4306824"/>
            <a:ext cx="4480560" cy="11887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Every screen is backed by a documented REST API with a published OpenAPI spec, because the SoW says APIs are a must.</a:t>
            </a:r>
            <a:endParaRPr lang="en-US" sz="1150" dirty="0"/>
          </a:p>
        </p:txBody>
      </p:sp>
      <p:sp>
        <p:nvSpPr>
          <p:cNvPr id="20" name="Shape 17"/>
          <p:cNvSpPr/>
          <p:nvPr/>
        </p:nvSpPr>
        <p:spPr>
          <a:xfrm>
            <a:off x="6217920" y="3703320"/>
            <a:ext cx="5394960" cy="2011680"/>
          </a:xfrm>
          <a:prstGeom prst="roundRect">
            <a:avLst>
              <a:gd name="adj" fmla="val 3636"/>
            </a:avLst>
          </a:prstGeom>
          <a:solidFill>
            <a:srgbClr val="F4F3F0"/>
          </a:solidFill>
          <a:ln w="9525">
            <a:solidFill>
              <a:srgbClr val="E3E1DA"/>
            </a:solidFill>
            <a:prstDash val="solid"/>
          </a:ln>
        </p:spPr>
      </p:sp>
      <p:sp>
        <p:nvSpPr>
          <p:cNvPr id="21" name="Shape 18"/>
          <p:cNvSpPr/>
          <p:nvPr/>
        </p:nvSpPr>
        <p:spPr>
          <a:xfrm>
            <a:off x="6473952" y="3977640"/>
            <a:ext cx="347472" cy="347472"/>
          </a:xfrm>
          <a:prstGeom prst="ellipse">
            <a:avLst/>
          </a:prstGeom>
          <a:solidFill>
            <a:srgbClr val="FDF3D7"/>
          </a:solidFill>
          <a:ln w="12700">
            <a:solidFill>
              <a:srgbClr val="FDF3D7"/>
            </a:solidFill>
            <a:prstDash val="solid"/>
          </a:ln>
        </p:spPr>
      </p:sp>
      <p:sp>
        <p:nvSpPr>
          <p:cNvPr id="22" name="Text 19"/>
          <p:cNvSpPr/>
          <p:nvPr/>
        </p:nvSpPr>
        <p:spPr>
          <a:xfrm>
            <a:off x="6473952" y="3977640"/>
            <a:ext cx="347472" cy="347472"/>
          </a:xfrm>
          <a:prstGeom prst="rect">
            <a:avLst/>
          </a:prstGeom>
          <a:noFill/>
          <a:ln/>
        </p:spPr>
        <p:txBody>
          <a:bodyPr wrap="square" lIns="0" tIns="0" rIns="0" bIns="0" rtlCol="0" anchor="ctr"/>
          <a:lstStyle/>
          <a:p>
            <a:pPr algn="ctr" indent="0" marL="0">
              <a:buNone/>
            </a:pPr>
            <a:r>
              <a:rPr lang="en-US" sz="1368" b="1" dirty="0">
                <a:solidFill>
                  <a:srgbClr val="9A7B1A"/>
                </a:solidFill>
                <a:latin typeface="Calibri" pitchFamily="34" charset="0"/>
                <a:ea typeface="Calibri" pitchFamily="34" charset="-122"/>
                <a:cs typeface="Calibri" pitchFamily="34" charset="-120"/>
              </a:rPr>
              <a:t>✓</a:t>
            </a:r>
            <a:endParaRPr lang="en-US" sz="1368" dirty="0"/>
          </a:p>
        </p:txBody>
      </p:sp>
      <p:sp>
        <p:nvSpPr>
          <p:cNvPr id="23" name="Text 20"/>
          <p:cNvSpPr/>
          <p:nvPr/>
        </p:nvSpPr>
        <p:spPr>
          <a:xfrm>
            <a:off x="6949440" y="3941064"/>
            <a:ext cx="4480560" cy="292608"/>
          </a:xfrm>
          <a:prstGeom prst="rect">
            <a:avLst/>
          </a:prstGeom>
          <a:noFill/>
          <a:ln/>
        </p:spPr>
        <p:txBody>
          <a:bodyPr wrap="square" lIns="0" tIns="0" rIns="0" bIns="0" rtlCol="0" anchor="ctr"/>
          <a:lstStyle/>
          <a:p>
            <a:pPr indent="0" marL="0">
              <a:buNone/>
            </a:pPr>
            <a:r>
              <a:rPr lang="en-US" sz="1400" b="1" dirty="0">
                <a:solidFill>
                  <a:srgbClr val="1F2024"/>
                </a:solidFill>
                <a:latin typeface="Calibri" pitchFamily="34" charset="0"/>
                <a:ea typeface="Calibri" pitchFamily="34" charset="-122"/>
                <a:cs typeface="Calibri" pitchFamily="34" charset="-120"/>
              </a:rPr>
              <a:t>AI where it earns its place</a:t>
            </a:r>
            <a:endParaRPr lang="en-US" sz="1400" dirty="0"/>
          </a:p>
        </p:txBody>
      </p:sp>
      <p:sp>
        <p:nvSpPr>
          <p:cNvPr id="24" name="Text 21"/>
          <p:cNvSpPr/>
          <p:nvPr/>
        </p:nvSpPr>
        <p:spPr>
          <a:xfrm>
            <a:off x="6949440" y="4306824"/>
            <a:ext cx="4480560" cy="1188720"/>
          </a:xfrm>
          <a:prstGeom prst="rect">
            <a:avLst/>
          </a:prstGeom>
          <a:noFill/>
          <a:ln/>
        </p:spPr>
        <p:txBody>
          <a:bodyPr wrap="square" lIns="0" tIns="0" rIns="0" bIns="0" rtlCol="0" anchor="ctr"/>
          <a:lstStyle/>
          <a:p>
            <a:pPr indent="0" marL="0">
              <a:lnSpc>
                <a:spcPts val="1500"/>
              </a:lnSpc>
              <a:buNone/>
            </a:pPr>
            <a:r>
              <a:rPr lang="en-US" sz="1150" dirty="0">
                <a:solidFill>
                  <a:srgbClr val="6B6D76"/>
                </a:solidFill>
                <a:latin typeface="Calibri" pitchFamily="34" charset="0"/>
                <a:ea typeface="Calibri" pitchFamily="34" charset="-122"/>
                <a:cs typeface="Calibri" pitchFamily="34" charset="-120"/>
              </a:rPr>
              <a:t>A standards navigator that cites the standard it answers from, and datasheet classification that suggests a template. Both optional, and the platform runs fully without them.</a:t>
            </a:r>
            <a:endParaRPr lang="en-US" sz="1150" dirty="0"/>
          </a:p>
        </p:txBody>
      </p:sp>
      <p:sp>
        <p:nvSpPr>
          <p:cNvPr id="25" name="Text 22"/>
          <p:cNvSpPr/>
          <p:nvPr/>
        </p:nvSpPr>
        <p:spPr>
          <a:xfrm>
            <a:off x="548640" y="6327648"/>
            <a:ext cx="11064240" cy="274320"/>
          </a:xfrm>
          <a:prstGeom prst="rect">
            <a:avLst/>
          </a:prstGeom>
          <a:noFill/>
          <a:ln/>
        </p:spPr>
        <p:txBody>
          <a:bodyPr wrap="square" lIns="0" tIns="0" rIns="0" bIns="0" rtlCol="0" anchor="ctr"/>
          <a:lstStyle/>
          <a:p>
            <a:pPr indent="0" marL="0">
              <a:buNone/>
            </a:pPr>
            <a:r>
              <a:rPr lang="en-US" sz="900" dirty="0">
                <a:solidFill>
                  <a:srgbClr val="6B6D76"/>
                </a:solidFill>
                <a:latin typeface="Calibri" pitchFamily="34" charset="0"/>
                <a:ea typeface="Calibri" pitchFamily="34" charset="-122"/>
                <a:cs typeface="Calibri" pitchFamily="34" charset="-120"/>
              </a:rPr>
              <a:t>XD House   |   Ma'aden ARGP CDE Asset Data Backbone   |   15 July 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324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58368" y="566928"/>
            <a:ext cx="1051560" cy="868680"/>
          </a:xfrm>
          <a:prstGeom prst="rect">
            <a:avLst/>
          </a:prstGeom>
        </p:spPr>
      </p:pic>
      <p:sp>
        <p:nvSpPr>
          <p:cNvPr id="3" name="Text 0"/>
          <p:cNvSpPr/>
          <p:nvPr/>
        </p:nvSpPr>
        <p:spPr>
          <a:xfrm>
            <a:off x="658368" y="1783080"/>
            <a:ext cx="7680960" cy="59436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What this proves</a:t>
            </a:r>
            <a:endParaRPr lang="en-US" sz="3100" dirty="0"/>
          </a:p>
        </p:txBody>
      </p:sp>
      <p:sp>
        <p:nvSpPr>
          <p:cNvPr id="4" name="Shape 1"/>
          <p:cNvSpPr/>
          <p:nvPr/>
        </p:nvSpPr>
        <p:spPr>
          <a:xfrm>
            <a:off x="658368" y="2660904"/>
            <a:ext cx="310896" cy="310896"/>
          </a:xfrm>
          <a:prstGeom prst="ellipse">
            <a:avLst/>
          </a:prstGeom>
          <a:solidFill>
            <a:srgbClr val="C9A227"/>
          </a:solidFill>
          <a:ln w="12700">
            <a:solidFill>
              <a:srgbClr val="C9A227"/>
            </a:solidFill>
            <a:prstDash val="solid"/>
          </a:ln>
        </p:spPr>
      </p:sp>
      <p:sp>
        <p:nvSpPr>
          <p:cNvPr id="5" name="Text 2"/>
          <p:cNvSpPr/>
          <p:nvPr/>
        </p:nvSpPr>
        <p:spPr>
          <a:xfrm>
            <a:off x="658368" y="2660904"/>
            <a:ext cx="310896" cy="310896"/>
          </a:xfrm>
          <a:prstGeom prst="rect">
            <a:avLst/>
          </a:prstGeom>
          <a:noFill/>
          <a:ln/>
        </p:spPr>
        <p:txBody>
          <a:bodyPr wrap="square" lIns="0" tIns="0" rIns="0" bIns="0" rtlCol="0" anchor="ctr"/>
          <a:lstStyle/>
          <a:p>
            <a:pPr algn="ctr" indent="0" marL="0">
              <a:buNone/>
            </a:pPr>
            <a:r>
              <a:rPr lang="en-US" sz="1224" b="1" dirty="0">
                <a:solidFill>
                  <a:srgbClr val="23242A"/>
                </a:solidFill>
                <a:latin typeface="Calibri" pitchFamily="34" charset="0"/>
                <a:ea typeface="Calibri" pitchFamily="34" charset="-122"/>
                <a:cs typeface="Calibri" pitchFamily="34" charset="-120"/>
              </a:rPr>
              <a:t>✓</a:t>
            </a:r>
            <a:endParaRPr lang="en-US" sz="1224" dirty="0"/>
          </a:p>
        </p:txBody>
      </p:sp>
      <p:sp>
        <p:nvSpPr>
          <p:cNvPr id="6" name="Text 3"/>
          <p:cNvSpPr/>
          <p:nvPr/>
        </p:nvSpPr>
        <p:spPr>
          <a:xfrm>
            <a:off x="1115568" y="2606040"/>
            <a:ext cx="3291840" cy="384048"/>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We understood the brief</a:t>
            </a:r>
            <a:endParaRPr lang="en-US" sz="1500" dirty="0"/>
          </a:p>
        </p:txBody>
      </p:sp>
      <p:sp>
        <p:nvSpPr>
          <p:cNvPr id="7" name="Text 4"/>
          <p:cNvSpPr/>
          <p:nvPr/>
        </p:nvSpPr>
        <p:spPr>
          <a:xfrm>
            <a:off x="4480560" y="2606040"/>
            <a:ext cx="6949440" cy="457200"/>
          </a:xfrm>
          <a:prstGeom prst="rect">
            <a:avLst/>
          </a:prstGeom>
          <a:noFill/>
          <a:ln/>
        </p:spPr>
        <p:txBody>
          <a:bodyPr wrap="square" lIns="0" tIns="0" rIns="0" bIns="0" rtlCol="0" anchor="ctr"/>
          <a:lstStyle/>
          <a:p>
            <a:pPr indent="0" marL="0">
              <a:buNone/>
            </a:pPr>
            <a:r>
              <a:rPr lang="en-US" sz="1250" dirty="0">
                <a:solidFill>
                  <a:srgbClr val="C4C5CC"/>
                </a:solidFill>
                <a:latin typeface="Calibri" pitchFamily="34" charset="0"/>
                <a:ea typeface="Calibri" pitchFamily="34" charset="-122"/>
                <a:cs typeface="Calibri" pitchFamily="34" charset="-120"/>
              </a:rPr>
              <a:t>Your four diagrams describe one governed backbone. We built exactly that, down to your own pump.</a:t>
            </a:r>
            <a:endParaRPr lang="en-US" sz="1250" dirty="0"/>
          </a:p>
        </p:txBody>
      </p:sp>
      <p:sp>
        <p:nvSpPr>
          <p:cNvPr id="8" name="Shape 5"/>
          <p:cNvSpPr/>
          <p:nvPr/>
        </p:nvSpPr>
        <p:spPr>
          <a:xfrm>
            <a:off x="658368" y="3410712"/>
            <a:ext cx="310896" cy="310896"/>
          </a:xfrm>
          <a:prstGeom prst="ellipse">
            <a:avLst/>
          </a:prstGeom>
          <a:solidFill>
            <a:srgbClr val="C9A227"/>
          </a:solidFill>
          <a:ln w="12700">
            <a:solidFill>
              <a:srgbClr val="C9A227"/>
            </a:solidFill>
            <a:prstDash val="solid"/>
          </a:ln>
        </p:spPr>
      </p:sp>
      <p:sp>
        <p:nvSpPr>
          <p:cNvPr id="9" name="Text 6"/>
          <p:cNvSpPr/>
          <p:nvPr/>
        </p:nvSpPr>
        <p:spPr>
          <a:xfrm>
            <a:off x="658368" y="3410712"/>
            <a:ext cx="310896" cy="310896"/>
          </a:xfrm>
          <a:prstGeom prst="rect">
            <a:avLst/>
          </a:prstGeom>
          <a:noFill/>
          <a:ln/>
        </p:spPr>
        <p:txBody>
          <a:bodyPr wrap="square" lIns="0" tIns="0" rIns="0" bIns="0" rtlCol="0" anchor="ctr"/>
          <a:lstStyle/>
          <a:p>
            <a:pPr algn="ctr" indent="0" marL="0">
              <a:buNone/>
            </a:pPr>
            <a:r>
              <a:rPr lang="en-US" sz="1224" b="1" dirty="0">
                <a:solidFill>
                  <a:srgbClr val="23242A"/>
                </a:solidFill>
                <a:latin typeface="Calibri" pitchFamily="34" charset="0"/>
                <a:ea typeface="Calibri" pitchFamily="34" charset="-122"/>
                <a:cs typeface="Calibri" pitchFamily="34" charset="-120"/>
              </a:rPr>
              <a:t>✓</a:t>
            </a:r>
            <a:endParaRPr lang="en-US" sz="1224" dirty="0"/>
          </a:p>
        </p:txBody>
      </p:sp>
      <p:sp>
        <p:nvSpPr>
          <p:cNvPr id="10" name="Text 7"/>
          <p:cNvSpPr/>
          <p:nvPr/>
        </p:nvSpPr>
        <p:spPr>
          <a:xfrm>
            <a:off x="1115568" y="3355848"/>
            <a:ext cx="3291840" cy="384048"/>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We can build it on your stack</a:t>
            </a:r>
            <a:endParaRPr lang="en-US" sz="1500" dirty="0"/>
          </a:p>
        </p:txBody>
      </p:sp>
      <p:sp>
        <p:nvSpPr>
          <p:cNvPr id="11" name="Text 8"/>
          <p:cNvSpPr/>
          <p:nvPr/>
        </p:nvSpPr>
        <p:spPr>
          <a:xfrm>
            <a:off x="4480560" y="3355848"/>
            <a:ext cx="6949440" cy="457200"/>
          </a:xfrm>
          <a:prstGeom prst="rect">
            <a:avLst/>
          </a:prstGeom>
          <a:noFill/>
          <a:ln/>
        </p:spPr>
        <p:txBody>
          <a:bodyPr wrap="square" lIns="0" tIns="0" rIns="0" bIns="0" rtlCol="0" anchor="ctr"/>
          <a:lstStyle/>
          <a:p>
            <a:pPr indent="0" marL="0">
              <a:buNone/>
            </a:pPr>
            <a:r>
              <a:rPr lang="en-US" sz="1250" dirty="0">
                <a:solidFill>
                  <a:srgbClr val="C4C5CC"/>
                </a:solidFill>
                <a:latin typeface="Calibri" pitchFamily="34" charset="0"/>
                <a:ea typeface="Calibri" pitchFamily="34" charset="-122"/>
                <a:cs typeface="Calibri" pitchFamily="34" charset="-120"/>
              </a:rPr>
              <a:t>Next.js, TypeScript, PostgreSQL, Azure-ready and KSA-resident. This is M1 and Gate G4 scope, working.</a:t>
            </a:r>
            <a:endParaRPr lang="en-US" sz="1250" dirty="0"/>
          </a:p>
        </p:txBody>
      </p:sp>
      <p:sp>
        <p:nvSpPr>
          <p:cNvPr id="12" name="Shape 9"/>
          <p:cNvSpPr/>
          <p:nvPr/>
        </p:nvSpPr>
        <p:spPr>
          <a:xfrm>
            <a:off x="658368" y="4160520"/>
            <a:ext cx="310896" cy="310896"/>
          </a:xfrm>
          <a:prstGeom prst="ellipse">
            <a:avLst/>
          </a:prstGeom>
          <a:solidFill>
            <a:srgbClr val="C9A227"/>
          </a:solidFill>
          <a:ln w="12700">
            <a:solidFill>
              <a:srgbClr val="C9A227"/>
            </a:solidFill>
            <a:prstDash val="solid"/>
          </a:ln>
        </p:spPr>
      </p:sp>
      <p:sp>
        <p:nvSpPr>
          <p:cNvPr id="13" name="Text 10"/>
          <p:cNvSpPr/>
          <p:nvPr/>
        </p:nvSpPr>
        <p:spPr>
          <a:xfrm>
            <a:off x="658368" y="4160520"/>
            <a:ext cx="310896" cy="310896"/>
          </a:xfrm>
          <a:prstGeom prst="rect">
            <a:avLst/>
          </a:prstGeom>
          <a:noFill/>
          <a:ln/>
        </p:spPr>
        <p:txBody>
          <a:bodyPr wrap="square" lIns="0" tIns="0" rIns="0" bIns="0" rtlCol="0" anchor="ctr"/>
          <a:lstStyle/>
          <a:p>
            <a:pPr algn="ctr" indent="0" marL="0">
              <a:buNone/>
            </a:pPr>
            <a:r>
              <a:rPr lang="en-US" sz="1224" b="1" dirty="0">
                <a:solidFill>
                  <a:srgbClr val="23242A"/>
                </a:solidFill>
                <a:latin typeface="Calibri" pitchFamily="34" charset="0"/>
                <a:ea typeface="Calibri" pitchFamily="34" charset="-122"/>
                <a:cs typeface="Calibri" pitchFamily="34" charset="-120"/>
              </a:rPr>
              <a:t>✓</a:t>
            </a:r>
            <a:endParaRPr lang="en-US" sz="1224" dirty="0"/>
          </a:p>
        </p:txBody>
      </p:sp>
      <p:sp>
        <p:nvSpPr>
          <p:cNvPr id="14" name="Text 11"/>
          <p:cNvSpPr/>
          <p:nvPr/>
        </p:nvSpPr>
        <p:spPr>
          <a:xfrm>
            <a:off x="1115568" y="4105656"/>
            <a:ext cx="3291840" cy="384048"/>
          </a:xfrm>
          <a:prstGeom prst="rect">
            <a:avLst/>
          </a:prstGeom>
          <a:noFill/>
          <a:ln/>
        </p:spPr>
        <p:txBody>
          <a:bodyPr wrap="square" lIns="0" tIns="0" rIns="0" bIns="0" rtlCol="0" anchor="ctr"/>
          <a:lstStyle/>
          <a:p>
            <a:pPr indent="0" marL="0">
              <a:buNone/>
            </a:pPr>
            <a:r>
              <a:rPr lang="en-US" sz="1500" b="1" dirty="0">
                <a:solidFill>
                  <a:srgbClr val="C9A227"/>
                </a:solidFill>
                <a:latin typeface="Calibri" pitchFamily="34" charset="0"/>
                <a:ea typeface="Calibri" pitchFamily="34" charset="-122"/>
                <a:cs typeface="Calibri" pitchFamily="34" charset="-120"/>
              </a:rPr>
              <a:t>The backbone comes first</a:t>
            </a:r>
            <a:endParaRPr lang="en-US" sz="1500" dirty="0"/>
          </a:p>
        </p:txBody>
      </p:sp>
      <p:sp>
        <p:nvSpPr>
          <p:cNvPr id="15" name="Text 12"/>
          <p:cNvSpPr/>
          <p:nvPr/>
        </p:nvSpPr>
        <p:spPr>
          <a:xfrm>
            <a:off x="4480560" y="4105656"/>
            <a:ext cx="6949440" cy="457200"/>
          </a:xfrm>
          <a:prstGeom prst="rect">
            <a:avLst/>
          </a:prstGeom>
          <a:noFill/>
          <a:ln/>
        </p:spPr>
        <p:txBody>
          <a:bodyPr wrap="square" lIns="0" tIns="0" rIns="0" bIns="0" rtlCol="0" anchor="ctr"/>
          <a:lstStyle/>
          <a:p>
            <a:pPr indent="0" marL="0">
              <a:buNone/>
            </a:pPr>
            <a:r>
              <a:rPr lang="en-US" sz="1250" dirty="0">
                <a:solidFill>
                  <a:srgbClr val="C4C5CC"/>
                </a:solidFill>
                <a:latin typeface="Calibri" pitchFamily="34" charset="0"/>
                <a:ea typeface="Calibri" pitchFamily="34" charset="-122"/>
                <a:cs typeface="Calibri" pitchFamily="34" charset="-120"/>
              </a:rPr>
              <a:t>M2 work packages, M3 checksheets, M4 ITPs and M5 procurement all consume tags, hierarchy and templates.</a:t>
            </a:r>
            <a:endParaRPr lang="en-US" sz="1250" dirty="0"/>
          </a:p>
        </p:txBody>
      </p:sp>
      <p:sp>
        <p:nvSpPr>
          <p:cNvPr id="16" name="Shape 13"/>
          <p:cNvSpPr/>
          <p:nvPr/>
        </p:nvSpPr>
        <p:spPr>
          <a:xfrm>
            <a:off x="658368" y="4937760"/>
            <a:ext cx="10881360" cy="868680"/>
          </a:xfrm>
          <a:prstGeom prst="roundRect">
            <a:avLst>
              <a:gd name="adj" fmla="val 8421"/>
            </a:avLst>
          </a:prstGeom>
          <a:solidFill>
            <a:srgbClr val="2E3038"/>
          </a:solidFill>
          <a:ln w="9525">
            <a:solidFill>
              <a:srgbClr val="9A7B1A"/>
            </a:solidFill>
            <a:prstDash val="solid"/>
          </a:ln>
        </p:spPr>
      </p:sp>
      <p:sp>
        <p:nvSpPr>
          <p:cNvPr id="17" name="Text 14"/>
          <p:cNvSpPr/>
          <p:nvPr/>
        </p:nvSpPr>
        <p:spPr>
          <a:xfrm>
            <a:off x="914400" y="5074920"/>
            <a:ext cx="10424160" cy="640080"/>
          </a:xfrm>
          <a:prstGeom prst="rect">
            <a:avLst/>
          </a:prstGeom>
          <a:noFill/>
          <a:ln/>
        </p:spPr>
        <p:txBody>
          <a:bodyPr wrap="square" lIns="0" tIns="0" rIns="0" bIns="0" rtlCol="0" anchor="ctr"/>
          <a:lstStyle/>
          <a:p>
            <a:pPr indent="0" marL="0">
              <a:lnSpc>
                <a:spcPts val="1700"/>
              </a:lnSpc>
              <a:buNone/>
            </a:pPr>
            <a:r>
              <a:rPr lang="en-US" sz="1250" b="1" dirty="0">
                <a:solidFill>
                  <a:srgbClr val="C9A227"/>
                </a:solidFill>
                <a:latin typeface="Calibri" pitchFamily="34" charset="0"/>
                <a:ea typeface="Calibri" pitchFamily="34" charset="-122"/>
                <a:cs typeface="Calibri" pitchFamily="34" charset="-120"/>
              </a:rPr>
              <a:t>Our recommendation.  </a:t>
            </a:r>
            <a:pPr indent="0" marL="0">
              <a:lnSpc>
                <a:spcPts val="1700"/>
              </a:lnSpc>
              <a:buNone/>
            </a:pPr>
            <a:r>
              <a:rPr lang="en-US" sz="1250" dirty="0">
                <a:solidFill>
                  <a:srgbClr val="D8D8DC"/>
                </a:solidFill>
                <a:latin typeface="Calibri" pitchFamily="34" charset="0"/>
                <a:ea typeface="Calibri" pitchFamily="34" charset="-122"/>
                <a:cs typeface="Calibri" pitchFamily="34" charset="-120"/>
              </a:rPr>
              <a:t>The roadmap builds M1 in Phase 4a, yet the M2 and M3 pilots in weeks 5 to 12 already consume tags, hierarchy and templates. Pull the Master Data Registry core forward into Phase 1 and 2 as a foundation service. This demo is the evidence that it can be done.</a:t>
            </a:r>
            <a:endParaRPr lang="en-US" sz="1250" dirty="0"/>
          </a:p>
        </p:txBody>
      </p:sp>
      <p:sp>
        <p:nvSpPr>
          <p:cNvPr id="18" name="Text 15"/>
          <p:cNvSpPr/>
          <p:nvPr/>
        </p:nvSpPr>
        <p:spPr>
          <a:xfrm>
            <a:off x="658368" y="6035040"/>
            <a:ext cx="8686800" cy="274320"/>
          </a:xfrm>
          <a:prstGeom prst="rect">
            <a:avLst/>
          </a:prstGeom>
          <a:noFill/>
          <a:ln/>
        </p:spPr>
        <p:txBody>
          <a:bodyPr wrap="square" lIns="0" tIns="0" rIns="0" bIns="0" rtlCol="0" anchor="ctr"/>
          <a:lstStyle/>
          <a:p>
            <a:pPr indent="0" marL="0">
              <a:buNone/>
            </a:pPr>
            <a:r>
              <a:rPr lang="en-US" sz="1100" dirty="0">
                <a:solidFill>
                  <a:srgbClr val="9A9BA3"/>
                </a:solidFill>
                <a:latin typeface="Calibri" pitchFamily="34" charset="0"/>
                <a:ea typeface="Calibri" pitchFamily="34" charset="-122"/>
                <a:cs typeface="Calibri" pitchFamily="34" charset="-120"/>
              </a:rPr>
              <a:t>XD House   |   Ma'aden Ar Rjum Gold Project   |   15 July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XD House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Maaden ARGP CDE Demo</dc:title>
  <dc:subject>PptxGenJS Presentation</dc:subject>
  <dc:creator>XD House</dc:creator>
  <cp:lastModifiedBy>XD House</cp:lastModifiedBy>
  <cp:revision>1</cp:revision>
  <dcterms:created xsi:type="dcterms:W3CDTF">2026-07-15T06:52:28Z</dcterms:created>
  <dcterms:modified xsi:type="dcterms:W3CDTF">2026-07-15T06:52:28Z</dcterms:modified>
</cp:coreProperties>
</file>