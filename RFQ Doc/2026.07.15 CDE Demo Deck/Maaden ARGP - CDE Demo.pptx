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this: it is not a mockup, it is running on a database. Everything in this deck is a screenshot of the live app, and you can click any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rather than talking about it. The three seeded failures are deliberate and each fails for a different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publishing is simulated in the sample. It writes a payload row rather than calling Aconex. Do not oversell it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sequencing recommendation. It is the commercially useful point: the registry is a dependency for the pilot modules, so building it first de-risks the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13258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1488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vision, running.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58368" y="2926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Ma'aden Ar Rjum Gold Project: CDE Asset Data Backbone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" y="34290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M1, Master Data Registry and Data Template governance. Built, seeded and demonstrable today. Every screen in this deck is the running application.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58368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58368" y="4864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tags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67128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167128" y="4864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75888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675888" y="4864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84648" y="4343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184648" y="4864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ARGP-DIGI-APP-SOW-001 Rev 00, task T-173, Gate G4 scope   |   15 July 2026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91640"/>
            <a:ext cx="4663440" cy="2922504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16" name="Shape 12"/>
          <p:cNvSpPr/>
          <p:nvPr/>
        </p:nvSpPr>
        <p:spPr>
          <a:xfrm>
            <a:off x="6949440" y="1691640"/>
            <a:ext cx="4663440" cy="2922504"/>
          </a:xfrm>
          <a:prstGeom prst="rect">
            <a:avLst/>
          </a:prstGeom>
          <a:ln w="9525">
            <a:solidFill>
              <a:srgbClr val="E3E1D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four diagrams, one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described the asset data backbone. This is that description, built.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DIAGRAM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749040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0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RUNNING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9110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 chain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49040" y="1911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defines Product Type defines Property Set defines Data Template.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191109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Template Library: 8 templates, 24 properties, each derived from a named standard.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00837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compliance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49040" y="300837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governance inputs feed three compliance checks before a template is applied.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0" y="300837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Centre: 10 rules across the three families, run on demand.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97764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1056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standards to CDE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749040" y="410565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asset classes with governed IDs and revisions, published downstream.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41056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Registry: 40 tags across STR, ELE, EQP and MAT, with revisions and lifecycle.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07492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3F0"/>
          </a:solidFill>
          <a:ln w="9525">
            <a:solidFill>
              <a:srgbClr val="E3E1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20293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CDE hub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49040" y="52029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CDE at the centre of six system families.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0" y="52029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Hub: the 10 roadmap integrations, with payloads and hashes.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mockup. It runs on PostgreSQL, on the stack the Master Roadmap specifies.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 |   Ma'aden ARGP CDE Asset Data Backbone   |  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Template chain, enforced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defines Product Type defines Property Set defines Data Template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4410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1463040"/>
            <a:ext cx="7086600" cy="4441060"/>
          </a:xfrm>
          <a:prstGeom prst="rect">
            <a:avLst/>
          </a:prstGeom>
          <a:ln w="9525">
            <a:solidFill>
              <a:srgbClr val="E3E1D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552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common digital language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955280" y="2130552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0" name="Text 6"/>
          <p:cNvSpPr/>
          <p:nvPr/>
        </p:nvSpPr>
        <p:spPr>
          <a:xfrm>
            <a:off x="8266176" y="20848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templates, each derived from a named standard: API 610, ASME VIII, ASTM A240, IEC 61439, IEC 60034, API 600, Maaden MCIS.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955280" y="2788920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3" name="Text 9"/>
          <p:cNvSpPr/>
          <p:nvPr/>
        </p:nvSpPr>
        <p:spPr>
          <a:xfrm>
            <a:off x="8266176" y="274320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property carries its unit, whether it is mandatory, and the rule that validates it.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3447288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6" name="Text 12"/>
          <p:cNvSpPr/>
          <p:nvPr/>
        </p:nvSpPr>
        <p:spPr>
          <a:xfrm>
            <a:off x="8266176" y="340156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is a governed contract with its own revision and Draft to Review to Approved workflow.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4105656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5528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9" name="Text 15"/>
          <p:cNvSpPr/>
          <p:nvPr/>
        </p:nvSpPr>
        <p:spPr>
          <a:xfrm>
            <a:off x="8266176" y="405993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using the template is listed, so you can see what a change would touch.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955280" y="5029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screen is your vision image 3, running.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 |   Ma'aden ARGP CDE Asset Data Backbone   |  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registry: 40 governed tags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Unit, System, Subsystem, per SoW 3.1.3. Seeded to the ARGP gold plant.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4410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1463040"/>
            <a:ext cx="7086600" cy="4441060"/>
          </a:xfrm>
          <a:prstGeom prst="rect">
            <a:avLst/>
          </a:prstGeom>
          <a:ln w="9525">
            <a:solidFill>
              <a:srgbClr val="E3E1D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552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MEL and Tag Register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955280" y="2130552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0" name="Text 6"/>
          <p:cNvSpPr/>
          <p:nvPr/>
        </p:nvSpPr>
        <p:spPr>
          <a:xfrm>
            <a:off x="8266176" y="20848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tags: 17 EQP, 10 ELE, 8 STR, 5 MAT. Pumps, vessels, valves, E-Houses, motors, frames, cladding, plate.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955280" y="2788920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3" name="Text 9"/>
          <p:cNvSpPr/>
          <p:nvPr/>
        </p:nvSpPr>
        <p:spPr>
          <a:xfrm>
            <a:off x="8266176" y="274320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hierarchy nodes across 6 areas: Crushing, Grinding, CIL, Elution, Tailings, Infrastructure.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3447288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6" name="Text 12"/>
          <p:cNvSpPr/>
          <p:nvPr/>
        </p:nvSpPr>
        <p:spPr>
          <a:xfrm>
            <a:off x="8266176" y="340156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format, revision and lifecycle follow your conventions exactly.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4105656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5528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9" name="Text 15"/>
          <p:cNvSpPr/>
          <p:nvPr/>
        </p:nvSpPr>
        <p:spPr>
          <a:xfrm>
            <a:off x="8266176" y="405993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class, search by tag or name, drill into any node of the tree.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955280" y="5029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task T-173 in the Master Roadmap, working.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 |   Ma'aden ARGP CDE Asset Data Backbone   |  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enforced before publication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diagram: three governance inputs, three compliance checks, then the template applies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4410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1463040"/>
            <a:ext cx="7086600" cy="4441060"/>
          </a:xfrm>
          <a:prstGeom prst="rect">
            <a:avLst/>
          </a:prstGeom>
          <a:ln w="9525">
            <a:solidFill>
              <a:srgbClr val="E3E1D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552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check families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955280" y="2130552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0" name="Text 6"/>
          <p:cNvSpPr/>
          <p:nvPr/>
        </p:nvSpPr>
        <p:spPr>
          <a:xfrm>
            <a:off x="8266176" y="20848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the asset data framework: mandatory properties, template, hierarchy, tag format.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955280" y="2788920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3" name="Text 9"/>
          <p:cNvSpPr/>
          <p:nvPr/>
        </p:nvSpPr>
        <p:spPr>
          <a:xfrm>
            <a:off x="8266176" y="274320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data quality: unit of measure, datatype, ranges, duplicate tags.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3447288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6" name="Text 12"/>
          <p:cNvSpPr/>
          <p:nvPr/>
        </p:nvSpPr>
        <p:spPr>
          <a:xfrm>
            <a:off x="8266176" y="340156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technical and market: values against the standard's own limits.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4105656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5528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9" name="Text 15"/>
          <p:cNvSpPr/>
          <p:nvPr/>
        </p:nvSpPr>
        <p:spPr>
          <a:xfrm>
            <a:off x="8266176" y="405993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writes an immutable record of what was checked and what failed. Each finding links to the fix.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955280" y="5029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9A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that stops a plate shipping cites ASTM A240 and the minimum it requires.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 |   Ma'aden ARGP CDE Asset Data Backbone   |  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example,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EQP-000789, the pump package from your governance diagram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4410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1463040"/>
            <a:ext cx="7086600" cy="4441060"/>
          </a:xfrm>
          <a:prstGeom prst="rect">
            <a:avLst/>
          </a:prstGeom>
          <a:ln w="9525">
            <a:solidFill>
              <a:srgbClr val="E3E1D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552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 minute demo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955280" y="2103120"/>
            <a:ext cx="292608" cy="292608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357616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validation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357616" y="234086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assets checked. Three fail, each in a different family.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955280" y="3035808"/>
            <a:ext cx="292608" cy="292608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5528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357616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causes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357616" y="3273552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mandatory property. A length in feet where the template demands millimetres. A yield strength below the ASTM A240 minimum.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55280" y="3968496"/>
            <a:ext cx="292608" cy="292608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5528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357616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them live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8357616" y="4206240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records who, what, from what, to what, and when.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955280" y="4901184"/>
            <a:ext cx="292608" cy="292608"/>
          </a:xfrm>
          <a:prstGeom prst="ellipse">
            <a:avLst/>
          </a:prstGeom>
          <a:solidFill>
            <a:srgbClr val="2324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55280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357616" y="4882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Re-validate, publish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357616" y="5138928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failures. EQP-000789 goes out with a hashed payload.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955280" y="5806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goes green in front of you.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 |   Ma'aden ARGP CDE Asset Data Backbone   |  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to your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CDE at the centre, per your fourth diagram. Governed data out, provably.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4410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1463040"/>
            <a:ext cx="7086600" cy="4441060"/>
          </a:xfrm>
          <a:prstGeom prst="rect">
            <a:avLst/>
          </a:prstGeom>
          <a:ln w="9525">
            <a:solidFill>
              <a:srgbClr val="E3E1D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552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Gated, and provable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955280" y="2130552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0" name="Text 6"/>
          <p:cNvSpPr/>
          <p:nvPr/>
        </p:nvSpPr>
        <p:spPr>
          <a:xfrm>
            <a:off x="8266176" y="20848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roadmap integrations, mapped across your six system families. Click a family to drill in.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955280" y="2788920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3" name="Text 9"/>
          <p:cNvSpPr/>
          <p:nvPr/>
        </p:nvSpPr>
        <p:spPr>
          <a:xfrm>
            <a:off x="8266176" y="274320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publishes only when it is Validated against an Approved template. Non-compliant assets are blocked, and the block is recorded.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3447288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6" name="Text 12"/>
          <p:cNvSpPr/>
          <p:nvPr/>
        </p:nvSpPr>
        <p:spPr>
          <a:xfrm>
            <a:off x="8266176" y="340156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 stores the full payload and a sha256 hash, so what went to Aconex, P6 or SAP can be proven later.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4105656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5528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9" name="Text 15"/>
          <p:cNvSpPr/>
          <p:nvPr/>
        </p:nvSpPr>
        <p:spPr>
          <a:xfrm>
            <a:off x="8266176" y="405993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has no system named among the roadmap's ten, so it shows as planned rather than claimed.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955280" y="5230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sample this is a simulator. Production swaps it for the Middleware connectors.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 |   Ma'aden ARGP CDE Asset Data Backbone   |  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Kingdom, in Arabic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screen, one click away. Full right to left layout, not a translated afterthought.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4410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1463040"/>
            <a:ext cx="7086600" cy="4441060"/>
          </a:xfrm>
          <a:prstGeom prst="rect">
            <a:avLst/>
          </a:prstGeom>
          <a:ln w="9525">
            <a:solidFill>
              <a:srgbClr val="E3E1D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552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Arabic, right to left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955280" y="2130552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0" name="Text 6"/>
          <p:cNvSpPr/>
          <p:nvPr/>
        </p:nvSpPr>
        <p:spPr>
          <a:xfrm>
            <a:off x="8266176" y="208483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interface mirrors: navigation moves right, tables and the hierarchy tree re-lay out.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955280" y="2788920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3" name="Text 9"/>
          <p:cNvSpPr/>
          <p:nvPr/>
        </p:nvSpPr>
        <p:spPr>
          <a:xfrm>
            <a:off x="8266176" y="274320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Typeset in Tajawal, loaded and self-hosted rather than pulled from a public CDN at runtime.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3447288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6" name="Text 12"/>
          <p:cNvSpPr/>
          <p:nvPr/>
        </p:nvSpPr>
        <p:spPr>
          <a:xfrm>
            <a:off x="8266176" y="340156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stored as a key plus data, never as English prose, so one record renders in either language.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4105656"/>
            <a:ext cx="201168" cy="201168"/>
          </a:xfrm>
          <a:prstGeom prst="ellipse">
            <a:avLst/>
          </a:prstGeom>
          <a:solidFill>
            <a:srgbClr val="FDF3D7"/>
          </a:solidFill>
          <a:ln w="12700">
            <a:solidFill>
              <a:srgbClr val="FDF3D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5528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9A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92" dirty="0"/>
          </a:p>
        </p:txBody>
      </p:sp>
      <p:sp>
        <p:nvSpPr>
          <p:cNvPr id="19" name="Text 15"/>
          <p:cNvSpPr/>
          <p:nvPr/>
        </p:nvSpPr>
        <p:spPr>
          <a:xfrm>
            <a:off x="8266176" y="405993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IDs, standard codes and property names stay as they are, because that is how your engineers reference them.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955280" y="5230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A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Dates and numerals localise too. The screen behind is the same run, in Arabic.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 |   Ma'aden ARGP CDE Asset Data Backbone   |   15 July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105156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783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proves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58368" y="2660904"/>
            <a:ext cx="310896" cy="31089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23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24" dirty="0"/>
          </a:p>
        </p:txBody>
      </p:sp>
      <p:sp>
        <p:nvSpPr>
          <p:cNvPr id="6" name="Text 3"/>
          <p:cNvSpPr/>
          <p:nvPr/>
        </p:nvSpPr>
        <p:spPr>
          <a:xfrm>
            <a:off x="1115568" y="2606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understood the brief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80560" y="2606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four diagrams describe one governed backbone. We built exactly that, down to your own pump.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3410712"/>
            <a:ext cx="310896" cy="31089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23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24" dirty="0"/>
          </a:p>
        </p:txBody>
      </p:sp>
      <p:sp>
        <p:nvSpPr>
          <p:cNvPr id="10" name="Text 7"/>
          <p:cNvSpPr/>
          <p:nvPr/>
        </p:nvSpPr>
        <p:spPr>
          <a:xfrm>
            <a:off x="1115568" y="3355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build it on your stack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80560" y="33558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TypeScript, PostgreSQL, Azure-ready and KSA-resident. This is M1 and Gate G4 scope, working.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4160520"/>
            <a:ext cx="310896" cy="31089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23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24" dirty="0"/>
          </a:p>
        </p:txBody>
      </p:sp>
      <p:sp>
        <p:nvSpPr>
          <p:cNvPr id="14" name="Text 11"/>
          <p:cNvSpPr/>
          <p:nvPr/>
        </p:nvSpPr>
        <p:spPr>
          <a:xfrm>
            <a:off x="1115568" y="41056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comes first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410565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work packages, M3 checksheets, M4 ITPs and M5 procurement all consume tags, hierarchy and templates.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4937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3038"/>
          </a:solidFill>
          <a:ln w="9525">
            <a:solidFill>
              <a:srgbClr val="9A7B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0749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builds M1 in Phase 4a, yet the M2 and M3 pilots in weeks 5 to 12 already consume tags, hierarchy and templates. Pull the Master Data Registry core forward into Phase 1 and 2 as a foundation service. This demo is the evidence that it can be done.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 House   |   Ma'aden Ar Rjum Gold Project   |   15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XD House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Maaden ARGP CDE Demo</dc:title>
  <dc:subject>PptxGenJS Presentation</dc:subject>
  <dc:creator>XD House</dc:creator>
  <cp:lastModifiedBy>XD House</cp:lastModifiedBy>
  <cp:revision>1</cp:revision>
  <dcterms:created xsi:type="dcterms:W3CDTF">2026-07-15T07:10:22Z</dcterms:created>
  <dcterms:modified xsi:type="dcterms:W3CDTF">2026-07-15T07:10:22Z</dcterms:modified>
</cp:coreProperties>
</file>