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 i="0">
                <a:solidFill>
                  <a:srgbClr val="D4AF37"/>
                </a:solidFill>
                <a:latin typeface="Calibri"/>
              </a:rPr>
              <a:t>MAADEN ARGP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9728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Digitalization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0" i="1">
                <a:solidFill>
                  <a:srgbClr val="CADCFC"/>
                </a:solidFill>
                <a:latin typeface="Calibri"/>
              </a:rPr>
              <a:t>Internal Management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3484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CADCFC"/>
                </a:solidFill>
                <a:latin typeface="Calibri"/>
              </a:rPr>
              <a:t>What we are bidding for, who the client is, the scope, the team, the timeline, and the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XD House LLC FZ  |  Ref XDH-AE-Q26-05-00029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 i="1">
                <a:solidFill>
                  <a:srgbClr val="D4AF37"/>
                </a:solidFill>
                <a:latin typeface="Calibri"/>
              </a:rPr>
              <a:t>CLASSIFICATION: INTERNAL - For XDH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In one slide - what is this opportunity?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1737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1737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 i="0">
                <a:solidFill>
                  <a:srgbClr val="1E2761"/>
                </a:solidFill>
                <a:latin typeface="Calibri"/>
              </a:rPr>
              <a:t>Maaden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Saudi Arabian Mining Company (KSA national flagship)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743200" cy="1737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73152" cy="1737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32588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4592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 i="0">
                <a:solidFill>
                  <a:srgbClr val="1E2761"/>
                </a:solidFill>
                <a:latin typeface="Calibri"/>
              </a:rPr>
              <a:t>ARGP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Ar Rjum Gold Project - greenfield mining megaproject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1737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73152" cy="1737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YEAR 1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 i="0">
                <a:solidFill>
                  <a:srgbClr val="1E2761"/>
                </a:solidFill>
                <a:latin typeface="Calibri"/>
              </a:rPr>
              <a:t>AED 2.98M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AUD 1.1M / USD 812K (incl WHT)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188720"/>
            <a:ext cx="2651760" cy="1737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188720"/>
            <a:ext cx="73152" cy="1737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3258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5-YEAR TCO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645920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 i="0">
                <a:solidFill>
                  <a:srgbClr val="1E2761"/>
                </a:solidFill>
                <a:latin typeface="Calibri"/>
              </a:rPr>
              <a:t>AED 4.91M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Y1 + 4 years maintenance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WHAT WE ARE BIDDING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libri"/>
              </a:rPr>
              <a:t>Design, build, deploy and hand over a custom Digitalization Platform for the ARGP gold project - a 12-month engagement covering 5 functional modules + AI agents + KSA in-Kingdom hosting + 24/7 SLA.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WHY THIS MATTERS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3749039" cy="1508760"/>
          </a:xfrm>
          <a:prstGeom prst="rect">
            <a:avLst/>
          </a:prstGeom>
          <a:solidFill>
            <a:srgbClr val="FFFFFF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530352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03520"/>
            <a:ext cx="292607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Strategic 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06440"/>
            <a:ext cx="3474720" cy="777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First major KSA enterprise platform deal. Opens door to Aramco, SABIC, ADNOC follow-ons.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5166360"/>
            <a:ext cx="3749039" cy="1508760"/>
          </a:xfrm>
          <a:prstGeom prst="rect">
            <a:avLst/>
          </a:prstGeom>
          <a:solidFill>
            <a:srgbClr val="FFFFFF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34840" y="530352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303520"/>
            <a:ext cx="292607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Low Y1 Cash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806440"/>
            <a:ext cx="3474720" cy="777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AED 2.98M Y1 vs incumbents at AED 80-150M - we win on price + flexibility.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5166360"/>
            <a:ext cx="356616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5320" y="530352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3035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Tight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806440"/>
            <a:ext cx="3291840" cy="7772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35% gross margin. Manage scope creep tightly via Variation Clause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Client and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Who is Maaden and what is ARGP?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577840" cy="5349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5778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5394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 i="0">
                <a:solidFill>
                  <a:srgbClr val="D4AF37"/>
                </a:solidFill>
                <a:latin typeface="Calibri"/>
              </a:rPr>
              <a:t>THE CLIENT - MAADEN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Calibri"/>
              </a:rPr>
              <a:t>Saudi Arabian Mining Company</a:t>
            </a:r>
          </a:p>
          <a:p>
            <a:r>
              <a:rPr sz="800" b="0">
                <a:solidFill>
                  <a:srgbClr val="1E2761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Publicly traded - HQ Riyadh, KSA</a:t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Largest mining company in Middle East</a:t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Government-aligned (PIF-owned majority)</a:t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Saudi Vision 2030 cornerstone enterprise</a:t>
            </a:r>
          </a:p>
          <a:p>
            <a:r>
              <a:rPr sz="1000" b="0">
                <a:solidFill>
                  <a:srgbClr val="1E2761"/>
                </a:solidFill>
                <a:latin typeface="Calibri"/>
              </a:rPr>
              <a:t/>
            </a:r>
          </a:p>
          <a:p>
            <a:r>
              <a:rPr sz="1300" b="1">
                <a:solidFill>
                  <a:srgbClr val="1E2761"/>
                </a:solidFill>
                <a:latin typeface="Calibri"/>
              </a:rPr>
              <a:t>Affiliates (this scope: ARGP only):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- Maaden Aluminium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- Maaden Phosphate Company (MPC)</a:t>
            </a:r>
          </a:p>
          <a:p>
            <a:r>
              <a:rPr sz="1200" b="1">
                <a:solidFill>
                  <a:srgbClr val="D4AF37"/>
                </a:solidFill>
                <a:latin typeface="Calibri"/>
              </a:rPr>
              <a:t>  - Ar Rjum Gold Project (ARGP)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- Multiple gold &amp; industrial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5349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61872"/>
            <a:ext cx="5212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 i="0">
                <a:solidFill>
                  <a:srgbClr val="D4AF37"/>
                </a:solidFill>
                <a:latin typeface="Calibri"/>
              </a:rPr>
              <a:t>THE PROJECT - ARGP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2120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Calibri"/>
              </a:rPr>
              <a:t>Ar Rjum Gold Project</a:t>
            </a:r>
          </a:p>
          <a:p>
            <a:r>
              <a:rPr sz="800" b="0">
                <a:solidFill>
                  <a:srgbClr val="1E2761"/>
                </a:solidFill>
                <a:latin typeface="Calibri"/>
              </a:rPr>
              <a:t/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Flagship greenfield gold mining + processing</a:t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Multi-year mining megaproject (Ras Al-Khair)</a:t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Scale: USD-billions project budget</a:t>
            </a:r>
          </a:p>
          <a:p>
            <a:r>
              <a:rPr sz="1300" b="0">
                <a:solidFill>
                  <a:srgbClr val="404040"/>
                </a:solidFill>
                <a:latin typeface="Calibri"/>
              </a:rPr>
              <a:t>Vision 2030: local content + supply chain</a:t>
            </a:r>
          </a:p>
          <a:p>
            <a:r>
              <a:rPr sz="1000" b="0">
                <a:solidFill>
                  <a:srgbClr val="1E2761"/>
                </a:solidFill>
                <a:latin typeface="Calibri"/>
              </a:rPr>
              <a:t/>
            </a:r>
          </a:p>
          <a:p>
            <a:r>
              <a:rPr sz="1300" b="1">
                <a:solidFill>
                  <a:srgbClr val="1E2761"/>
                </a:solidFill>
                <a:latin typeface="Calibri"/>
              </a:rPr>
              <a:t>What Maaden tendered: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SoW: ARGP-DIGI-APP-SOW-001 Rev. 00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Date: 02 April 2025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AI-powered enterprise platform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  KSA in-Kingdom data residency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1">
                <a:solidFill>
                  <a:srgbClr val="404040"/>
                </a:solidFill>
                <a:latin typeface="Calibri"/>
              </a:rPr>
              <a:t>Note: ARGP is the first affiliate. Multi-affiliate rollout is excluded from this scope (variation per affiliate).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What Maaden Is Asking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5 functional modules + AI capabilities + KSA hosting +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749039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32588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D4AF37"/>
                </a:solidFill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53312"/>
            <a:ext cx="2743199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Engineering &amp; Design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383279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CDE + AI design checks + Digital Twin + 20 disciplines + Aconex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49039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32588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D4AF37"/>
                </a:solidFill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353312"/>
            <a:ext cx="2743199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Schedule Management &amp; Project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3383279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Primavera P6 + QSRA + EVMS + AWP + look-ahead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93592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132588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D4AF37"/>
                </a:solidFill>
              </a:rP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353312"/>
            <a:ext cx="258775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Construction &amp; Pre-Commissioning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27832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8 sub-modules + AWP + Punch List + Pre-Comm + Computer 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3749039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29184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D4AF37"/>
                </a:solidFill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9272"/>
            <a:ext cx="2743199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Quality Management &amp; Assurance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383279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Digital ITPs + NCR + CAPA + supplier scorecards + AI predictive 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154680"/>
            <a:ext cx="3749039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4840" y="3291840"/>
            <a:ext cx="594360" cy="5943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D4AF37"/>
                </a:solidFill>
              </a:rPr>
              <a:t>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319272"/>
            <a:ext cx="2743199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Procurement &amp; Supply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023360"/>
            <a:ext cx="3383279" cy="822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PO + Material Traceability + EAC + integrated with ERP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154680"/>
            <a:ext cx="359359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CROSS-CUTTING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329184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AI / ML Engine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  Predictive analytics, CV, QSRA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KSA In-Kingdom Hosting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  Azure Riyadh / Oracle KSA</a:t>
            </a: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Compliance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  NCA ECC + PDPL + CCRF + ISO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11274552" cy="14630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WHY THIS PROPOSAL IS COMPLEX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E2761"/>
                </a:solidFill>
                <a:latin typeface="Calibri"/>
              </a:rPr>
              <a:t>  -  5 separate modules each with their own SoW sections (3.1, 3.2, 3.3, 3.4, 3.5)</a:t>
            </a:r>
          </a:p>
          <a:p>
            <a:r>
              <a:rPr sz="1200" b="0">
                <a:solidFill>
                  <a:srgbClr val="1E2761"/>
                </a:solidFill>
                <a:latin typeface="Calibri"/>
              </a:rPr>
              <a:t>  -  Mandates AI capabilities (predictive analytics, CV, Digital Twin, QSRA)</a:t>
            </a:r>
          </a:p>
          <a:p>
            <a:r>
              <a:rPr sz="1200" b="0">
                <a:solidFill>
                  <a:srgbClr val="1E2761"/>
                </a:solidFill>
                <a:latin typeface="Calibri"/>
              </a:rPr>
              <a:t>  -  Mandates KSA data residency + integration with 6+ Maaden enterprise systems (Aconex, P6, SAP, Aveva PI, MS EPM, ADFS, SIEM)</a:t>
            </a:r>
          </a:p>
          <a:p>
            <a:r>
              <a:rPr sz="1200" b="0">
                <a:solidFill>
                  <a:srgbClr val="1E2761"/>
                </a:solidFill>
                <a:latin typeface="Calibri"/>
              </a:rPr>
              <a:t>  -  4-phase delivery with gate reviews at Weeks 4, 12, 16,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Our Delivery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4 phases over 12 months per SoW 3.3.10 + ongoing Year 2-5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8892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260603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2606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W 1-4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788920" cy="640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60603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Setup &amp;
Mobilisation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2788920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6060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- Project kickoff
- BIM Execution Plan
- KSA tenant on Maaden cloud
- Maaden AAD / ADFS SSO setup
- NCA ECC + PDPL baseline
- Architecture design
- Requirements workshops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278892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6060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AED 232.7K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1" y="1371600"/>
            <a:ext cx="278892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389888"/>
            <a:ext cx="260603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627632"/>
            <a:ext cx="2606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W 5-12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1" y="1920240"/>
            <a:ext cx="2788920" cy="640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1965960"/>
            <a:ext cx="260603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Pilot Module
Deployment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1" y="2560320"/>
            <a:ext cx="2788920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651760"/>
            <a:ext cx="26060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- Module 3 AWP pilot build
- 4 AI agents (ingest, ontology,
  anomaly, KPI synthesiser)
- Aconex + P6 integrations
- 5 pilot dashboards
- Test pack + UAT prep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1" y="3794760"/>
            <a:ext cx="278892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794760"/>
            <a:ext cx="26060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AED 625.7K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3" y="1371600"/>
            <a:ext cx="278892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3" y="1389888"/>
            <a:ext cx="260603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3" y="1627632"/>
            <a:ext cx="2606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W 13-16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2783" y="1920240"/>
            <a:ext cx="2788920" cy="640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3" y="1965960"/>
            <a:ext cx="260603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Pilot Validation
+ 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2783" y="2560320"/>
            <a:ext cx="2788920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3" y="2651760"/>
            <a:ext cx="26060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- UAT on Maaden data
- KPI measurement vs targets
- Defect triage + fixes
- Train-the-trainer (8 modules)
- Phase 3 acceptance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3" y="3794760"/>
            <a:ext cx="278892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3" y="3794760"/>
            <a:ext cx="26060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AED 269.8K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0576" y="1371600"/>
            <a:ext cx="278892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2015" y="1389888"/>
            <a:ext cx="2606039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5" y="1627632"/>
            <a:ext cx="2606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W 17-52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576" y="1920240"/>
            <a:ext cx="2788920" cy="640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5" y="1965960"/>
            <a:ext cx="260603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Full Rollout
+ IP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0576" y="2560320"/>
            <a:ext cx="2788920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2015" y="2651760"/>
            <a:ext cx="26060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- Build Modules M1, M2, M4, M5
- SAP + Aveva PI + EPM integration
- Multi-area ARGP rollout
- Security hardening + audit
- Go-Live + Final Acceptance
- 1-month hyper-care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0576" y="3794760"/>
            <a:ext cx="278892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5" y="3794760"/>
            <a:ext cx="260603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AED 1.71M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11274552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736592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D4AF37"/>
                </a:solidFill>
                <a:latin typeface="Calibri"/>
              </a:rPr>
              <a:t>YEAR 2-5: ANNUAL MAINTENANCE &amp;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Annual maintenance fee = 15% of build cost base, escalated 5% per year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Includes: bug fixes, security patches, minor enhancements, user support, 24/7 SLA per SoW 3.3.10</a:t>
            </a:r>
          </a:p>
          <a:p>
            <a:r>
              <a:rPr sz="600" b="0">
                <a:solidFill>
                  <a:srgbClr val="CADCFC"/>
                </a:solidFill>
                <a:latin typeface="Calibri"/>
              </a:rPr>
              <a:t/>
            </a:r>
          </a:p>
          <a:p>
            <a:r>
              <a:rPr sz="1400" b="1">
                <a:solidFill>
                  <a:srgbClr val="D4AF37"/>
                </a:solidFill>
                <a:latin typeface="Calibri"/>
              </a:rPr>
              <a:t>Y2 AED 426K  |  Y3 AED 447K  |  Y4 AED 469K  |  Y5 AED 490K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Total Y2-5 NET (excl WHT): AED 1,832,525   ||   5-YEAR TCO: AED 4,907,333 (incl WHT)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1">
                <a:solidFill>
                  <a:srgbClr val="404040"/>
                </a:solidFill>
                <a:latin typeface="Calibri"/>
              </a:rPr>
              <a:t>Gate Reviews at end of each phase let Maaden exit if expectations not met - reduces our delivery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7 unique roles deployed across the 4 phases (SoW 3.4.7 mandatory + necessary)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9144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Programme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1E2761"/>
                </a:solidFill>
                <a:latin typeface="Calibri"/>
              </a:rPr>
              <a:t>SOW 3.4.7 mandated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M1-M12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3383280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Single point of contact, gate reviews, Maaden steering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3657600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188720"/>
            <a:ext cx="9144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61872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Solution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1E2761"/>
                </a:solidFill>
                <a:latin typeface="Calibri"/>
              </a:rPr>
              <a:t>SOW 3.4.7 Sr Functional/Technical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4708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M1-M12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21408"/>
            <a:ext cx="3383280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Platform + integration architecture, code reviews, IP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188720"/>
            <a:ext cx="3867912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188720"/>
            <a:ext cx="9144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1261872"/>
            <a:ext cx="359359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Senior Database 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1572768"/>
            <a:ext cx="35935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1E2761"/>
                </a:solidFill>
                <a:latin typeface="Calibri"/>
              </a:rPr>
              <a:t>SOW 3.4.7 mandated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1847088"/>
            <a:ext cx="359359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M1-M12 (0.5 in M1)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2121408"/>
            <a:ext cx="3593592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DB schema, performance, backup + DR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3657600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91440" cy="1325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24912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Documents 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03580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1E2761"/>
                </a:solidFill>
                <a:latin typeface="Calibri"/>
              </a:rPr>
              <a:t>SOW 3.4.7 mandated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1012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M1-M12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84448"/>
            <a:ext cx="3383280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Document control, transmittals, evidence pack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2651760"/>
            <a:ext cx="3657600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2651760"/>
            <a:ext cx="91440" cy="1325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724912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KSA Compliance / Security Lead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03580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D4AF37"/>
                </a:solidFill>
                <a:latin typeface="Calibri"/>
              </a:rPr>
              <a:t>SOW 3.4.4 mandatory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31012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M1-M12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584448"/>
            <a:ext cx="3383280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NCA ECC + PDPL + CCRF compliance, SIEM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651760"/>
            <a:ext cx="3867912" cy="2788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27889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 i="0">
                <a:solidFill>
                  <a:srgbClr val="D4AF37"/>
                </a:solidFill>
                <a:latin typeface="Calibri"/>
              </a:rPr>
              <a:t>TEAM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108960"/>
            <a:ext cx="36576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7 unique roles</a:t>
            </a:r>
          </a:p>
          <a:p>
            <a:r>
              <a:rPr sz="1200" b="0">
                <a:solidFill>
                  <a:srgbClr val="CADCFC"/>
                </a:solidFill>
                <a:latin typeface="Calibri"/>
              </a:rPr>
              <a:t>Peak: 5.5 FTE (Phase 1)</a:t>
            </a:r>
          </a:p>
          <a:p>
            <a:r>
              <a:rPr sz="1200" b="0">
                <a:solidFill>
                  <a:srgbClr val="CADCFC"/>
                </a:solidFill>
                <a:latin typeface="Calibri"/>
              </a:rPr>
              <a:t>Avg: 4 FTE across 12 months</a:t>
            </a:r>
          </a:p>
          <a:p>
            <a:r>
              <a:rPr sz="1200" b="0">
                <a:solidFill>
                  <a:srgbClr val="CADCFC"/>
                </a:solidFill>
                <a:latin typeface="Calibri"/>
              </a:rPr>
              <a:t>Total Y1: ~33 FTE-months</a:t>
            </a:r>
          </a:p>
          <a:p>
            <a:r>
              <a:rPr sz="600" b="0">
                <a:solidFill>
                  <a:srgbClr val="CADCFC"/>
                </a:solidFill>
                <a:latin typeface="Calibri"/>
              </a:rPr>
              <a:t/>
            </a:r>
          </a:p>
          <a:p>
            <a:r>
              <a:rPr sz="1200" b="1">
                <a:solidFill>
                  <a:srgbClr val="D4AF37"/>
                </a:solidFill>
                <a:latin typeface="Calibri"/>
              </a:rPr>
              <a:t>Mix: 40% Onsite RAK</a:t>
            </a:r>
          </a:p>
          <a:p>
            <a:r>
              <a:rPr sz="1200" b="1">
                <a:solidFill>
                  <a:srgbClr val="D4AF37"/>
                </a:solidFill>
                <a:latin typeface="Calibri"/>
              </a:rPr>
              <a:t>         60% Offsite Dubai</a:t>
            </a:r>
          </a:p>
          <a:p>
            <a:r>
              <a:rPr sz="600" b="0">
                <a:solidFill>
                  <a:srgbClr val="CADCFC"/>
                </a:solidFill>
                <a:latin typeface="Calibri"/>
              </a:rPr>
              <a:t/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Year 2-5 Run Team: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  2-3 FTE shared pool</a:t>
            </a:r>
          </a:p>
          <a:p>
            <a:r>
              <a:rPr sz="1100" b="0">
                <a:solidFill>
                  <a:srgbClr val="CADCFC"/>
                </a:solidFill>
                <a:latin typeface="Calibri"/>
              </a:rPr>
              <a:t>  Lean post-handover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14800"/>
            <a:ext cx="3657600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114800"/>
            <a:ext cx="91440" cy="1325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87952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AI / ML Engineer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49884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D4AF37"/>
                </a:solidFill>
                <a:latin typeface="Calibri"/>
              </a:rPr>
              <a:t>SOW 3.3.4 - delivery of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77316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M2-M12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47488"/>
            <a:ext cx="3383280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4 production AI agents trained on Maaden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4114800"/>
            <a:ext cx="3657600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60520" y="4114800"/>
            <a:ext cx="91440" cy="1325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4187952"/>
            <a:ext cx="3383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Module Specialist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449884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1" i="1">
                <a:solidFill>
                  <a:srgbClr val="D4AF37"/>
                </a:solidFill>
                <a:latin typeface="Calibri"/>
              </a:rPr>
              <a:t>SOW 3.3.4 - module build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773168"/>
            <a:ext cx="3383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 i="0">
                <a:solidFill>
                  <a:srgbClr val="404040"/>
                </a:solidFill>
                <a:latin typeface="Calibri"/>
              </a:rPr>
              <a:t>Deployment: M2-M12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47488"/>
            <a:ext cx="3383280" cy="320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404040"/>
                </a:solidFill>
                <a:latin typeface="Calibri"/>
              </a:rPr>
              <a:t>Builds 5 modules from scratch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1">
                <a:solidFill>
                  <a:srgbClr val="404040"/>
                </a:solidFill>
                <a:latin typeface="Calibri"/>
              </a:rPr>
              <a:t>Same person carries across phases - we do not duplicate headcount per phase. Onsite presence in Ras Al-Khair per SoW 3.4.6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52-week programme from PO + Y2-5 maintenance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280160"/>
            <a:ext cx="94183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86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572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058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544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002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488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974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460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9460" y="1325880"/>
            <a:ext cx="7848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83080"/>
            <a:ext cx="178308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Phase 1 -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783080"/>
            <a:ext cx="73914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1783080"/>
            <a:ext cx="7391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D4AF37"/>
                </a:solidFill>
                <a:latin typeface="Calibri"/>
              </a:rPr>
              <a:t>Phase 1 - 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40280"/>
            <a:ext cx="178308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4028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Phase 2 - Pilot Build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0860" y="2240280"/>
            <a:ext cx="1524000" cy="4114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0860" y="2240280"/>
            <a:ext cx="15240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Calibri"/>
              </a:rPr>
              <a:t>Phase 2 - Pilot 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178308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69748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Phase 3 -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0580" y="2697480"/>
            <a:ext cx="739140" cy="411480"/>
          </a:xfrm>
          <a:prstGeom prst="rect">
            <a:avLst/>
          </a:prstGeom>
          <a:solidFill>
            <a:srgbClr val="C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0580" y="2697480"/>
            <a:ext cx="7391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D4AF37"/>
                </a:solidFill>
                <a:latin typeface="Calibri"/>
              </a:rPr>
              <a:t>Phase 3 -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54680"/>
            <a:ext cx="178308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154680"/>
            <a:ext cx="17373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Phase 4 - Full Rollout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5440" y="3154680"/>
            <a:ext cx="6233160" cy="4114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25440" y="3154680"/>
            <a:ext cx="62331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i="0">
                <a:solidFill>
                  <a:srgbClr val="D4AF37"/>
                </a:solidFill>
                <a:latin typeface="Calibri"/>
              </a:rPr>
              <a:t>Phase 4 - Full Rollout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03320"/>
            <a:ext cx="1783080" cy="320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03320"/>
            <a:ext cx="17373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Gate / Milestones</a:t>
            </a:r>
          </a:p>
        </p:txBody>
      </p:sp>
      <p:sp>
        <p:nvSpPr>
          <p:cNvPr id="36" name="Diamond 35"/>
          <p:cNvSpPr/>
          <p:nvPr/>
        </p:nvSpPr>
        <p:spPr>
          <a:xfrm>
            <a:off x="2842260" y="3703320"/>
            <a:ext cx="457200" cy="32004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1E2761"/>
                </a:solidFill>
              </a:rPr>
              <a:t>M1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0820" y="4069080"/>
            <a:ext cx="640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alibri"/>
              </a:rPr>
              <a:t>20%</a:t>
            </a:r>
          </a:p>
        </p:txBody>
      </p:sp>
      <p:sp>
        <p:nvSpPr>
          <p:cNvPr id="38" name="Diamond 37"/>
          <p:cNvSpPr/>
          <p:nvPr/>
        </p:nvSpPr>
        <p:spPr>
          <a:xfrm>
            <a:off x="4411980" y="3703320"/>
            <a:ext cx="457200" cy="32004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1E2761"/>
                </a:solidFill>
              </a:rPr>
              <a:t>M2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0540" y="4069080"/>
            <a:ext cx="640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alibri"/>
              </a:rPr>
              <a:t>25%</a:t>
            </a:r>
          </a:p>
        </p:txBody>
      </p:sp>
      <p:sp>
        <p:nvSpPr>
          <p:cNvPr id="40" name="Diamond 39"/>
          <p:cNvSpPr/>
          <p:nvPr/>
        </p:nvSpPr>
        <p:spPr>
          <a:xfrm>
            <a:off x="5196840" y="3703320"/>
            <a:ext cx="457200" cy="32004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1E2761"/>
                </a:solidFill>
              </a:rPr>
              <a:t>M3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5400" y="4069080"/>
            <a:ext cx="640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alibri"/>
              </a:rPr>
              <a:t>20%</a:t>
            </a:r>
          </a:p>
        </p:txBody>
      </p:sp>
      <p:sp>
        <p:nvSpPr>
          <p:cNvPr id="42" name="Diamond 41"/>
          <p:cNvSpPr/>
          <p:nvPr/>
        </p:nvSpPr>
        <p:spPr>
          <a:xfrm>
            <a:off x="11240262" y="3703320"/>
            <a:ext cx="457200" cy="32004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1E2761"/>
                </a:solidFill>
              </a:rPr>
              <a:t>M4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48822" y="4069080"/>
            <a:ext cx="640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alibri"/>
              </a:rPr>
              <a:t>25%</a:t>
            </a:r>
          </a:p>
        </p:txBody>
      </p:sp>
      <p:sp>
        <p:nvSpPr>
          <p:cNvPr id="44" name="Diamond 43"/>
          <p:cNvSpPr/>
          <p:nvPr/>
        </p:nvSpPr>
        <p:spPr>
          <a:xfrm>
            <a:off x="11430000" y="3703320"/>
            <a:ext cx="457200" cy="32004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1E2761"/>
                </a:solidFill>
              </a:rPr>
              <a:t>M5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4069080"/>
            <a:ext cx="640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alibri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480559"/>
            <a:ext cx="112745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1">
                <a:solidFill>
                  <a:srgbClr val="404040"/>
                </a:solidFill>
                <a:latin typeface="Calibri"/>
              </a:rPr>
              <a:t>Payment Milestones: M1 Phase 1 mob | M2 Pilot Acceptance | M3 KPI Gate | M4 Go-Live + IP Transfer | M5 Hyper-care Exit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92040"/>
            <a:ext cx="11274552" cy="4114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110642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Year 2 - Year 5: Annual Maintenance Contract (renewable at each anniversary)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440679"/>
            <a:ext cx="11274552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KEY DATES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52159"/>
            <a:ext cx="4572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1E2761"/>
                </a:solidFill>
                <a:latin typeface="Calibri"/>
              </a:rPr>
              <a:t>Contract effective date: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852159"/>
            <a:ext cx="6400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TBC (assumes within 90 days of bid)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053327"/>
            <a:ext cx="4572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1E2761"/>
                </a:solidFill>
                <a:latin typeface="Calibri"/>
              </a:rPr>
              <a:t>Phase 1 Mobilisation: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6053327"/>
            <a:ext cx="6400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Week 4 (end Month 1)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54495"/>
            <a:ext cx="4572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1E2761"/>
                </a:solidFill>
                <a:latin typeface="Calibri"/>
              </a:rPr>
              <a:t>Phase 2 Pilot Live: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0" y="6254495"/>
            <a:ext cx="6400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Week 12 (end Month 3)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55663"/>
            <a:ext cx="4572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1E2761"/>
                </a:solidFill>
                <a:latin typeface="Calibri"/>
              </a:rPr>
              <a:t>Phase 3 KPI Gate: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6455663"/>
            <a:ext cx="6400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Week 16 (end Month 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656831"/>
            <a:ext cx="45720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Go-Live + IP Transfer + Final Acceptance: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0" y="6656831"/>
            <a:ext cx="6400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404040"/>
                </a:solidFill>
                <a:latin typeface="Calibri"/>
              </a:rPr>
              <a:t>Week 52 (end Month 12)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Commercials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Year 1 price + 5-Year Total Cost of Ownership for Maaden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577840" cy="2468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D4AF37"/>
                </a:solidFill>
                <a:latin typeface="Calibri"/>
              </a:rPr>
              <a:t>YEAR 1 - TOTAL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AED 2.98M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21208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Calibri"/>
              </a:rPr>
              <a:t>Build Fees: AED 2,841,125</a:t>
            </a:r>
          </a:p>
          <a:p>
            <a:r>
              <a:rPr sz="1200" b="0">
                <a:solidFill>
                  <a:srgbClr val="CADCFC"/>
                </a:solidFill>
                <a:latin typeface="Calibri"/>
              </a:rPr>
              <a:t>5% KSA WHT: AED 142,056</a:t>
            </a:r>
          </a:p>
          <a:p>
            <a:r>
              <a:rPr sz="1400" b="1">
                <a:solidFill>
                  <a:srgbClr val="D4AF37"/>
                </a:solidFill>
                <a:latin typeface="Calibri"/>
              </a:rPr>
              <a:t>TOTAL inc WHT: AED 2,983,181</a:t>
            </a:r>
          </a:p>
          <a:p>
            <a:r>
              <a:rPr sz="1200" b="1">
                <a:solidFill>
                  <a:srgbClr val="CADCFC"/>
                </a:solidFill>
                <a:latin typeface="Calibri"/>
              </a:rPr>
              <a:t>USD 812K  |  AUD 1.16M  |  SAR 3.04M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24688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5-YEAR TCO TO MAADEN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1206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5400" b="1" i="0">
                <a:solidFill>
                  <a:srgbClr val="1E2761"/>
                </a:solidFill>
                <a:latin typeface="Calibri"/>
              </a:rPr>
              <a:t>AED 4.91M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51206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1E2761"/>
                </a:solidFill>
                <a:latin typeface="Calibri"/>
              </a:rPr>
              <a:t>Y1 Build: AED 2.98M</a:t>
            </a:r>
          </a:p>
          <a:p>
            <a:r>
              <a:rPr sz="1200" b="0">
                <a:solidFill>
                  <a:srgbClr val="1E2761"/>
                </a:solidFill>
                <a:latin typeface="Calibri"/>
              </a:rPr>
              <a:t>Y2-5 Maintenance: AED 1.92M</a:t>
            </a:r>
          </a:p>
          <a:p>
            <a:r>
              <a:rPr sz="1400" b="1">
                <a:solidFill>
                  <a:srgbClr val="1E2761"/>
                </a:solidFill>
                <a:latin typeface="Calibri"/>
              </a:rPr>
              <a:t>TOTAL 5-YR TCO: AED 4,907,333</a:t>
            </a:r>
          </a:p>
          <a:p>
            <a:r>
              <a:rPr sz="1200" b="1">
                <a:solidFill>
                  <a:srgbClr val="1E2761"/>
                </a:solidFill>
                <a:latin typeface="Calibri"/>
              </a:rPr>
              <a:t>USD 1.34M (excl any rollout variations)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74552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0972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D4AF37"/>
                </a:solidFill>
                <a:latin typeface="Calibri"/>
              </a:rPr>
              <a:t>PHASE FEE BREAKDOWN (Year 1, ex WHT)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11274552" cy="320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5196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Setup + Mobilisation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519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W 1-4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25196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AED 232,687.50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81144"/>
            <a:ext cx="11274552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81144"/>
            <a:ext cx="1371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81144"/>
            <a:ext cx="5486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Pilot Module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58114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W 5-12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581144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AED 625,685.00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10328"/>
            <a:ext cx="11274552" cy="320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10328"/>
            <a:ext cx="1371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91032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Pilot Validation +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9103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W 13-16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910328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AED 269,832.50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9512"/>
            <a:ext cx="11274552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39512"/>
            <a:ext cx="1371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239512"/>
            <a:ext cx="5486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Full Rollout + IP Transfer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23951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Calibri"/>
              </a:rPr>
              <a:t>W 17-52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23951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1" i="0">
                <a:solidFill>
                  <a:srgbClr val="1E2761"/>
                </a:solidFill>
                <a:latin typeface="Calibri"/>
              </a:rPr>
              <a:t>AED 1,712,920.00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68696"/>
            <a:ext cx="11274552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568696"/>
            <a:ext cx="64008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D4AF37"/>
                </a:solidFill>
                <a:latin typeface="Calibri"/>
              </a:rPr>
              <a:t>YEAR 1 BUILD FEES SUBTOTAL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568696"/>
            <a:ext cx="2377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AED 2,841,125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071616"/>
            <a:ext cx="11274552" cy="3657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071616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VS COMPETITION  |  Bentley iTwin: SAR 90-130M 5-Yr  |  Cohesive: 100-150M  |  Hexagon: 95-140M  |  XDH: SAR 5M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1">
                <a:solidFill>
                  <a:srgbClr val="404040"/>
                </a:solidFill>
                <a:latin typeface="Calibri"/>
              </a:rPr>
              <a:t>Pricing is in AED. Bank account AED (UAE). Payment terms 20% mobilisation + 70% progress + 10% acceptance.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Risks &amp; Open Clarifications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 i="1">
                <a:solidFill>
                  <a:srgbClr val="CADCFC"/>
                </a:solidFill>
                <a:latin typeface="Calibri"/>
              </a:rPr>
              <a:t>10 must-ask questions and how we are protected if Maaden does not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858000" cy="5349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858000" cy="411480"/>
          </a:xfrm>
          <a:prstGeom prst="rect">
            <a:avLst/>
          </a:prstGeom>
          <a:solidFill>
            <a:srgbClr val="B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07008"/>
            <a:ext cx="66751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TOP 10 - MUST-ASK BEFORE BID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A.1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916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Implementation duration - SoW says "XX months" - blank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A.2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488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Phase 4 end date - "Weeks 17+" open-ended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060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B.1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060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Module timeline conflict - 8 weeks vs 17 weeks across SoW sections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B.4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632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Master sequencing of 5 modules in Year 1 vs Year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204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204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L.1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204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Is this ONE bidder or TWO (SoW has 2 vendor sections)?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77639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39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N.6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77639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Is UAE-incorporated XDH acceptable as Prime?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348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I.1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4348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Currency - AED, SAR, USD?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E.1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8920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How many users?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3492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492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E.2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3492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How much data (TB)?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64008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06440"/>
            <a:ext cx="640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 i="0">
                <a:solidFill>
                  <a:srgbClr val="D4AF37"/>
                </a:solidFill>
                <a:latin typeface="Calibri"/>
              </a:rPr>
              <a:t>D.1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806440"/>
            <a:ext cx="57607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Which KSA cloud provider preferred?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1188720"/>
            <a:ext cx="4233672" cy="5349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1280160"/>
            <a:ext cx="3931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 i="0">
                <a:solidFill>
                  <a:srgbClr val="D4AF37"/>
                </a:solidFill>
                <a:latin typeface="Calibri"/>
              </a:rPr>
              <a:t>HOW WE ARE PROTECTED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691640"/>
            <a:ext cx="39319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Stated XDH Assumption for each item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If Maaden does not answer, our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assumption defines bid scope</a:t>
            </a:r>
          </a:p>
          <a:p>
            <a:r>
              <a:rPr sz="800" b="0">
                <a:solidFill>
                  <a:srgbClr val="CADCFC"/>
                </a:solidFill>
                <a:latin typeface="Calibri"/>
              </a:rPr>
              <a:t/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Variation Clause 4 in T&amp;C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Scope change = re-priced under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Change Order procedure</a:t>
            </a:r>
          </a:p>
          <a:p>
            <a:r>
              <a:rPr sz="800" b="0">
                <a:solidFill>
                  <a:srgbClr val="CADCFC"/>
                </a:solidFill>
                <a:latin typeface="Calibri"/>
              </a:rPr>
              <a:t/>
            </a: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Phase Gate Reviews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Maaden can exit at end of each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phase - limits our delivery risk</a:t>
            </a:r>
          </a:p>
          <a:p>
            <a:r>
              <a:rPr sz="800" b="0">
                <a:solidFill>
                  <a:srgbClr val="CADCFC"/>
                </a:solidFill>
                <a:latin typeface="Calibri"/>
              </a:rPr>
              <a:t/>
            </a:r>
          </a:p>
          <a:p>
            <a:r>
              <a:rPr sz="1200" b="1">
                <a:solidFill>
                  <a:srgbClr val="D4AF37"/>
                </a:solidFill>
                <a:latin typeface="Calibri"/>
              </a:rPr>
              <a:t>Excluded items list (Section 7)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Maaden direct procurement: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AI APIs / Hosting / GPU /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3rd-party SW / Hardware</a:t>
            </a:r>
          </a:p>
          <a:p>
            <a:r>
              <a:rPr sz="1000" b="0">
                <a:solidFill>
                  <a:srgbClr val="CADCFC"/>
                </a:solidFill>
                <a:latin typeface="Calibri"/>
              </a:rPr>
              <a:t>  Indicative ~SAR 40-55M over 5y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1">
                <a:solidFill>
                  <a:srgbClr val="404040"/>
                </a:solidFill>
                <a:latin typeface="Calibri"/>
              </a:rPr>
              <a:t>Full RFI list (60 items) submitted with our bid - see "Maaden SoW - Clarifications + XDH Assumptions.xlsx"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Our Strategic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 i="1">
                <a:solidFill>
                  <a:srgbClr val="CADCFC"/>
                </a:solidFill>
                <a:latin typeface="Calibri"/>
              </a:rPr>
              <a:t>Why this is winnable, and what we need to do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6118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337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1. Land at low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3246120" cy="14173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Maaden has not bought from a UAE small/mid vendor before. We win on:
- AED 2.98M Y1 vs SAR 25-50M from Bentley/Cohesive/Hexagon
- 7-person lean team
- Flexible phase-gate commercial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36118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61188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337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2. Prove value at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246120" cy="14173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Phase 2 (Weeks 5-12) is where we prove capability:
- Module 3 AWP working on real ARGP data
- 4 production AI agents trained on Maaden data
- 5 KPI dashboards vs SoW Section 4 targets
- Acceptance gate W12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645920"/>
            <a:ext cx="354787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645920"/>
            <a:ext cx="354787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2735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Calibri"/>
              </a:rPr>
              <a:t>3. Expand into Year 2+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331720"/>
            <a:ext cx="3182112" cy="14173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Calibri"/>
              </a:rPr>
              <a:t>Once Y1 lands, expand via:
- M5 Procurement production (Y2 variation)
- Module 4 Phase 2 quality features
- Additional Maaden affiliates
- New CV / Digital Twin scope
- Multi-year recurring maintenance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Calibri"/>
              </a:rP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6984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1E2761"/>
                </a:solidFill>
                <a:latin typeface="Calibri"/>
              </a:rPr>
              <a:t>1.  Finalise the 4-file bid pack (Letter, PC, Manpower, PD) - 90% complete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2.  Fill Maaden Pricing Structure Template in their format - 1 day work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3.  Issue formal RFI with 60-item clarification list (with XDH assumptions for protection)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4.  Internal sign-off from CEO + CFO on commercial terms (margin, payment, retention)</a:t>
            </a:r>
          </a:p>
          <a:p>
            <a:r>
              <a:rPr sz="1200" b="1">
                <a:solidFill>
                  <a:srgbClr val="1E2761"/>
                </a:solidFill>
                <a:latin typeface="Calibri"/>
              </a:rPr>
              <a:t>5.  Submit bid to Maaden procurement via MS EPM (per SoW 3.4.7)</a:t>
            </a:r>
          </a:p>
          <a:p>
            <a:r>
              <a:rPr sz="1200" b="0">
                <a:solidFill>
                  <a:srgbClr val="404040"/>
                </a:solidFill>
                <a:latin typeface="Calibri"/>
              </a:rPr>
              <a:t>6.  Prepare for resource interviews (SoW 3.4.7 mandates Maaden interviews proposed team)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 i="1">
                <a:solidFill>
                  <a:srgbClr val="CADCFC"/>
                </a:solidFill>
                <a:latin typeface="Calibri"/>
              </a:rPr>
              <a:t>XD House LLC FZ  |  XDH-AE-Q26-05-00029  |  Internal Management Briefing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