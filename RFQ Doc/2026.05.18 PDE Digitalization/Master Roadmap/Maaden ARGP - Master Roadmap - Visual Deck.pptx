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C9A227"/>
                </a:solidFill>
                <a:latin typeface="Calibri"/>
              </a:rPr>
              <a:t>MASTER EXECUTION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Maaden ARGP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800" b="0" i="1">
                <a:solidFill>
                  <a:srgbClr val="C8C9D0"/>
                </a:solidFill>
                <a:latin typeface="Calibri"/>
              </a:rPr>
              <a:t>Digitalization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794760"/>
            <a:ext cx="32004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 i="0">
                <a:solidFill>
                  <a:srgbClr val="C8C9D0"/>
                </a:solidFill>
                <a:latin typeface="Calibri"/>
              </a:rPr>
              <a:t>Client:  Saudi Arabian Mining Company (Maaden)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 i="0">
                <a:solidFill>
                  <a:srgbClr val="C8C9D0"/>
                </a:solidFill>
                <a:latin typeface="Calibri"/>
              </a:rPr>
              <a:t>Project:  Ar Rjum Gold Project (ARGP), Kingdom of Saudi Arabia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 i="0">
                <a:solidFill>
                  <a:srgbClr val="C8C9D0"/>
                </a:solidFill>
                <a:latin typeface="Calibri"/>
              </a:rPr>
              <a:t>SoW Reference:  ARGP-DIGI-APP-SOW-001 Rev. 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 i="0">
                <a:solidFill>
                  <a:srgbClr val="C8C9D0"/>
                </a:solidFill>
                <a:latin typeface="Calibri"/>
              </a:rPr>
              <a:t>XDH Reference:  XDH-AE-Q26-05-00030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5780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 i="0">
                <a:solidFill>
                  <a:srgbClr val="C8C9D0"/>
                </a:solidFill>
                <a:latin typeface="Calibri"/>
              </a:rPr>
              <a:t>Version 1.0  |  02 July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C8C9D0"/>
                </a:solidFill>
                <a:latin typeface="Calibri"/>
              </a:rPr>
              <a:t>XD House LLC FZ  |  Digital Construction Consultancy  |  London . Dubai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400800"/>
            <a:ext cx="2743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0" i="1">
                <a:solidFill>
                  <a:srgbClr val="C9A227"/>
                </a:solidFill>
                <a:latin typeface="Calibri"/>
              </a:rPr>
              <a:t>Internal + Maaden PMO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8DA2FB9-F83A-9F8D-59B9-8C441B962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395" y="1594133"/>
            <a:ext cx="2911485" cy="24119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The roadmap in five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49427" y="1234440"/>
            <a:ext cx="2148840" cy="182880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49427" y="1417320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C9A227"/>
                </a:solidFill>
                <a:latin typeface="Calibri"/>
              </a:rPr>
              <a:t>10 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427" y="2194560"/>
            <a:ext cx="21488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27" y="2560320"/>
            <a:ext cx="2148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C8C9D0"/>
                </a:solidFill>
                <a:latin typeface="Calibri"/>
              </a:rPr>
              <a:t>W1-W40, 4 phases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5427" y="1234440"/>
            <a:ext cx="2148840" cy="182880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35427" y="1417320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C9A227"/>
                </a:solidFill>
                <a:latin typeface="Calibr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5427" y="2194560"/>
            <a:ext cx="21488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Lean team roles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5427" y="2560320"/>
            <a:ext cx="2148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C8C9D0"/>
                </a:solidFill>
                <a:latin typeface="Calibri"/>
              </a:rPr>
              <a:t>PM + Sol Arch + DBA + AI/ML + Sec + Module + Doc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1427" y="1234440"/>
            <a:ext cx="2148840" cy="182880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1427" y="1417320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C9A227"/>
                </a:solidFill>
                <a:latin typeface="Calibri"/>
              </a:rPr>
              <a:t>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427" y="2194560"/>
            <a:ext cx="21488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Tasks in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427" y="2560320"/>
            <a:ext cx="2148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C8C9D0"/>
                </a:solidFill>
                <a:latin typeface="Calibri"/>
              </a:rPr>
              <a:t>Every task with owner + software + hardware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07427" y="1234440"/>
            <a:ext cx="2148840" cy="182880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07427" y="1594890"/>
            <a:ext cx="2148840" cy="4678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lang="en-AE" sz="2800" b="1" i="0">
                <a:solidFill>
                  <a:srgbClr val="C9A227"/>
                </a:solidFill>
                <a:latin typeface="Calibri"/>
              </a:rPr>
              <a:t>6</a:t>
            </a:r>
            <a:endParaRPr sz="2800" b="1" i="0">
              <a:solidFill>
                <a:srgbClr val="C9A227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07427" y="2194560"/>
            <a:ext cx="2148840" cy="2369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lang="en-US" sz="1300" b="1" i="0">
                <a:solidFill>
                  <a:srgbClr val="FFFFFF"/>
                </a:solidFill>
                <a:latin typeface="Calibri"/>
              </a:rPr>
              <a:t>Quality Gates</a:t>
            </a:r>
            <a:endParaRPr sz="13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07427" y="2560320"/>
            <a:ext cx="21488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lang="en-US" sz="900" b="0" i="1">
                <a:solidFill>
                  <a:srgbClr val="C8C9D0"/>
                </a:solidFill>
                <a:latin typeface="Calibri"/>
              </a:rPr>
              <a:t>Independent verification at each phase close</a:t>
            </a:r>
            <a:endParaRPr sz="900" b="0" i="1">
              <a:solidFill>
                <a:srgbClr val="C8C9D0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593427" y="1234440"/>
            <a:ext cx="2148840" cy="182880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93427" y="1594890"/>
            <a:ext cx="2148840" cy="4678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lang="en-US" sz="2800" b="1" i="0">
                <a:solidFill>
                  <a:srgbClr val="C9A227"/>
                </a:solidFill>
                <a:latin typeface="Calibri"/>
              </a:rPr>
              <a:t>5 yr</a:t>
            </a:r>
            <a:endParaRPr sz="2800" b="1" i="0">
              <a:solidFill>
                <a:srgbClr val="C9A227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593427" y="2194560"/>
            <a:ext cx="2148840" cy="2369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lang="en-US" sz="1300" b="1" i="0">
                <a:solidFill>
                  <a:srgbClr val="FFFFFF"/>
                </a:solidFill>
                <a:latin typeface="Calibri"/>
              </a:rPr>
              <a:t>Support horizon</a:t>
            </a:r>
            <a:endParaRPr sz="13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593427" y="2560320"/>
            <a:ext cx="2148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C8C9D0"/>
                </a:solidFill>
                <a:latin typeface="Calibri"/>
              </a:rPr>
              <a:t>Build + 4 years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11277295" cy="310896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352044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700" b="1" i="0">
                <a:solidFill>
                  <a:srgbClr val="23242A"/>
                </a:solidFill>
                <a:latin typeface="Calibri"/>
              </a:rPr>
              <a:t>What this roadmap covers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4005072"/>
            <a:ext cx="274320" cy="27432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005072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23242A"/>
                </a:solidFill>
                <a:latin typeface="Calibri"/>
              </a:rPr>
              <a:t>  | 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77639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23242A"/>
                </a:solidFill>
                <a:latin typeface="Calibri"/>
              </a:rPr>
              <a:t>5 Modules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977639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CDE, Construction+AWP, Pre-Comm+MC, Quality, Procurement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" y="4352544"/>
            <a:ext cx="274320" cy="27432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352544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23242A"/>
                </a:solidFill>
                <a:latin typeface="Calibri"/>
              </a:rPr>
              <a:t>  |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325112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23242A"/>
                </a:solidFill>
                <a:latin typeface="Calibri"/>
              </a:rPr>
              <a:t>4 Phases per SoW 3.3.10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325112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Requirements (W1-4) | Pilot (W5-12) | Validation (W13-16) | Full Rollout (W17-40)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700016"/>
            <a:ext cx="274320" cy="27432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700016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23242A"/>
                </a:solidFill>
                <a:latin typeface="Calibri"/>
              </a:rPr>
              <a:t>  |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72583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23242A"/>
                </a:solidFill>
                <a:latin typeface="Calibri"/>
              </a:rPr>
              <a:t>10 enterprise integrations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672583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Aconex, Primavera P6, SAP S/4HANA, AVEVA PI, MS EPM, Azure AD, ADFS, SIEM, Outlook, ServiceNow</a:t>
            </a:r>
          </a:p>
        </p:txBody>
      </p:sp>
      <p:sp>
        <p:nvSpPr>
          <p:cNvPr id="39" name="Oval 38"/>
          <p:cNvSpPr/>
          <p:nvPr/>
        </p:nvSpPr>
        <p:spPr>
          <a:xfrm>
            <a:off x="685800" y="5047488"/>
            <a:ext cx="274320" cy="27432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5047488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23242A"/>
                </a:solidFill>
                <a:latin typeface="Calibri"/>
              </a:rPr>
              <a:t>  | 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5020055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23242A"/>
                </a:solidFill>
                <a:latin typeface="Calibri"/>
              </a:rPr>
              <a:t>4 AI Agents per SoW 3.3.4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020055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Progress Verification, RFI Turnaround, Schedule Risk, Punch List Escalation</a:t>
            </a:r>
          </a:p>
        </p:txBody>
      </p:sp>
      <p:sp>
        <p:nvSpPr>
          <p:cNvPr id="43" name="Oval 42"/>
          <p:cNvSpPr/>
          <p:nvPr/>
        </p:nvSpPr>
        <p:spPr>
          <a:xfrm>
            <a:off x="685800" y="5394959"/>
            <a:ext cx="274320" cy="27432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" y="5394959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23242A"/>
                </a:solidFill>
                <a:latin typeface="Calibri"/>
              </a:rPr>
              <a:t>  | 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5367527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23242A"/>
                </a:solidFill>
                <a:latin typeface="Calibri"/>
              </a:rPr>
              <a:t>25 KSA compliance items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5367527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NCA ECC-1:2018, PDPL, CST CCRF, ISO 27001</a:t>
            </a:r>
          </a:p>
        </p:txBody>
      </p:sp>
      <p:sp>
        <p:nvSpPr>
          <p:cNvPr id="47" name="Oval 46"/>
          <p:cNvSpPr/>
          <p:nvPr/>
        </p:nvSpPr>
        <p:spPr>
          <a:xfrm>
            <a:off x="685800" y="5742431"/>
            <a:ext cx="274320" cy="27432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" y="5742431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23242A"/>
                </a:solidFill>
                <a:latin typeface="Calibri"/>
              </a:rPr>
              <a:t>  | 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5714999"/>
            <a:ext cx="320040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n-US" sz="1200" b="1" i="0">
                <a:solidFill>
                  <a:srgbClr val="23242A"/>
                </a:solidFill>
                <a:latin typeface="Calibri"/>
              </a:rPr>
              <a:t>6 Quality Gates with acceptance criteria</a:t>
            </a:r>
            <a:endParaRPr sz="1200" b="1" i="0">
              <a:solidFill>
                <a:srgbClr val="23242A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389120" y="5714999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G1 W4, G2 W12, G3 W16, G4 W24, G5 W29, G6 W40</a:t>
            </a:r>
          </a:p>
        </p:txBody>
      </p:sp>
      <p:sp>
        <p:nvSpPr>
          <p:cNvPr id="51" name="Oval 50"/>
          <p:cNvSpPr/>
          <p:nvPr/>
        </p:nvSpPr>
        <p:spPr>
          <a:xfrm>
            <a:off x="685800" y="6089903"/>
            <a:ext cx="274320" cy="27432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6089903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23242A"/>
                </a:solidFill>
                <a:latin typeface="Calibri"/>
              </a:rPr>
              <a:t>  | 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" y="6062471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23242A"/>
                </a:solidFill>
                <a:latin typeface="Calibri"/>
              </a:rPr>
              <a:t>Year 2-5 maintenance model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6062471"/>
            <a:ext cx="731520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fr-FR" sz="1000" b="0" i="0">
                <a:solidFill>
                  <a:srgbClr val="16171B"/>
                </a:solidFill>
                <a:latin typeface="Calibri"/>
              </a:rPr>
              <a:t>13 support activities, SLA P1-P4, L1/L2/L3 tiers</a:t>
            </a:r>
            <a:endParaRPr sz="1000" b="0" i="0">
              <a:solidFill>
                <a:srgbClr val="16171B"/>
              </a:solidFill>
              <a:latin typeface="Calibri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2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Client &amp; Project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A flagship greenfield mining project for KSA Vision 2030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THE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 i="0">
                <a:solidFill>
                  <a:srgbClr val="23242A"/>
                </a:solidFill>
                <a:latin typeface="Calibri"/>
              </a:rPr>
              <a:t>Maaden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5029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 i="1">
                <a:solidFill>
                  <a:srgbClr val="6B6D76"/>
                </a:solidFill>
                <a:latin typeface="Calibri"/>
              </a:rPr>
              <a:t>Saudi Arabian Mining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6171B"/>
                </a:solidFill>
                <a:latin typeface="Calibri"/>
              </a:rPr>
              <a:t>Established: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99232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  1997 (state-owned KSA mining giant)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55264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3511296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6171B"/>
                </a:solidFill>
                <a:latin typeface="Calibri"/>
              </a:rPr>
              <a:t>Business scale: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67328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  USD 20B+ annual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  Employs 12,000+ staff globally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79392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  Listed on Saudi Exchange (Tadawul)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535424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791456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6171B"/>
                </a:solidFill>
                <a:latin typeface="Calibri"/>
              </a:rPr>
              <a:t>This project sponsor: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47488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  Maaden ICT + Maaden PMO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  Strategic sponsor: Maaden CIO + CFO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188720"/>
            <a:ext cx="5333695" cy="512064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48463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691640"/>
            <a:ext cx="484632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Ar Rjum Gold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240280"/>
            <a:ext cx="48463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 i="1">
                <a:solidFill>
                  <a:srgbClr val="C8C9D0"/>
                </a:solidFill>
                <a:latin typeface="Calibri"/>
              </a:rPr>
              <a:t>ARGP - flagship greenfield mining +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743200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C8C9D0"/>
                </a:solidFill>
                <a:latin typeface="Calibri"/>
              </a:rPr>
              <a:t>Location: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Location: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999232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Ar Rjum, Kingdom of Saudi Arabia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255264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66560" y="3511296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C8C9D0"/>
                </a:solidFill>
                <a:latin typeface="Calibri"/>
              </a:rPr>
              <a:t>Strategic importance: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511296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Strategic importance: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767328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Cornerstone of Maaden growth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023360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Key contributor to Saudi Vision 2030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279392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Blueprint for future Maaden mega-projects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535424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0" y="4791456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C8C9D0"/>
                </a:solidFill>
                <a:latin typeface="Calibri"/>
              </a:rPr>
              <a:t>Digital scope: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791456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Digital scope: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5047488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AI-enabled digitalization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5303520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From design through to startup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559552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Schedule certainty + capital efficiency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537960"/>
            <a:ext cx="10515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6B6D76"/>
                </a:solidFill>
                <a:latin typeface="Calibri"/>
              </a:rPr>
              <a:t>Source: SoW ARGP-DIGI-APP-SOW-001 Section 1.1 (Project Overview) and 1.2 (Strategic Importance)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3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[Client] Six strategic outcomes per SoW Section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3794760" cy="246888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97380" y="1234439"/>
            <a:ext cx="914400" cy="91440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97380" y="1234439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23242A"/>
                </a:solidFill>
                <a:latin typeface="Calibri"/>
              </a:rPr>
              <a:t>UNIFIED DATA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Single source of truth for ARGP. Break silos across stakeholders.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051560"/>
            <a:ext cx="3794760" cy="246888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829300" y="1234439"/>
            <a:ext cx="914400" cy="91440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29300" y="1234439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28600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23242A"/>
                </a:solidFill>
                <a:latin typeface="Calibri"/>
              </a:rPr>
              <a:t>PREDICTIVE PROJECT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69748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AI/ML for proactive insight into schedule, cost, quality, safety.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051560"/>
            <a:ext cx="3794760" cy="246888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761220" y="1234439"/>
            <a:ext cx="914400" cy="9144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61220" y="1234439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28600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23242A"/>
                </a:solidFill>
                <a:latin typeface="Calibri"/>
              </a:rPr>
              <a:t>DIGITAL WORKFACE TRANSFORMATION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69748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Digital work packaging, constraints, real-time progress validation.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57600"/>
            <a:ext cx="3794760" cy="246888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897380" y="3840480"/>
            <a:ext cx="914400" cy="914400"/>
          </a:xfrm>
          <a:prstGeom prst="ellipse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97380" y="384048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23242A"/>
                </a:solidFill>
                <a:latin typeface="Calibri"/>
              </a:rPr>
              <a:t>SEAMLESS DIGITAL HANDOVER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Data-rich transition from construction to commissioning. Auto MC Dossier.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794760" cy="246888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829300" y="3840480"/>
            <a:ext cx="914400" cy="9144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29300" y="384048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23242A"/>
                </a:solidFill>
                <a:latin typeface="Calibri"/>
              </a:rPr>
              <a:t>KSA COMPLIANCE +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NCA ECC, PDPL, CST CCRF. In-Kingdom hosting. 24/7 SOC monitoring.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657600"/>
            <a:ext cx="3794760" cy="246888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761220" y="3840480"/>
            <a:ext cx="914400" cy="914400"/>
          </a:xfrm>
          <a:prstGeom prst="ellipse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61220" y="384048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23242A"/>
                </a:solidFill>
                <a:latin typeface="Calibri"/>
              </a:rPr>
              <a:t>REPLICABLE BLUEPRINT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Template for future Maaden mega-projects. Modular, scalable design.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4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 Core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[Client] The digital platform structure per SoW Section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0" cy="9144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051560"/>
            <a:ext cx="10241280" cy="9144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0" y="1143000"/>
            <a:ext cx="9875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23242A"/>
                </a:solidFill>
                <a:latin typeface="Calibri"/>
              </a:rPr>
              <a:t>Common Data Environment (CDE) + Engineering Data 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0876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Federated Model Viewer, Doc Mgmt, Intelligent P&amp;ID, Master Data Registry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91440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057400"/>
            <a:ext cx="10241280" cy="9144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5920" y="2148840"/>
            <a:ext cx="9875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23242A"/>
                </a:solidFill>
                <a:latin typeface="Calibri"/>
              </a:rPr>
              <a:t>Construction Management + AWP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1460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Digital Work Packaging (EWP/CWP/IWP), Constraint Kanban, Progress Measurement, Timesheets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914400" cy="914400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06324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3063240"/>
            <a:ext cx="10241280" cy="9144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45920" y="3154680"/>
            <a:ext cx="9875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23242A"/>
                </a:solidFill>
                <a:latin typeface="Calibri"/>
              </a:rPr>
              <a:t>Pre-Commissioning + Mechanical Completion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52044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Digital Pre-Comm Plan, MC Dossier Assembly, Digital Check Sheets, Punch List Database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69080"/>
            <a:ext cx="914400" cy="914400"/>
          </a:xfrm>
          <a:prstGeom prst="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06908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4069080"/>
            <a:ext cx="10241280" cy="9144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" y="4160520"/>
            <a:ext cx="9875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23242A"/>
                </a:solidFill>
                <a:latin typeface="Calibri"/>
              </a:rPr>
              <a:t>Quality Management + Assurance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52628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NCR management, ITP tracking, welding QA, NDT records, supplier quality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074920"/>
            <a:ext cx="914400" cy="9144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507492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63040" y="5074920"/>
            <a:ext cx="10241280" cy="9144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45920" y="5166360"/>
            <a:ext cx="9875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23242A"/>
                </a:solidFill>
                <a:latin typeface="Calibri"/>
              </a:rPr>
              <a:t>Procurement + Supply Chain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3212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MRQ/RFQ workflows, PO tracking (SAP integration), expediting, inspection 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5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4-Phase Delivery per SoW 3.3.10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[Client] W1-W40 Year 1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707" y="1097280"/>
            <a:ext cx="2743200" cy="493776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6587" y="1234440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587" y="201168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587" y="233172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W1-W4</a:t>
            </a:r>
          </a:p>
        </p:txBody>
      </p:sp>
      <p:sp>
        <p:nvSpPr>
          <p:cNvPr id="9" name="Rectangle 8"/>
          <p:cNvSpPr/>
          <p:nvPr/>
        </p:nvSpPr>
        <p:spPr>
          <a:xfrm>
            <a:off x="586587" y="2697480"/>
            <a:ext cx="23774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6587" y="2834640"/>
            <a:ext cx="2377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REQUIREMENTS +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587" y="3383280"/>
            <a:ext cx="2377440" cy="1920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Kickoff, BEP v1.0, requirements workshops for 5 modules, KSA cloud provisioning (Azure Riyadh), NCA ECC baseline, enterprise integrations design.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6587" y="5623560"/>
            <a:ext cx="2377440" cy="320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6587" y="562356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i="0">
                <a:solidFill>
                  <a:srgbClr val="2C5F8A"/>
                </a:solidFill>
                <a:latin typeface="Calibri"/>
              </a:rPr>
              <a:t>5.5 FTE peak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84067" y="1097280"/>
            <a:ext cx="2743200" cy="4937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66947" y="1234440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6947" y="201168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6947" y="233172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W5-W12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66947" y="2697480"/>
            <a:ext cx="23774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66947" y="2834640"/>
            <a:ext cx="2377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PILOT MODULE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6947" y="3383280"/>
            <a:ext cx="2377440" cy="1920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M2 AWP + M3 Pre-Comm pilot on selected ARGP area. Integrations built (Aconex, P6, SAP, AVEVA). 4 AI Agents. UAT prep + super-user training.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66947" y="5623560"/>
            <a:ext cx="2377440" cy="320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66947" y="562356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i="0">
                <a:solidFill>
                  <a:srgbClr val="2E7D32"/>
                </a:solidFill>
                <a:latin typeface="Calibri"/>
              </a:rPr>
              <a:t>15 FTE peak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4427" y="1097280"/>
            <a:ext cx="2743200" cy="4937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47307" y="1234440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7307" y="201168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307" y="233172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W13-W16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7307" y="2697480"/>
            <a:ext cx="23774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47307" y="2834640"/>
            <a:ext cx="2377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VALIDATION +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7307" y="3383280"/>
            <a:ext cx="2377440" cy="1920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KPI measurement live. User training rolled out (super, end, ICT). Defect remediation. Pilot Acceptance Memo signed.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47307" y="5623560"/>
            <a:ext cx="2377440" cy="320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47307" y="562356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i="0">
                <a:solidFill>
                  <a:srgbClr val="C9A227"/>
                </a:solidFill>
                <a:latin typeface="Calibri"/>
              </a:rPr>
              <a:t>6.5 FTE peak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44787" y="1097280"/>
            <a:ext cx="2743200" cy="4937760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27667" y="1234440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27667" y="201168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7667" y="233172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W17-W40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27667" y="2697480"/>
            <a:ext cx="23774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227667" y="2834640"/>
            <a:ext cx="2377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FULL-SCALE ROLLOUT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27667" y="3383280"/>
            <a:ext cx="2377440" cy="1920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M1 CDE, M4 Quality, M5 Procurement rolled to entire ARGP. Performance tuning at 500+ users. Doc pack. Knowledge transfer to Maaden ICT. Final Acceptance.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27667" y="5623560"/>
            <a:ext cx="2377440" cy="320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27667" y="562356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i="0">
                <a:solidFill>
                  <a:srgbClr val="B26A00"/>
                </a:solidFill>
                <a:latin typeface="Calibri"/>
              </a:rPr>
              <a:t>8 FTE peak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6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Year 1 Programme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[XDH] 40-week Gantt with phase overlaps and quality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W1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08426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W4</a:t>
            </a:r>
          </a:p>
        </p:txBody>
      </p:sp>
      <p:sp>
        <p:nvSpPr>
          <p:cNvPr id="8" name="Rectangle 7"/>
          <p:cNvSpPr/>
          <p:nvPr/>
        </p:nvSpPr>
        <p:spPr>
          <a:xfrm>
            <a:off x="3591306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5394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8274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82362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65242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69330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2210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56298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9178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43266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6146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30234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3113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17202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00082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04170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W36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87050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391138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23242A"/>
                </a:solidFill>
                <a:latin typeface="Calibri"/>
              </a:rPr>
              <a:t>W40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74017" y="1554480"/>
            <a:ext cx="9144" cy="4114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1783080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Phase 1: Requirements + Env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1783080"/>
            <a:ext cx="886968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926080" y="1783080"/>
            <a:ext cx="886968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W1-4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2304288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Phase 2: Pilot (M2 + M3)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3048" y="2304288"/>
            <a:ext cx="1773936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13048" y="2304288"/>
            <a:ext cx="1773936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W5-12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2825496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Phase 3: Validation + Training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86984" y="2825496"/>
            <a:ext cx="886968" cy="4114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86984" y="2825496"/>
            <a:ext cx="886968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W13-16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3346704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Phase 4a: M1 CDE + M2/M3 full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73952" y="3346704"/>
            <a:ext cx="1773936" cy="411480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73952" y="3346704"/>
            <a:ext cx="1773936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W17-24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3867912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Phase 4b: M4 Quality full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20" y="3867912"/>
            <a:ext cx="1995678" cy="411480"/>
          </a:xfrm>
          <a:prstGeom prst="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60920" y="3867912"/>
            <a:ext cx="1995678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W21-29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4389120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Phase 4c: M5 Procurement full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47888" y="4389120"/>
            <a:ext cx="1773936" cy="4114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47888" y="4389120"/>
            <a:ext cx="1773936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W25-32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4910328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Phase 4d: Handover + Docs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21824" y="4910328"/>
            <a:ext cx="1773936" cy="411480"/>
          </a:xfrm>
          <a:prstGeom prst="rect">
            <a:avLst/>
          </a:prstGeom>
          <a:solidFill>
            <a:srgbClr val="6B6D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021824" y="4910328"/>
            <a:ext cx="1773936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W33-40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568696"/>
            <a:ext cx="11430000" cy="2743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65760" y="5614416"/>
            <a:ext cx="274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QUALITY GATES: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16986" y="5934456"/>
            <a:ext cx="548640" cy="5486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16986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42666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23242A"/>
                </a:solidFill>
                <a:latin typeface="Calibri"/>
              </a:rPr>
              <a:t>Requirements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90922" y="5934456"/>
            <a:ext cx="548640" cy="5486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090922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16602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23242A"/>
                </a:solidFill>
                <a:latin typeface="Calibri"/>
              </a:rPr>
              <a:t>Pilot UAT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77890" y="5934456"/>
            <a:ext cx="548640" cy="5486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77890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03570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23242A"/>
                </a:solidFill>
                <a:latin typeface="Calibri"/>
              </a:rPr>
              <a:t>Pilot Accept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51825" y="5934456"/>
            <a:ext cx="548640" cy="5486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751825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7505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23242A"/>
                </a:solidFill>
                <a:latin typeface="Calibri"/>
              </a:rPr>
              <a:t>M1+M2/M3 live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60536" y="5934456"/>
            <a:ext cx="548640" cy="5486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860536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86215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23242A"/>
                </a:solidFill>
                <a:latin typeface="Calibri"/>
              </a:rPr>
              <a:t>M4 live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299697" y="5934456"/>
            <a:ext cx="548640" cy="5486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1299697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25377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23242A"/>
                </a:solidFill>
                <a:latin typeface="Calibri"/>
              </a:rPr>
              <a:t>FINAL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537960"/>
            <a:ext cx="10515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6B6D76"/>
                </a:solidFill>
                <a:latin typeface="Calibri"/>
              </a:rPr>
              <a:t>PO effective 05 Jan 2026 assumed. All dates cascade from PO date.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7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Team Composition  |  7 Lean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[XDH] Total 77 person-months across Year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5394960" cy="1234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94360" y="1188719"/>
            <a:ext cx="594360" cy="594360"/>
          </a:xfrm>
          <a:prstGeom prst="ellipse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188719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143000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Programme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463039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B6D76"/>
                </a:solidFill>
                <a:latin typeface="Calibri"/>
              </a:rPr>
              <a:t>Very Senior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188719"/>
            <a:ext cx="1371600" cy="50292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315719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12 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8308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Overall delivery, client interface, escalation, phase gates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051560"/>
            <a:ext cx="5394960" cy="1234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217920" y="1188719"/>
            <a:ext cx="594360" cy="59436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188719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1143000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Solution Architect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1463039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B6D76"/>
                </a:solidFill>
                <a:latin typeface="Calibri"/>
              </a:rPr>
              <a:t>Very Senior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12680" y="1188719"/>
            <a:ext cx="1371600" cy="50292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12680" y="1315719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13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178308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Architecture, tech stack, enterprise integrations, code reviews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377440"/>
            <a:ext cx="5394960" cy="1234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94360" y="2514600"/>
            <a:ext cx="594360" cy="59436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2514600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2468880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Database Administrator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788920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B6D76"/>
                </a:solidFill>
                <a:latin typeface="Calibri"/>
              </a:rPr>
              <a:t>Senior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2514600"/>
            <a:ext cx="1371600" cy="50292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89120" y="2641600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11.5 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10896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Data model, KSA cloud, backups, patching, performance tuning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2377440"/>
            <a:ext cx="5394960" cy="1234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217920" y="2514600"/>
            <a:ext cx="594360" cy="594360"/>
          </a:xfrm>
          <a:prstGeom prst="ellipse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17920" y="2514600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2468880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AI/ML Engineer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2788920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B6D76"/>
                </a:solidFill>
                <a:latin typeface="Calibri"/>
              </a:rPr>
              <a:t>Senior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12680" y="2514600"/>
            <a:ext cx="1371600" cy="50292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12680" y="2641600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11 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10896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4 AI Agents: Progress, RFI, Schedule Risk, Punch List Escalation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703320"/>
            <a:ext cx="5394960" cy="1234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594360" y="3840480"/>
            <a:ext cx="594360" cy="59436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94360" y="3840480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0160" y="3794759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KSA Compliance / Security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4114800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B6D76"/>
                </a:solidFill>
                <a:latin typeface="Calibri"/>
              </a:rPr>
              <a:t>Senior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840480"/>
            <a:ext cx="1371600" cy="50292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389120" y="3967480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5.5 mo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443484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NCA ECC, PDPL, CST CCRF, SIEM, pen test, audits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80760" y="3703320"/>
            <a:ext cx="5394960" cy="1234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6217920" y="3840480"/>
            <a:ext cx="594360" cy="59436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0" y="3840480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3720" y="3794759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Module Specialist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3720" y="4114800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B6D76"/>
                </a:solidFill>
                <a:latin typeface="Calibri"/>
              </a:rPr>
              <a:t>Senior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12680" y="3840480"/>
            <a:ext cx="1371600" cy="50292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012680" y="3967480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12 mo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43484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Functional depth in M1-M5, business analysis, UAT lead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5029200"/>
            <a:ext cx="5394960" cy="1234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94360" y="5166360"/>
            <a:ext cx="594360" cy="594360"/>
          </a:xfrm>
          <a:prstGeom prst="ellipse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94360" y="5166360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5120640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Documents Controller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5440680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B6D76"/>
                </a:solidFill>
                <a:latin typeface="Calibri"/>
              </a:rPr>
              <a:t>Senior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120" y="5166360"/>
            <a:ext cx="1371600" cy="50292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389120" y="5293360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12 mo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" y="576072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BEP, MC Dossier, training materials, user + admin manuals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0760" y="5029200"/>
            <a:ext cx="5394960" cy="1234440"/>
          </a:xfrm>
          <a:prstGeom prst="round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355080" y="5166360"/>
            <a:ext cx="48463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Y1 TEAM TOTALS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55080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77 person-months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55080" y="58521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C8C9D0"/>
                </a:solidFill>
                <a:latin typeface="Calibri"/>
              </a:rPr>
              <a:t>7 specialist roles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8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[XDH proposed] 40+ tools across dev, cloud, AI, integration,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3794760" cy="25146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188719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CLOUD PLATFORM (KSA)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5544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Microsoft Azure Riyadh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SQL / Cosmos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59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Sentinel (SIEM)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51560"/>
            <a:ext cx="3794760" cy="2514600"/>
          </a:xfrm>
          <a:prstGeom prst="round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1188719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AI + 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15544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17373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Anthropic Claude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859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HuggingFace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5603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MLflow + Databricks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051560"/>
            <a:ext cx="3794760" cy="2514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1188719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ENTERPRISE INTEGRATIONS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15544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0" y="17373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Oracle Aconex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0116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Primavera P6 EPPM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2859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SAP S/4HANA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5603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AVEVA PI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83463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Microsoft EPM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10895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AD / ADFS SSO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03320"/>
            <a:ext cx="3794760" cy="251460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3840480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DEV + CI/CD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2062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38912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GitHub Enterprise + Copilot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6344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DevOps Pipelines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5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VS Code + JetBrains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2120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Node.js + TypeScript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4863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React + Next.js + Tailwind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9120" y="3703320"/>
            <a:ext cx="3794760" cy="2514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26280" y="3840480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SECURITY + MONITORING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6280" y="42062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0" y="438912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Sentinel SIEM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66344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Burp Suite (external pen)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93775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OWASP ZAP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52120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Datadog APM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54863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PagerDuty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21040" y="3703320"/>
            <a:ext cx="3794760" cy="2514600"/>
          </a:xfrm>
          <a:prstGeom prst="round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58200" y="3840480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BIM / CAD (M1)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58200" y="42062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503920" y="438912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Autodesk Navisworks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466344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Autodesk Revit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03920" y="493775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Autodesk Plant 3D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52120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APS / Forge Viewer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20" y="54863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IFC.js / xeokit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9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Enterprise Integrations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[Client] 10 systems the platform must integrate with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2743200"/>
            <a:ext cx="2468880" cy="14630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0" y="2834640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23242A"/>
                </a:solidFill>
                <a:latin typeface="Calibri"/>
              </a:rPr>
              <a:t>ARGP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54680"/>
            <a:ext cx="246888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23242A"/>
                </a:solidFill>
                <a:latin typeface="Calibri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794760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23242A"/>
                </a:solidFill>
                <a:latin typeface="Calibri"/>
              </a:rPr>
              <a:t>(Single source of truth)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1280160"/>
            <a:ext cx="1828800" cy="7315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13533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Oracle Aconex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645919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Documents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280160"/>
            <a:ext cx="1828800" cy="7315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0" y="13533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Primavera P6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45919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Schedules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1828800" cy="731520"/>
          </a:xfrm>
          <a:prstGeom prst="round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13533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SAP S/4HANA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45919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ERP + 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0" y="2743200"/>
            <a:ext cx="1828800" cy="731520"/>
          </a:xfrm>
          <a:prstGeom prst="round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241280" y="281635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AVEVA 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10896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Real-time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0" y="4160520"/>
            <a:ext cx="1828800" cy="7315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241280" y="423367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MS EPM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452628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5394960"/>
            <a:ext cx="1828800" cy="731520"/>
          </a:xfrm>
          <a:prstGeom prst="roundRect">
            <a:avLst/>
          </a:prstGeom>
          <a:solidFill>
            <a:srgbClr val="6B6D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0" y="54681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ServiceNow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76072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ITSM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0" y="5394960"/>
            <a:ext cx="1828800" cy="7315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37760" y="54681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Outlook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76072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394960"/>
            <a:ext cx="1828800" cy="7315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828800" y="54681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76072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Sec logs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" y="4160520"/>
            <a:ext cx="1828800" cy="731520"/>
          </a:xfrm>
          <a:prstGeom prst="round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" y="423367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Azure 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452628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SSO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" y="2743200"/>
            <a:ext cx="1828800" cy="731520"/>
          </a:xfrm>
          <a:prstGeom prst="round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0040" y="281635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ADFS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310896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IAM Federation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309360"/>
            <a:ext cx="11430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1">
                <a:solidFill>
                  <a:srgbClr val="6B6D76"/>
                </a:solidFill>
                <a:latin typeface="Calibri"/>
              </a:rPr>
              <a:t>Protocols: REST/OAuth 2.0, SAP OData, SAML 2.0 for SSO, AVEVA PI Web API. All integrations built in Phase 1-2.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10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4 AI Agents per SoW 3.3.4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[Client mandated] AI-powered capabilities in the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5623560" cy="26060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914400" cy="91440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188719"/>
            <a:ext cx="42062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23242A"/>
                </a:solidFill>
                <a:latin typeface="Calibri"/>
              </a:rPr>
              <a:t>Progress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645919"/>
            <a:ext cx="42062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2C5F8A"/>
                </a:solidFill>
                <a:latin typeface="Calibri"/>
              </a:rPr>
              <a:t>Anthropic Claude +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521208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Ingests IWP completion data + site photos + timesheets. Auto-produces daily progress % per work package.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051560"/>
            <a:ext cx="5623560" cy="26060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92240" y="1234439"/>
            <a:ext cx="914400" cy="91440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39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188719"/>
            <a:ext cx="42062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23242A"/>
                </a:solidFill>
                <a:latin typeface="Calibri"/>
              </a:rPr>
              <a:t>RFI Turnaround Predictor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645919"/>
            <a:ext cx="42062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C9A227"/>
                </a:solidFill>
                <a:latin typeface="Calibri"/>
              </a:rPr>
              <a:t>Claude + XGBoost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286000"/>
            <a:ext cx="521208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Classifies incoming RFIs by priority, predicts likely turnaround time, escalates aged items.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94760"/>
            <a:ext cx="5623560" cy="26060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40080" y="3977640"/>
            <a:ext cx="914400" cy="914400"/>
          </a:xfrm>
          <a:prstGeom prst="ellipse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397764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931920"/>
            <a:ext cx="42062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23242A"/>
                </a:solidFill>
                <a:latin typeface="Calibri"/>
              </a:rPr>
              <a:t>Schedule Risk Forecast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389120"/>
            <a:ext cx="42062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A3D9A"/>
                </a:solidFill>
                <a:latin typeface="Calibri"/>
              </a:rPr>
              <a:t>Prophet + XGBoost + Claude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29200"/>
            <a:ext cx="521208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ML model on historical schedule + productivity. Forecasts likely completion date, highlights risks.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794760"/>
            <a:ext cx="5623560" cy="26060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492240" y="3977640"/>
            <a:ext cx="914400" cy="9144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40" y="397764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931920"/>
            <a:ext cx="42062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23242A"/>
                </a:solidFill>
                <a:latin typeface="Calibri"/>
              </a:rPr>
              <a:t>Punch List Escalation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389120"/>
            <a:ext cx="42062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C62828"/>
                </a:solidFill>
                <a:latin typeface="Calibri"/>
              </a:rPr>
              <a:t>Claude + rules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029200"/>
            <a:ext cx="521208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6171B"/>
                </a:solidFill>
                <a:latin typeface="Calibri"/>
              </a:rPr>
              <a:t>Scores every punch item on age + severity + system criticality. Auto-escalates blocking items.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11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KSA Compliance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[Client mandated] Four regulatory pillars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707" y="1051560"/>
            <a:ext cx="2743200" cy="5029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0867" y="1188719"/>
            <a:ext cx="2468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NCA ECC-1:2018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1645919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Cybersecurity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867" y="20116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0867" y="2148839"/>
            <a:ext cx="2468880" cy="2560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National Cybersecurity Authority Essential Cybersecurity Controls. IAM, encryption, incident response, SIEM.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867" y="4846320"/>
            <a:ext cx="2468880" cy="109728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2307" y="49377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 i="0">
                <a:solidFill>
                  <a:srgbClr val="C9A227"/>
                </a:solidFill>
                <a:latin typeface="Calibri"/>
              </a:rPr>
              <a:t>Requirements: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" y="5212079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10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Sign-off: External auditor annual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84067" y="1051560"/>
            <a:ext cx="2743200" cy="5029200"/>
          </a:xfrm>
          <a:prstGeom prst="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1227" y="1188719"/>
            <a:ext cx="2468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PDPL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1227" y="1645919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Data Privacy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1227" y="20116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21227" y="2148839"/>
            <a:ext cx="2468880" cy="2560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Personal Data Protection Law from SDAIA. DPIA required. Data subject rights. Consent management.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1227" y="4846320"/>
            <a:ext cx="2468880" cy="109728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12667" y="49377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 i="0">
                <a:solidFill>
                  <a:srgbClr val="C9A227"/>
                </a:solidFill>
                <a:latin typeface="Calibri"/>
              </a:rPr>
              <a:t>Requirements: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2667" y="5212079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8 controls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2667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Sign-off: DPO + attestation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4427" y="1051560"/>
            <a:ext cx="2743200" cy="5029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01587" y="1188719"/>
            <a:ext cx="2468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CST CCRF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1587" y="1645919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Cloud Framework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1587" y="20116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01587" y="2148839"/>
            <a:ext cx="2468880" cy="2560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Cloud Computing Regulatory Framework. In-Kingdom hosting mandatory. Level 1-4 classification.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1587" y="4846320"/>
            <a:ext cx="2468880" cy="109728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93027" y="49377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 i="0">
                <a:solidFill>
                  <a:srgbClr val="C9A227"/>
                </a:solidFill>
                <a:latin typeface="Calibri"/>
              </a:rPr>
              <a:t>Requirements: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3027" y="5212079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4 controls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3027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Sign-off: CST filing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44787" y="1051560"/>
            <a:ext cx="2743200" cy="5029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81947" y="1188719"/>
            <a:ext cx="2468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ISO 27001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1947" y="1645919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Info Security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81947" y="20116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81947" y="2148839"/>
            <a:ext cx="2468880" cy="2560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International standard. Pre-audit in Y1, full certification in Y2.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81947" y="4846320"/>
            <a:ext cx="2468880" cy="109728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73387" y="49377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 i="0">
                <a:solidFill>
                  <a:srgbClr val="C9A227"/>
                </a:solidFill>
                <a:latin typeface="Calibri"/>
              </a:rPr>
              <a:t>Requirements: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73387" y="5212079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3 controls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3387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Sign-off: ISO auditor Y2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263640"/>
            <a:ext cx="11430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0" i="1">
                <a:solidFill>
                  <a:srgbClr val="6B6D76"/>
                </a:solidFill>
                <a:latin typeface="Calibri"/>
              </a:rPr>
              <a:t>Total 25 compliance controls tracked in Master Roadmap KSA Compliance sheet.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12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0626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n-US" sz="2400" b="1" i="0">
                <a:solidFill>
                  <a:srgbClr val="FFFFFF"/>
                </a:solidFill>
                <a:latin typeface="Calibri"/>
              </a:rPr>
              <a:t>6 Quality Gates  |  Acceptance Criteria</a:t>
            </a:r>
            <a:endParaRPr sz="24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[XDH proposed] Aligned with SoW 3.3.10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822960" cy="77724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5880" y="1051560"/>
            <a:ext cx="1097280" cy="77724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25880" y="1051560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C9A227"/>
                </a:solidFill>
                <a:latin typeface="Calibri"/>
              </a:rPr>
              <a:t>W4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051560"/>
            <a:ext cx="9423400" cy="77724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06039" y="1097280"/>
            <a:ext cx="9144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REQUIREMENTS SIGN-OFF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39" y="1435607"/>
            <a:ext cx="91440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BEP + Requirements + Solution Arch + Envs live + NCA ECC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822960" cy="777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874519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1874519"/>
            <a:ext cx="1097280" cy="77724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25880" y="1874519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C9A227"/>
                </a:solidFill>
                <a:latin typeface="Calibri"/>
              </a:rPr>
              <a:t>W12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1874519"/>
            <a:ext cx="9423400" cy="77724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06039" y="1920239"/>
            <a:ext cx="9144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PILOT UAT + INTEGRATIONS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39" y="2258568"/>
            <a:ext cx="91440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M2/M3 Pilot live + 4 AI Agents + Enterprise integrations + Pen test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97480"/>
            <a:ext cx="822960" cy="7772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69748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2697480"/>
            <a:ext cx="1097280" cy="77724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25880" y="2697480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C9A227"/>
                </a:solidFill>
                <a:latin typeface="Calibri"/>
              </a:rPr>
              <a:t>W16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2697480"/>
            <a:ext cx="9423400" cy="77724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606039" y="2743200"/>
            <a:ext cx="9144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PILOT ACCEPTANCE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39" y="3081528"/>
            <a:ext cx="91440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Pilot validated in Prod + KPIs baselined + Super users trained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20440"/>
            <a:ext cx="822960" cy="777240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352044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25880" y="3520440"/>
            <a:ext cx="1097280" cy="77724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25880" y="3520440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C9A227"/>
                </a:solidFill>
                <a:latin typeface="Calibri"/>
              </a:rPr>
              <a:t>W24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3520440"/>
            <a:ext cx="9423400" cy="77724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606039" y="3566160"/>
            <a:ext cx="9144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M1 + M2/M3 FULL LIVE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6039" y="3904488"/>
            <a:ext cx="91440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CDE full live + M2/M3 rolled to all users + Perf SLA at 500+ users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43400"/>
            <a:ext cx="822960" cy="777240"/>
          </a:xfrm>
          <a:prstGeom prst="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434340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25880" y="4343400"/>
            <a:ext cx="1097280" cy="77724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325880" y="4343400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C9A227"/>
                </a:solidFill>
                <a:latin typeface="Calibri"/>
              </a:rPr>
              <a:t>W29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68880" y="4343400"/>
            <a:ext cx="9423400" cy="77724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606039" y="4389120"/>
            <a:ext cx="9144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M4 QUALITY FULL LIVE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06039" y="4727448"/>
            <a:ext cx="91440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Quality Mgmt full live + Field test + ISO 27001 pre-audit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166360"/>
            <a:ext cx="822960" cy="7772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516636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25880" y="5166360"/>
            <a:ext cx="1097280" cy="77724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325880" y="5166360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C9A227"/>
                </a:solidFill>
                <a:latin typeface="Calibri"/>
              </a:rPr>
              <a:t>W40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68880" y="5166360"/>
            <a:ext cx="9423400" cy="77724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606039" y="5212080"/>
            <a:ext cx="9144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FINAL ACCEPTANCE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06039" y="5550408"/>
            <a:ext cx="91440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M5 Procurement live + Docs + Runbooks + ICT handover + Cert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13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Risk Heat Map  |  Top 25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[XDH proposed] Score = Likelihood x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2743200"/>
            <a:ext cx="457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6171B"/>
                </a:solidFill>
                <a:latin typeface="Calibri"/>
              </a:rPr>
              <a:t>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4206240"/>
            <a:ext cx="457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6171B"/>
                </a:solidFill>
                <a:latin typeface="Calibri"/>
              </a:rPr>
              <a:t>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5669280"/>
            <a:ext cx="457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6171B"/>
                </a:solidFill>
                <a:latin typeface="Calibri"/>
              </a:rPr>
              <a:t>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1051560"/>
            <a:ext cx="2743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23242A"/>
                </a:solidFill>
                <a:latin typeface="Calibri"/>
              </a:rPr>
              <a:t>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17920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16171B"/>
                </a:solidFill>
                <a:latin typeface="Calibri"/>
              </a:rPr>
              <a:t>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6217920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16171B"/>
                </a:solidFill>
                <a:latin typeface="Calibri"/>
              </a:rPr>
              <a:t>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6217920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16171B"/>
                </a:solidFill>
                <a:latin typeface="Calibri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43891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23242A"/>
                </a:solidFill>
                <a:latin typeface="Calibri"/>
              </a:rPr>
              <a:t>LIKELIHOOD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280160"/>
            <a:ext cx="1417320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103120" y="1280160"/>
            <a:ext cx="1417320" cy="1325880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66160" y="1280160"/>
            <a:ext cx="1417320" cy="1325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2651760"/>
            <a:ext cx="1417320" cy="1325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103120" y="2651760"/>
            <a:ext cx="1417320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66160" y="2651760"/>
            <a:ext cx="1417320" cy="1325880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4023360"/>
            <a:ext cx="1417320" cy="1325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03120" y="4023360"/>
            <a:ext cx="1417320" cy="1325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566160" y="4023360"/>
            <a:ext cx="1417320" cy="1325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639312" y="1389888"/>
            <a:ext cx="1280160" cy="274320"/>
          </a:xfrm>
          <a:prstGeom prst="round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85032" y="138988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KSA cloud delay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39312" y="1709928"/>
            <a:ext cx="1280160" cy="274320"/>
          </a:xfrm>
          <a:prstGeom prst="round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85032" y="170992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Enterprise access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9312" y="2029967"/>
            <a:ext cx="1280160" cy="274320"/>
          </a:xfrm>
          <a:prstGeom prst="round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85032" y="2029967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Scope creep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76272" y="1389888"/>
            <a:ext cx="1280160" cy="274320"/>
          </a:xfrm>
          <a:prstGeom prst="round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21991" y="138988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NCA ECC finding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39312" y="2761488"/>
            <a:ext cx="1280160" cy="274320"/>
          </a:xfrm>
          <a:prstGeom prst="round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85032" y="276148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Ramadan/Hajj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2761488"/>
            <a:ext cx="1280160" cy="274320"/>
          </a:xfrm>
          <a:prstGeom prst="round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21991" y="276148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User adoption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39312" y="3081528"/>
            <a:ext cx="1280160" cy="274320"/>
          </a:xfrm>
          <a:prstGeom prst="round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85032" y="308152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Data quality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76272" y="3081528"/>
            <a:ext cx="1280160" cy="274320"/>
          </a:xfrm>
          <a:prstGeom prst="round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221991" y="308152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SAP complexity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76272" y="3401568"/>
            <a:ext cx="1280160" cy="274320"/>
          </a:xfrm>
          <a:prstGeom prst="round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221991" y="340156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AI cost overrun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1051560"/>
            <a:ext cx="5790895" cy="512064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26480" y="114300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23242A"/>
                </a:solidFill>
                <a:latin typeface="Calibri"/>
              </a:rPr>
              <a:t>TOP MITIGATION PLAYS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0" y="1600200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26480" y="1600200"/>
            <a:ext cx="548640" cy="6858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26480" y="1600200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1627632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23242A"/>
                </a:solidFill>
                <a:latin typeface="Calibri"/>
              </a:rPr>
              <a:t>KSA CLOUD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1892807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Request tenancy Day 1. Escalate to Microsoft Riyadh. Have Oracle + STC fallback.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26480" y="2359152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126480" y="2359152"/>
            <a:ext cx="548640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26480" y="2359152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2386584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23242A"/>
                </a:solidFill>
                <a:latin typeface="Calibri"/>
              </a:rPr>
              <a:t>ENTERPRISE ACCESS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2651760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Raise all ITSM tickets Day 1. Weekly follow-up.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3118104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126480" y="3118104"/>
            <a:ext cx="548640" cy="6858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126480" y="3118104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3145536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23242A"/>
                </a:solidFill>
                <a:latin typeface="Calibri"/>
              </a:rPr>
              <a:t>NCA ECC BASELINE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66560" y="3410712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KSA Security engaged Day 1. External pen test W14 buffer.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26480" y="3877056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126480" y="3877056"/>
            <a:ext cx="548640" cy="685800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126480" y="3877056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0" y="3904488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23242A"/>
                </a:solidFill>
                <a:latin typeface="Calibri"/>
              </a:rPr>
              <a:t>SCOPE CREEP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4169664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Firm BEP v1.0 in W4 as baseline. Change control per T&amp;C.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26480" y="4636008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126480" y="4636008"/>
            <a:ext cx="548640" cy="685800"/>
          </a:xfrm>
          <a:prstGeom prst="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126480" y="4636008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66560" y="4663440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23242A"/>
                </a:solidFill>
                <a:latin typeface="Calibri"/>
              </a:rPr>
              <a:t>USER ADOPTION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6560" y="4928616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Super users in W11. User forums. Executive comms.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26480" y="5394960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6126480" y="5394960"/>
            <a:ext cx="548640" cy="6858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126480" y="5394960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6560" y="5422392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23242A"/>
                </a:solidFill>
                <a:latin typeface="Calibri"/>
              </a:rPr>
              <a:t>AI COST CONTROL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66560" y="5687568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Weekly API spend monitoring. Prompt optimisation.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14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Deliverables Register  |  25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[Client + XDH] Every deliverable per SoW 3.4.5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07899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17319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BEP v1.0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05156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88920" y="105156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80360" y="107899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399" y="107899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417319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Requirements v1.0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105156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20640" y="105156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79" y="107899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07899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9" y="1417319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Solution Arch v1.0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59" y="105156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452359" y="1051560"/>
            <a:ext cx="2194560" cy="292608"/>
          </a:xfrm>
          <a:prstGeom prst="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43799" y="107899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07899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Infra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799" y="1417319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KSA Cloud envs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105156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784080" y="105156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75519" y="107899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107899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19" y="1417319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NCA ECC baseline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05740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205740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2084831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2084831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42316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PDPL DPIA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88920" y="205740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788920" y="2057400"/>
            <a:ext cx="219456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880360" y="2084831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399" y="2084831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242316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M2 AWP Pilot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20640" y="205740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120640" y="2057400"/>
            <a:ext cx="219456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12079" y="2084831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2084831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79" y="242316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M3 Pre-Comm Pilot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52359" y="205740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452359" y="2057400"/>
            <a:ext cx="219456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43799" y="2084831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2084831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43799" y="242316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4 AI Agents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4080" y="205740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784080" y="2057400"/>
            <a:ext cx="219456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19" y="2084831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38560" y="2084831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19" y="242316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Enterprise integrations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306324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57200" y="306324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309067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11680" y="309067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342900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Pen Test v1.0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88920" y="306324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788920" y="306324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880360" y="309067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399" y="309067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80360" y="342900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Pilot Acceptance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120640" y="306324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5120640" y="3063240"/>
            <a:ext cx="219456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212079" y="309067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75120" y="309067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12079" y="342900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KPI Dashboards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52359" y="306324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7452359" y="3063240"/>
            <a:ext cx="2194560" cy="292608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543799" y="309067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309067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Trng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43799" y="342900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Super User training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784080" y="306324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9784080" y="3063240"/>
            <a:ext cx="2194560" cy="292608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875519" y="309067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338560" y="309067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Trng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75519" y="342900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End User training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406908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457200" y="4069080"/>
            <a:ext cx="219456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48640" y="409651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11680" y="409651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43484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M1 CDE full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88920" y="406908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2788920" y="4069080"/>
            <a:ext cx="219456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2880360" y="409651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43399" y="409651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443484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M4 Quality full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120640" y="406908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5120640" y="4069080"/>
            <a:ext cx="219456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212079" y="409651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75120" y="409651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12079" y="443484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M5 Procurement full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52359" y="406908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7452359" y="406908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543799" y="409651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06840" y="409651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43799" y="443484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User Manual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784080" y="406908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9784080" y="406908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875519" y="409651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338560" y="409651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75519" y="443484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Admin Manual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57200" y="507492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457200" y="507492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48640" y="510235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11680" y="510235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" y="544068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Tech Docs Pack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788920" y="507492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2788920" y="507492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2880360" y="510235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343399" y="510235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880360" y="544068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Operational Runbooks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120640" y="507492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5120640" y="5074920"/>
            <a:ext cx="2194560" cy="292608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5212079" y="510235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675120" y="510235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Trng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12079" y="544068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ICT Handover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452359" y="507492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452359" y="507492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7543799" y="510235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06840" y="510235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43799" y="544068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ISO 27001 pre-audit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784080" y="5074920"/>
            <a:ext cx="2194560" cy="9144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9784080" y="5074920"/>
            <a:ext cx="2194560" cy="29260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875519" y="510235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8560" y="510235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75519" y="544068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23242A"/>
                </a:solidFill>
                <a:latin typeface="Calibri"/>
              </a:rPr>
              <a:t>Final Acceptance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23242A"/>
                </a:solidFill>
                <a:latin typeface="Calibri"/>
              </a:rPr>
              <a:t>LEGEND: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280160" y="6400800"/>
            <a:ext cx="548640" cy="2743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280160" y="6400800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874519" y="640080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Document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023360" y="6400800"/>
            <a:ext cx="54864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023360" y="6400800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617720" y="640080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Software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766560" y="6400800"/>
            <a:ext cx="548640" cy="274320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6766560" y="6400800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360920" y="640080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Training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509760" y="6400800"/>
            <a:ext cx="548640" cy="274320"/>
          </a:xfrm>
          <a:prstGeom prst="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509760" y="6400800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Infra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104120" y="640080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Infrastructure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15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Year 2-5 Maintenance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[XDH proposed] 4 years of ongoing support post-Y1 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6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23242A"/>
                </a:solidFill>
                <a:latin typeface="Calibri"/>
              </a:rPr>
              <a:t>SUPPORT TIERS  |  L1/L2/L3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77600" cy="13716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822960" cy="13716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822960" cy="13716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1036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TIER 1 HELPDESK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11680"/>
            <a:ext cx="1036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First-line user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77440"/>
            <a:ext cx="1036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2C5F8A"/>
                </a:solidFill>
                <a:latin typeface="Calibri"/>
              </a:rPr>
              <a:t>SLA: Response 4h, resolution 24h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51760"/>
            <a:ext cx="1036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2C5F8A"/>
                </a:solidFill>
                <a:latin typeface="Calibri"/>
              </a:rPr>
              <a:t>Availability: Continuous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11277600" cy="13716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822960" cy="13716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822960" cy="13716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1036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TIER 2 TECHNICAL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74720"/>
            <a:ext cx="1036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Bug diagnosis, config, minor fixes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40480"/>
            <a:ext cx="1036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9A227"/>
                </a:solidFill>
                <a:latin typeface="Calibri"/>
              </a:rPr>
              <a:t>SLA: Response 1h, resolution 1 business 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114800"/>
            <a:ext cx="1036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9A227"/>
                </a:solidFill>
                <a:latin typeface="Calibri"/>
              </a:rPr>
              <a:t>Availability: Bus hrs + escalation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80560"/>
            <a:ext cx="11277600" cy="137160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822960" cy="137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" cy="13716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572000"/>
            <a:ext cx="1036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TIER 3 DEVELOPER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937760"/>
            <a:ext cx="1036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6171B"/>
                </a:solidFill>
                <a:latin typeface="Calibri"/>
              </a:rPr>
              <a:t>Code changes for critical bugs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303520"/>
            <a:ext cx="1036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62828"/>
                </a:solidFill>
                <a:latin typeface="Calibri"/>
              </a:rPr>
              <a:t>SLA: Response 15 min for 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577840"/>
            <a:ext cx="1036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62828"/>
                </a:solidFill>
                <a:latin typeface="Calibri"/>
              </a:rPr>
              <a:t>Availability: 24/7 on-call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16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Critical Path  |  Cannot Slip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[XDH proposed] The chain that determines delivery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371600" cy="11887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17319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UX signoff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847088" y="1737360"/>
            <a:ext cx="91439" cy="274320"/>
          </a:xfrm>
          <a:prstGeom prst="rightArrow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965960" y="1280160"/>
            <a:ext cx="1371600" cy="11887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65960" y="1417319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659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BEP signed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355848" y="1737360"/>
            <a:ext cx="91439" cy="274320"/>
          </a:xfrm>
          <a:prstGeom prst="rightArrow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74720" y="1280160"/>
            <a:ext cx="1371600" cy="1188720"/>
          </a:xfrm>
          <a:prstGeom prst="roundRect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1417319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9659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KSA cloud live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64607" y="1737360"/>
            <a:ext cx="91439" cy="274320"/>
          </a:xfrm>
          <a:prstGeom prst="rightArrow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983479" y="1280160"/>
            <a:ext cx="1371600" cy="1188720"/>
          </a:xfrm>
          <a:prstGeom prst="round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83479" y="1417319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79" y="19659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All Integrations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606040"/>
            <a:ext cx="3657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3200" b="1" i="0">
                <a:solidFill>
                  <a:srgbClr val="16171B"/>
                </a:solidFill>
                <a:latin typeface="Calibri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3479" y="4023360"/>
            <a:ext cx="1371600" cy="11887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3479" y="416052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79" y="47091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Pilot LIVE M2/M3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4023360"/>
            <a:ext cx="1371600" cy="11887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74720" y="416052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7091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Pilot Accepted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65960" y="4023360"/>
            <a:ext cx="1371600" cy="11887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965960" y="416052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47091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M1 + M2/M3 full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023360"/>
            <a:ext cx="1371600" cy="11887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416052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7091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FINAL ACCEPT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1280160"/>
            <a:ext cx="3779215" cy="443484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38160" y="1417320"/>
            <a:ext cx="34747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IF THESE SLIP, YOU SLIP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1783080"/>
            <a:ext cx="34747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C8C9D0"/>
                </a:solidFill>
                <a:latin typeface="Calibri"/>
              </a:rPr>
              <a:t>Every step above must land on-time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2194560"/>
            <a:ext cx="914400" cy="2743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138160" y="2468880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KSA cloud &gt;W2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272491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8C9D0"/>
                </a:solidFill>
                <a:latin typeface="Calibri"/>
              </a:rPr>
              <a:t>Blocks all dev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2971800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Access requests &gt;W3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322783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8C9D0"/>
                </a:solidFill>
                <a:latin typeface="Calibri"/>
              </a:rPr>
              <a:t>Blocks integrations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474720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NCA ECC issue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373075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8C9D0"/>
                </a:solidFill>
                <a:latin typeface="Calibri"/>
              </a:rPr>
              <a:t>Blocks pilot go-live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3977639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Pilot UAT fail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4233672"/>
            <a:ext cx="310896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n-US" sz="900" b="0" i="1">
                <a:solidFill>
                  <a:srgbClr val="C8C9D0"/>
                </a:solidFill>
                <a:latin typeface="Calibri"/>
              </a:rPr>
              <a:t>Blocks G3 acceptance</a:t>
            </a:r>
            <a:endParaRPr sz="900" b="0" i="1">
              <a:solidFill>
                <a:srgbClr val="C8C9D0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138160" y="4480559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Integration issue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473659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8C9D0"/>
                </a:solidFill>
                <a:latin typeface="Calibri"/>
              </a:rPr>
              <a:t>Blocks Phase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983479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Late scope add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523951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8C9D0"/>
                </a:solidFill>
                <a:latin typeface="Calibri"/>
              </a:rPr>
              <a:t>Blocks W40 target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852160"/>
            <a:ext cx="11277295" cy="7315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23242A"/>
                </a:solidFill>
                <a:latin typeface="Calibri"/>
              </a:rPr>
              <a:t>CRITICAL PATH 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23242A"/>
                </a:solidFill>
                <a:latin typeface="Calibri"/>
              </a:rPr>
              <a:t>Every gate week has an accountability owner. Weekly report to Maaden PMO tracks slip risk.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17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Meeting Cadence  |  Communication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[XDH proposed] 18 meeting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66547" y="1051560"/>
            <a:ext cx="3794760" cy="53035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3707" y="1188720"/>
            <a:ext cx="35204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DAILY + WEEKLY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3707" y="16916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9427" y="18745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Daily Standup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587" y="2148839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15 min | All team | Blockers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27" y="251460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Weekly Client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587" y="278892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Mon 30 min | PM + Maaden PMO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427" y="315468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Security Sync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587" y="342900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Wed 30 min | KSA Sec +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427" y="37947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Integration WG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6587" y="406908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Thu 60 min | Sol Arch + Maaden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98467" y="1051560"/>
            <a:ext cx="3794760" cy="53035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35627" y="1188720"/>
            <a:ext cx="35204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SPRINT + FORTNIGHTLY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6916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1347" y="18745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Sprint Planning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8507" y="2148839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Every 2wk 90 min | PM + Sol Arch + AI/ML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1347" y="251460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Sprint Review +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8507" y="278892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Every 2wk 60 min | All + Maaden PMO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1347" y="315468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Sprint Retrospective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8507" y="342900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Every 2wk 60 min | All XDH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1347" y="37947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CCB Change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8507" y="406908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As needed | PM + Maaden PMO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0387" y="1051560"/>
            <a:ext cx="3794760" cy="5303520"/>
          </a:xfrm>
          <a:prstGeom prst="rect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67547" y="1188720"/>
            <a:ext cx="35204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MONTHLY + BEYOND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67547" y="16916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13267" y="18745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Steering Committee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0427" y="2148839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Monthly 90 min | PM + Maaden CIO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51460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AI Model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0427" y="278892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Monthly 60 min | AI/ML + SMEs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15468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User Forum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0427" y="342900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Monthly 60 min from P3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37947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Executive Briefing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0427" y="406908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Quarterly 30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443484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Compliance Audit Prep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0427" y="470916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8C9D0"/>
                </a:solidFill>
                <a:latin typeface="Calibri"/>
              </a:rPr>
              <a:t>Bi-annual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18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Week 1 Kickoff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[XDH proposed] Day-by-day actions for first 5 working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097280"/>
            <a:ext cx="2194560" cy="45720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35127" y="1097280"/>
            <a:ext cx="21945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  <a:latin typeface="Calibri"/>
              </a:rPr>
              <a:t>DAY 1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127" y="173736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6567" y="1856231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8047" y="1874519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Signed PO received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127" y="251460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6567" y="263347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047" y="265176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XDH team kickoff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127" y="329184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6567" y="341071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8047" y="342900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Slack channel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127" y="406908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6567" y="418795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047" y="420624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ACC workspace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127" y="484632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6567" y="496519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047" y="498348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HW spec drafted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66847" y="1097280"/>
            <a:ext cx="2194560" cy="45720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666847" y="1097280"/>
            <a:ext cx="21945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  <a:latin typeface="Calibri"/>
              </a:rPr>
              <a:t>DAY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66847" y="173736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58287" y="1856231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69767" y="1874519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Client kickoff (2h)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66847" y="251460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758287" y="263347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69767" y="265176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Team RACI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66847" y="329184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58287" y="341071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169767" y="342900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ITSM tickets raised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66847" y="406908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758287" y="418795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169767" y="420624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KSA cloud request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66847" y="484632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758287" y="496519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169767" y="498348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BEP v0.5 draft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98567" y="1097280"/>
            <a:ext cx="2194560" cy="45720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998567" y="1097280"/>
            <a:ext cx="21945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  <a:latin typeface="Calibri"/>
              </a:rPr>
              <a:t>DAY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98567" y="173736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090007" y="1856231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01487" y="1874519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Req workshop #1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8567" y="251460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90007" y="263347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501487" y="265176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Sol Arch v0.3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98567" y="329184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090007" y="341071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501487" y="342900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Azure AD SSO req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98567" y="406908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5090007" y="418795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501487" y="420624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NCA ECC baseline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98567" y="484632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090007" y="496519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01487" y="498348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Data mapping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0287" y="1097280"/>
            <a:ext cx="2194560" cy="45720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30287" y="1097280"/>
            <a:ext cx="21945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  <a:latin typeface="Calibri"/>
              </a:rPr>
              <a:t>DAY 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30287" y="173736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421727" y="1856231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33207" y="1874519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Req workshop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30287" y="251460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421727" y="263347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833207" y="265176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Req workshop #3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30287" y="329184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421727" y="341071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833207" y="342900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BEP v0.8 circ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330287" y="406908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421727" y="418795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833207" y="420624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Sandbox provision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30287" y="484632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7421727" y="496519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833207" y="498348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Aconex sandbox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662007" y="1097280"/>
            <a:ext cx="2194560" cy="45720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662007" y="1097280"/>
            <a:ext cx="21945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  <a:latin typeface="Calibri"/>
              </a:rPr>
              <a:t>DAY 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62007" y="173736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9753447" y="1856231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164927" y="1874519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Req workshop #4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662007" y="251460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9753447" y="263347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0164927" y="265176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Req workshop #5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62007" y="329184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9753447" y="341071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0164927" y="342900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Wk 1 summary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62007" y="406908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9753447" y="418795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0164927" y="420624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Sprint 1 planning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62007" y="4846320"/>
            <a:ext cx="2194560" cy="685800"/>
          </a:xfrm>
          <a:prstGeom prst="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9753447" y="496519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164927" y="498348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16171B"/>
                </a:solidFill>
                <a:latin typeface="Calibri"/>
              </a:rPr>
              <a:t>Weekend prep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19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8C9D0"/>
                </a:solidFill>
                <a:latin typeface="Calibri"/>
              </a:rPr>
              <a:t>[XDH + Client] Six metrics for "we won"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3794760" cy="2377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97380" y="1371600"/>
            <a:ext cx="914400" cy="9144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97380" y="13716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23242A"/>
                </a:solidFill>
                <a:latin typeface="Calibri"/>
              </a:rPr>
              <a:t>ON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All 6 quality gates hit within +/- 1 week. Final Acceptance on/before W40.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43000"/>
            <a:ext cx="3794760" cy="2377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829300" y="1371600"/>
            <a:ext cx="914400" cy="91440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29300" y="13716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40"/>
            <a:ext cx="3794760" cy="26776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lang="en-US" sz="1500" b="1" i="0">
                <a:solidFill>
                  <a:srgbClr val="23242A"/>
                </a:solidFill>
                <a:latin typeface="Calibri"/>
              </a:rPr>
              <a:t>ON SCOPE</a:t>
            </a:r>
            <a:endParaRPr sz="1500" b="1" i="0">
              <a:solidFill>
                <a:srgbClr val="23242A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63440" y="2788920"/>
            <a:ext cx="324612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lang="en-US" sz="1000" b="0" i="0">
                <a:solidFill>
                  <a:srgbClr val="16171B"/>
                </a:solidFill>
                <a:latin typeface="Calibri"/>
              </a:rPr>
              <a:t>Delivered to the agreed scope. Variations per T&amp;C.</a:t>
            </a:r>
            <a:endParaRPr sz="1000" b="0" i="0">
              <a:solidFill>
                <a:srgbClr val="16171B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321040" y="1143000"/>
            <a:ext cx="3794760" cy="2377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761220" y="1371600"/>
            <a:ext cx="914400" cy="914400"/>
          </a:xfrm>
          <a:prstGeom prst="ellipse">
            <a:avLst/>
          </a:prstGeom>
          <a:solidFill>
            <a:srgbClr val="6A3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61220" y="13716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774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23242A"/>
                </a:solidFill>
                <a:latin typeface="Calibri"/>
              </a:rPr>
              <a:t>ON QUALITY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7889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Meet all 8 SoW KPIs. Zero P1 defects at Final Acceptance.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57600"/>
            <a:ext cx="3794760" cy="2377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897380" y="3886200"/>
            <a:ext cx="914400" cy="914400"/>
          </a:xfrm>
          <a:prstGeom prst="ellipse">
            <a:avLst/>
          </a:prstGeom>
          <a:solidFill>
            <a:srgbClr val="B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97380" y="38862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23242A"/>
                </a:solidFill>
                <a:latin typeface="Calibri"/>
              </a:rPr>
              <a:t>USER ADOPTION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&gt;80% daily active users of AWP within 3 months of rollout.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794760" cy="2377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829300" y="3886200"/>
            <a:ext cx="914400" cy="9144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29300" y="38862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23242A"/>
                </a:solidFill>
                <a:latin typeface="Calibri"/>
              </a:rPr>
              <a:t>COMPLIANCE PASSED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NCA ECC passed. PDPL attestation. ISO 27001 pre-audit.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657600"/>
            <a:ext cx="3794760" cy="2377440"/>
          </a:xfrm>
          <a:prstGeom prst="roundRect">
            <a:avLst/>
          </a:prstGeom>
          <a:solidFill>
            <a:srgbClr val="F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761220" y="3886200"/>
            <a:ext cx="914400" cy="91440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61220" y="38862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23242A"/>
                </a:solidFill>
                <a:latin typeface="Calibri"/>
              </a:rPr>
              <a:t>CLIENT DELIGHT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16171B"/>
                </a:solidFill>
                <a:latin typeface="Calibri"/>
              </a:rPr>
              <a:t>Maaden refer XDH to Aluminium, Waad Al Shamal projects.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0" i="1">
                <a:solidFill>
                  <a:srgbClr val="C9A227"/>
                </a:solidFill>
                <a:latin typeface="Calibri"/>
              </a:rPr>
              <a:t>If we hit 6/6, XDH becomes preferred vendor for Maaden portfolio expansion in Y2-Y5.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20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C9A227"/>
                </a:solidFill>
                <a:latin typeface="Calibri"/>
              </a:rPr>
              <a:t>THE MASTER WORKBOOK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Where the detail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 i="1">
                <a:solidFill>
                  <a:srgbClr val="C8C9D0"/>
                </a:solidFill>
                <a:latin typeface="Calibri"/>
              </a:rPr>
              <a:t>This deck is the visual summary. The Excel workbook is the working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80360"/>
            <a:ext cx="109728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C9A227"/>
                </a:solidFill>
                <a:latin typeface="Calibri"/>
              </a:rPr>
              <a:t>Maaden ARGP - Master Roadmap.xlsx (14 sheets)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C8C9D0"/>
                </a:solidFill>
                <a:latin typeface="Calibri"/>
              </a:rPr>
              <a:t>Pipeline\Maaden\2026.05.18 PDE Digitalization\Master Roadmap\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1-2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931920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Cover + Overview  |  Strategic context, 5 modules, 4 phases, 8 KPIs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24528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224528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Programme Timeline  |  40-week Gantt with phase, module, integration tracks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517136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Task Register (MASTER)  |  93 tasks with owner, software, hardware,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9744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5-7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09744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Team Roster  |  Software Stack (40+)  |  Hardware + Infra (20 items)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02352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8-9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102352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Integrations Register (10)  |  KSA Compliance (25 controls)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10-12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94960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Deliverables (25)  |  Quality Gates (6)  |  Risk Register (25)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87568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13-14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87568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Year 2-5 Maintenance model  |  Meeting Cadence (18 types)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3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0" i="1">
                <a:solidFill>
                  <a:srgbClr val="C8C9D0"/>
                </a:solidFill>
                <a:latin typeface="Calibri"/>
              </a:rPr>
              <a:t>Use both: deck for briefings, workbook for daily execution.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37960"/>
            <a:ext cx="77724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n-AE" sz="900" b="0" i="0">
                <a:solidFill>
                  <a:srgbClr val="6B6D76"/>
                </a:solidFill>
                <a:latin typeface="Calibri"/>
              </a:rPr>
              <a:t>21 / 21</a:t>
            </a:r>
            <a:endParaRPr sz="900" b="0" i="0">
              <a:solidFill>
                <a:srgbClr val="6B6D76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2827</Words>
  <Application>Microsoft Office PowerPoint</Application>
  <PresentationFormat>Widescreen</PresentationFormat>
  <Paragraphs>659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Angel Balilo</cp:lastModifiedBy>
  <cp:revision>3</cp:revision>
  <dcterms:created xsi:type="dcterms:W3CDTF">2013-01-27T09:14:16Z</dcterms:created>
  <dcterms:modified xsi:type="dcterms:W3CDTF">2026-07-15T09:19:34Z</dcterms:modified>
  <cp:category/>
</cp:coreProperties>
</file>