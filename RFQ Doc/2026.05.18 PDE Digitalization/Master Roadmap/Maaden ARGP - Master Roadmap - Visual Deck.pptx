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D4AF37"/>
                </a:solidFill>
                <a:latin typeface="Calibri"/>
              </a:rPr>
              <a:t>MASTER EXECUTION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0058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Maaden ARGP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834640"/>
            <a:ext cx="109728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800" b="0" i="1">
                <a:solidFill>
                  <a:srgbClr val="CADCFC"/>
                </a:solidFill>
                <a:latin typeface="Calibri"/>
              </a:rPr>
              <a:t>Digitalization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794760"/>
            <a:ext cx="3200400" cy="45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977639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0">
                <a:solidFill>
                  <a:srgbClr val="CADCFC"/>
                </a:solidFill>
                <a:latin typeface="Calibri"/>
              </a:rPr>
              <a:t>Client:  Saudi Arabian Mining Company (Maaden)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0">
                <a:solidFill>
                  <a:srgbClr val="CADCFC"/>
                </a:solidFill>
                <a:latin typeface="Calibri"/>
              </a:rPr>
              <a:t>Project:  Ar Rjum Gold Project (ARGP), Kingdom of Saudi Arabia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61772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0">
                <a:solidFill>
                  <a:srgbClr val="CADCFC"/>
                </a:solidFill>
                <a:latin typeface="Calibri"/>
              </a:rPr>
              <a:t>SoW Reference:  ARGP-DIGI-APP-SOW-001 Rev. 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0">
                <a:solidFill>
                  <a:srgbClr val="CADCFC"/>
                </a:solidFill>
                <a:latin typeface="Calibri"/>
              </a:rPr>
              <a:t>XDH Reference:  XDH-AE-Q26-05-00030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5780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 i="0">
                <a:solidFill>
                  <a:srgbClr val="CADCFC"/>
                </a:solidFill>
                <a:latin typeface="Calibri"/>
              </a:rPr>
              <a:t>Version 1.0  ·  02 July 2026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6400800"/>
            <a:ext cx="7315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CADCFC"/>
                </a:solidFill>
                <a:latin typeface="Calibri"/>
              </a:rPr>
              <a:t>XD House LLC FZ  ·  Digital Construction Consultancy  ·  London . Dubai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6400800"/>
            <a:ext cx="2743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0" i="1">
                <a:solidFill>
                  <a:srgbClr val="D4AF37"/>
                </a:solidFill>
                <a:latin typeface="Calibri"/>
              </a:rPr>
              <a:t>Internal + Maaden PMO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8DA2FB9-F83A-9F8D-59B9-8C441B962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01395" y="1594133"/>
            <a:ext cx="2911485" cy="24119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The roadmap in five numbers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49427" y="1234440"/>
            <a:ext cx="214884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49427" y="1417320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  <a:latin typeface="Calibri"/>
              </a:rPr>
              <a:t>10 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9427" y="2194560"/>
            <a:ext cx="21488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 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9427" y="2560320"/>
            <a:ext cx="2148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CADCFC"/>
                </a:solidFill>
                <a:latin typeface="Calibri"/>
              </a:rPr>
              <a:t>W1-W40, 4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735427" y="1234440"/>
            <a:ext cx="214884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735427" y="1417320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  <a:latin typeface="Calibri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35427" y="2194560"/>
            <a:ext cx="21488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Lean team roles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35427" y="2560320"/>
            <a:ext cx="2148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CADCFC"/>
                </a:solidFill>
                <a:latin typeface="Calibri"/>
              </a:rPr>
              <a:t>PM + Sol Arch + DBA + AI/ML + Sec + Module + Doc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1427" y="1234440"/>
            <a:ext cx="214884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1427" y="1417320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  <a:latin typeface="Calibri"/>
              </a:rPr>
              <a:t>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1427" y="2194560"/>
            <a:ext cx="21488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Tasks in register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1427" y="2560320"/>
            <a:ext cx="2148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CADCFC"/>
                </a:solidFill>
                <a:latin typeface="Calibri"/>
              </a:rPr>
              <a:t>Every task with owner + software + hardware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07427" y="1234440"/>
            <a:ext cx="214884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07427" y="1417320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  <a:latin typeface="Calibri"/>
              </a:rPr>
              <a:t>AED 4.6M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07427" y="2194560"/>
            <a:ext cx="21488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Year 1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7427" y="2560320"/>
            <a:ext cx="2148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CADCFC"/>
                </a:solidFill>
                <a:latin typeface="Calibri"/>
              </a:rPr>
              <a:t>Inc VAT + WHT per current XDH quote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593427" y="1234440"/>
            <a:ext cx="2148840" cy="18288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593427" y="1417320"/>
            <a:ext cx="2148840" cy="8229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  <a:latin typeface="Calibri"/>
              </a:rPr>
              <a:t>AED 8.15M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93427" y="2194560"/>
            <a:ext cx="21488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5-Year TCO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93427" y="2560320"/>
            <a:ext cx="21488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CADCFC"/>
                </a:solidFill>
                <a:latin typeface="Calibri"/>
              </a:rPr>
              <a:t>Build + 4 years maintenance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383280"/>
            <a:ext cx="11277295" cy="310896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85800" y="352044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700" b="1" i="0">
                <a:solidFill>
                  <a:srgbClr val="1E2761"/>
                </a:solidFill>
                <a:latin typeface="Calibri"/>
              </a:rPr>
              <a:t>What this roadmap covers</a:t>
            </a:r>
          </a:p>
        </p:txBody>
      </p:sp>
      <p:sp>
        <p:nvSpPr>
          <p:cNvPr id="27" name="Oval 26"/>
          <p:cNvSpPr/>
          <p:nvPr/>
        </p:nvSpPr>
        <p:spPr>
          <a:xfrm>
            <a:off x="685800" y="4005072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85800" y="4005072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Calibri"/>
              </a:rPr>
              <a:t>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3977639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5 Modules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3977639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CDE, Construction+AWP, Pre-Comm+MC, Quality, Procurement</a:t>
            </a:r>
          </a:p>
        </p:txBody>
      </p:sp>
      <p:sp>
        <p:nvSpPr>
          <p:cNvPr id="31" name="Oval 30"/>
          <p:cNvSpPr/>
          <p:nvPr/>
        </p:nvSpPr>
        <p:spPr>
          <a:xfrm>
            <a:off x="685800" y="4352544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85800" y="4352544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Calibri"/>
              </a:rPr>
              <a:t>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4325112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4 Phases per SoW 3.3.10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325112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Requirements (W1-4) | Pilot (W5-12) | Validation (W13-16) | Full Rollout (W17-40)</a:t>
            </a:r>
          </a:p>
        </p:txBody>
      </p:sp>
      <p:sp>
        <p:nvSpPr>
          <p:cNvPr id="35" name="Oval 34"/>
          <p:cNvSpPr/>
          <p:nvPr/>
        </p:nvSpPr>
        <p:spPr>
          <a:xfrm>
            <a:off x="685800" y="4700016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4700016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Calibri"/>
              </a:rPr>
              <a:t>·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" y="4672583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10 enterprise integrations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4672583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Aconex, Primavera P6, SAP S/4HANA, AVEVA PI, MS EPM, Azure AD, ADFS, SIEM, Outlook, ServiceNow</a:t>
            </a:r>
          </a:p>
        </p:txBody>
      </p:sp>
      <p:sp>
        <p:nvSpPr>
          <p:cNvPr id="39" name="Oval 38"/>
          <p:cNvSpPr/>
          <p:nvPr/>
        </p:nvSpPr>
        <p:spPr>
          <a:xfrm>
            <a:off x="685800" y="5047488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5800" y="5047488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Calibri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97280" y="5020055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4 AI Agents per SoW 3.3.4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020055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Progress Verification, RFI Turnaround, Schedule Risk, Punch List Escalation</a:t>
            </a:r>
          </a:p>
        </p:txBody>
      </p:sp>
      <p:sp>
        <p:nvSpPr>
          <p:cNvPr id="43" name="Oval 42"/>
          <p:cNvSpPr/>
          <p:nvPr/>
        </p:nvSpPr>
        <p:spPr>
          <a:xfrm>
            <a:off x="685800" y="5394959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85800" y="5394959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Calibri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5367527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25 KSA compliance items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367527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NCA ECC-1:2018, PDPL, CST CCRF, ISO 27001</a:t>
            </a:r>
          </a:p>
        </p:txBody>
      </p:sp>
      <p:sp>
        <p:nvSpPr>
          <p:cNvPr id="47" name="Oval 46"/>
          <p:cNvSpPr/>
          <p:nvPr/>
        </p:nvSpPr>
        <p:spPr>
          <a:xfrm>
            <a:off x="685800" y="5742431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85800" y="5742431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Calibri"/>
              </a:rPr>
              <a:t>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" y="5714999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6 Quality Gates with payment triggers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389120" y="5714999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G1 W4, G2 W12, G3 W16, G4 W24, G5 W29, G6 W40</a:t>
            </a:r>
          </a:p>
        </p:txBody>
      </p:sp>
      <p:sp>
        <p:nvSpPr>
          <p:cNvPr id="51" name="Oval 50"/>
          <p:cNvSpPr/>
          <p:nvPr/>
        </p:nvSpPr>
        <p:spPr>
          <a:xfrm>
            <a:off x="685800" y="6089903"/>
            <a:ext cx="274320" cy="27432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85800" y="6089903"/>
            <a:ext cx="2743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Calibri"/>
              </a:rPr>
              <a:t>·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" y="6062471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Year 2-5 maintenance model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389120" y="6062471"/>
            <a:ext cx="7315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13 support activities, SLA P1-P4, 5-Yr TCO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Client &amp; Project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A flagship greenfield mining project for KSA Vision 2030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5486400" cy="51206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50292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  <a:latin typeface="Calibri"/>
              </a:rPr>
              <a:t>THE CLIENT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691640"/>
            <a:ext cx="502920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600" b="1" i="0">
                <a:solidFill>
                  <a:srgbClr val="1E2761"/>
                </a:solidFill>
                <a:latin typeface="Calibri"/>
              </a:rPr>
              <a:t>Maaden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40280"/>
            <a:ext cx="50292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 i="1">
                <a:solidFill>
                  <a:srgbClr val="606060"/>
                </a:solidFill>
                <a:latin typeface="Calibri"/>
              </a:rPr>
              <a:t>Saudi Arabian Mining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743200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0F1433"/>
                </a:solidFill>
                <a:latin typeface="Calibri"/>
              </a:rPr>
              <a:t>Established: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999232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  1997 (state-owned KSA mining giant)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55264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3511296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0F1433"/>
                </a:solidFill>
                <a:latin typeface="Calibri"/>
              </a:rPr>
              <a:t>Business scale: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767328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  USD 20B+ annual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23360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  Employs 12,000+ staff globally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79392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  Listed on Saudi Exchange (Tadawul)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535424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791456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0F1433"/>
                </a:solidFill>
                <a:latin typeface="Calibri"/>
              </a:rPr>
              <a:t>This project sponsor: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047488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  Maaden ICT + Maaden PMO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03520"/>
            <a:ext cx="484632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  Strategic sponsor: Maaden CIO + CFO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1188720"/>
            <a:ext cx="5333695" cy="5120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48463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  <a:latin typeface="Calibri"/>
              </a:rPr>
              <a:t>THE PROJECT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1691640"/>
            <a:ext cx="484632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Ar Rjum Gold Project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240280"/>
            <a:ext cx="48463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0" i="1">
                <a:solidFill>
                  <a:srgbClr val="CADCFC"/>
                </a:solidFill>
                <a:latin typeface="Calibri"/>
              </a:rPr>
              <a:t>ARGP - flagship greenfield mining +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66560" y="2743200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Location: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D4AF37"/>
                </a:solidFill>
                <a:latin typeface="Calibri"/>
              </a:rPr>
              <a:t>Location: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2999232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Ar Rjum, Kingdom of Saudi Arabia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66560" y="3255264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766560" y="3511296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Strategic importance: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511296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D4AF37"/>
                </a:solidFill>
                <a:latin typeface="Calibri"/>
              </a:rPr>
              <a:t>Strategic importance: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3767328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Cornerstone of Maaden growth strategy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4023360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Key contributor to Saudi Vision 2030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4279392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Blueprint for future Maaden mega-projects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4535424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766560" y="4791456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CADCFC"/>
                </a:solidFill>
                <a:latin typeface="Calibri"/>
              </a:rPr>
              <a:t>Digital scope: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4791456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D4AF37"/>
                </a:solidFill>
                <a:latin typeface="Calibri"/>
              </a:rPr>
              <a:t>Digital scope: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66560" y="5047488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AI-enabled digitalization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5303520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From design through to startup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5559552"/>
            <a:ext cx="4663440" cy="292608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  Schedule certainty + capital efficiency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537960"/>
            <a:ext cx="10515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606060"/>
                </a:solidFill>
                <a:latin typeface="Calibri"/>
              </a:rPr>
              <a:t>Source: SoW ARGP-DIGI-APP-SOW-001 Section 1.1 (Project Overview) and 1.2 (Strategic Importance)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Strategic Goals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[Client] Six strategic outcomes per SoW Section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3794760" cy="2468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97380" y="1234439"/>
            <a:ext cx="914400" cy="914400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9738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28600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UNIFIED DATA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9748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Single source of truth for ARGP. Break silos across stakeholders.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051560"/>
            <a:ext cx="3794760" cy="2468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829300" y="1234439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2930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28600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PREDICTIVE PROJECT CONTROLS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69748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AI/ML for proactive insight into schedule, cost, quality, safety.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051560"/>
            <a:ext cx="3794760" cy="2468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761220" y="1234439"/>
            <a:ext cx="914400" cy="9144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6122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28600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DIGITAL WORKFACE TRANSFORMATION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69748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Digital work packaging, constraints, real-time progress validation.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57600"/>
            <a:ext cx="3794760" cy="2468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897380" y="3840480"/>
            <a:ext cx="914400" cy="914400"/>
          </a:xfrm>
          <a:prstGeom prst="ellipse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97380" y="384048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SEAMLESS DIGITAL HANDOVER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Data-rich transition from construction to commissioning. Auto MC Dossier.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794760" cy="2468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829300" y="3840480"/>
            <a:ext cx="914400" cy="9144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29300" y="384048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KSA COMPLIANCE + SECURITY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NCA ECC, PDPL, CST CCRF. In-Kingdom hosting. 24/7 SOC monitoring.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657600"/>
            <a:ext cx="3794760" cy="2468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761220" y="3840480"/>
            <a:ext cx="914400" cy="9144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61220" y="384048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300" b="1" i="0">
                <a:solidFill>
                  <a:srgbClr val="1E2761"/>
                </a:solidFill>
                <a:latin typeface="Calibri"/>
              </a:rPr>
              <a:t>REPLICABLE BLUEPRINT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Template for future Maaden mega-projects. Modular, scalable design.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5 Core Modules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[Client] The digital platform structure per SoW Section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914400" cy="9144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M1</a:t>
            </a:r>
          </a:p>
        </p:txBody>
      </p:sp>
      <p:sp>
        <p:nvSpPr>
          <p:cNvPr id="7" name="Rectangle 6"/>
          <p:cNvSpPr/>
          <p:nvPr/>
        </p:nvSpPr>
        <p:spPr>
          <a:xfrm>
            <a:off x="1463040" y="1051560"/>
            <a:ext cx="10241280" cy="9144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645920" y="114300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Common Data Environment (CDE) + Engineering Data 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50876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Federated Model Viewer, Doc Mgmt, Intelligent P&amp;ID, Master Data Registry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057400"/>
            <a:ext cx="914400" cy="9144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2057400"/>
            <a:ext cx="10241280" cy="9144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645920" y="214884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Construction Management + AWP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51460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Digital Work Packaging (EWP/CWP/IWP), Constraint Kanban, Progress Measurement, Timesheets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063240"/>
            <a:ext cx="914400" cy="9144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306324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3063240"/>
            <a:ext cx="10241280" cy="9144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645920" y="315468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Pre-Commissioning + Mechanical Completion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2044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Digital Pre-Comm Plan, MC Dossier Assembly, Digital Check Sheets, Punch List Database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069080"/>
            <a:ext cx="914400" cy="9144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7200" y="406908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63040" y="4069080"/>
            <a:ext cx="10241280" cy="9144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645920" y="416052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Quality Management + Assurance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52628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NCR management, ITP tracking, welding QA, NDT records, supplier quality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074920"/>
            <a:ext cx="914400" cy="9144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507492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M5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63040" y="5074920"/>
            <a:ext cx="10241280" cy="9144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645920" y="5166360"/>
            <a:ext cx="98755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Procurement + Supply Chain Management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532120"/>
            <a:ext cx="98755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MRQ/RFQ workflows, PO tracking (SAP integration), expediting, inspection records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4-Phase Delivery per SoW 3.3.10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[Client] W1-W40 Year 1 build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707" y="1097280"/>
            <a:ext cx="2743200" cy="49377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86587" y="1234440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6587" y="201168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6587" y="233172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W1-W4</a:t>
            </a:r>
          </a:p>
        </p:txBody>
      </p:sp>
      <p:sp>
        <p:nvSpPr>
          <p:cNvPr id="9" name="Rectangle 8"/>
          <p:cNvSpPr/>
          <p:nvPr/>
        </p:nvSpPr>
        <p:spPr>
          <a:xfrm>
            <a:off x="586587" y="2697480"/>
            <a:ext cx="23774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6587" y="2834640"/>
            <a:ext cx="2377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REQUIREMENTS +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587" y="3383280"/>
            <a:ext cx="2377440" cy="1920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Kickoff, BEP v1.0, requirements workshops for 5 modules, KSA cloud provisioning (Azure Riyadh), NCA ECC baseline, enterprise integrations design.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6587" y="5623560"/>
            <a:ext cx="2377440" cy="320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6587" y="562356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i="0">
                <a:solidFill>
                  <a:srgbClr val="2196F3"/>
                </a:solidFill>
                <a:latin typeface="Calibri"/>
              </a:rPr>
              <a:t>5.5 FTE peak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84067" y="1097280"/>
            <a:ext cx="2743200" cy="49377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66947" y="1234440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66947" y="201168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6947" y="233172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W5-W12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66947" y="2697480"/>
            <a:ext cx="23774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66947" y="2834640"/>
            <a:ext cx="2377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PILOT MODULE DEPLOYMENT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6947" y="3383280"/>
            <a:ext cx="2377440" cy="1920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M2 AWP + M3 Pre-Comm pilot on selected ARGP area. Integrations built (Aconex, P6, SAP, AVEVA). 4 AI Agents. UAT prep + super-user training.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66947" y="5623560"/>
            <a:ext cx="2377440" cy="320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66947" y="562356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i="0">
                <a:solidFill>
                  <a:srgbClr val="4CAF50"/>
                </a:solidFill>
                <a:latin typeface="Calibri"/>
              </a:rPr>
              <a:t>15 FTE peak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4427" y="1097280"/>
            <a:ext cx="2743200" cy="493776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47307" y="1234440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7307" y="201168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47307" y="233172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W13-W16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47307" y="2697480"/>
            <a:ext cx="23774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47307" y="2834640"/>
            <a:ext cx="2377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VALIDATION +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7307" y="3383280"/>
            <a:ext cx="2377440" cy="1920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KPI measurement live. User training rolled out (super, end, ICT). Defect remediation. Pilot Acceptance Memo signed.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47307" y="5623560"/>
            <a:ext cx="2377440" cy="320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47307" y="562356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i="0">
                <a:solidFill>
                  <a:srgbClr val="D4AF37"/>
                </a:solidFill>
                <a:latin typeface="Calibri"/>
              </a:rPr>
              <a:t>6.5 FTE peak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44787" y="1097280"/>
            <a:ext cx="2743200" cy="493776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227667" y="1234440"/>
            <a:ext cx="1371600" cy="6400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27667" y="201168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PHASE 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27667" y="233172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W17-W40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27667" y="2697480"/>
            <a:ext cx="237744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227667" y="2834640"/>
            <a:ext cx="237744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FULL-SCALE ROLLOUT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27667" y="3383280"/>
            <a:ext cx="2377440" cy="19202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M1 CDE, M4 Quality, M5 Procurement rolled to entire ARGP. Performance tuning at 500+ users. Doc pack. Knowledge transfer to Maaden ICT. Final Acceptance.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227667" y="5623560"/>
            <a:ext cx="2377440" cy="3200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9227667" y="5623560"/>
            <a:ext cx="237744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100" b="1" i="0">
                <a:solidFill>
                  <a:srgbClr val="E97132"/>
                </a:solidFill>
                <a:latin typeface="Calibri"/>
              </a:rPr>
              <a:t>8 FTE peak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Year 1 Programme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[XDH] 40-week Gantt with phase overlaps and quality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W1</a:t>
            </a:r>
          </a:p>
        </p:txBody>
      </p:sp>
      <p:sp>
        <p:nvSpPr>
          <p:cNvPr id="6" name="Rectangle 5"/>
          <p:cNvSpPr/>
          <p:nvPr/>
        </p:nvSpPr>
        <p:spPr>
          <a:xfrm>
            <a:off x="2926080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408426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W4</a:t>
            </a:r>
          </a:p>
        </p:txBody>
      </p:sp>
      <p:sp>
        <p:nvSpPr>
          <p:cNvPr id="8" name="Rectangle 7"/>
          <p:cNvSpPr/>
          <p:nvPr/>
        </p:nvSpPr>
        <p:spPr>
          <a:xfrm>
            <a:off x="3591306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295394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8274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82362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W12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65242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069330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W16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52210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56298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9178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843266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W24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26146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730234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W28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3113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617202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W32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800082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504170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W36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87050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391138" y="1280160"/>
            <a:ext cx="3657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1" i="0">
                <a:solidFill>
                  <a:srgbClr val="1E2761"/>
                </a:solidFill>
                <a:latin typeface="Calibri"/>
              </a:rPr>
              <a:t>W40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574017" y="1554480"/>
            <a:ext cx="9144" cy="4114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1783080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Phase 1: Requirements + Env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926080" y="1783080"/>
            <a:ext cx="886968" cy="4114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926080" y="1783080"/>
            <a:ext cx="886968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W1-4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" y="2304288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Phase 2: Pilot (M2 + M3)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13048" y="2304288"/>
            <a:ext cx="1773936" cy="4114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813048" y="2304288"/>
            <a:ext cx="1773936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W5-12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2825496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Phase 3: Validation + Training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586984" y="2825496"/>
            <a:ext cx="886968" cy="4114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86984" y="2825496"/>
            <a:ext cx="886968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W13-16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5760" y="3346704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Phase 4a: M1 CDE + M2/M3 full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73952" y="3346704"/>
            <a:ext cx="1773936" cy="41148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73952" y="3346704"/>
            <a:ext cx="1773936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W17-24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3867912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Phase 4b: M4 Quality full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60920" y="3867912"/>
            <a:ext cx="1995678" cy="41148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60920" y="3867912"/>
            <a:ext cx="1995678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W21-29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4389120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Phase 4c: M5 Procurement full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247888" y="4389120"/>
            <a:ext cx="1773936" cy="41148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247888" y="4389120"/>
            <a:ext cx="1773936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W25-32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4910328"/>
            <a:ext cx="2514600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Phase 4d: Handover + Docs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21824" y="4910328"/>
            <a:ext cx="1773936" cy="41148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021824" y="4910328"/>
            <a:ext cx="1773936" cy="41148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W33-40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5568696"/>
            <a:ext cx="11430000" cy="2743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65760" y="5614416"/>
            <a:ext cx="274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QUALITY GATES: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6986" y="5934456"/>
            <a:ext cx="5486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316986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042666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1E2761"/>
                </a:solidFill>
                <a:latin typeface="Calibri"/>
              </a:rPr>
              <a:t>Requirements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90922" y="5934456"/>
            <a:ext cx="5486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090922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16602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1E2761"/>
                </a:solidFill>
                <a:latin typeface="Calibri"/>
              </a:rPr>
              <a:t>Pilot UAT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77890" y="5934456"/>
            <a:ext cx="5486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977890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03570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1E2761"/>
                </a:solidFill>
                <a:latin typeface="Calibri"/>
              </a:rPr>
              <a:t>Pilot Accept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51825" y="5934456"/>
            <a:ext cx="5486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751825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77505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1E2761"/>
                </a:solidFill>
                <a:latin typeface="Calibri"/>
              </a:rPr>
              <a:t>M1+M2/M3 live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860536" y="5934456"/>
            <a:ext cx="548640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860536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86215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1E2761"/>
                </a:solidFill>
                <a:latin typeface="Calibri"/>
              </a:rPr>
              <a:t>M4 live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299697" y="5934456"/>
            <a:ext cx="548640" cy="5486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11299697" y="5934456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G6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25377" y="6254496"/>
            <a:ext cx="109728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800" b="0" i="0">
                <a:solidFill>
                  <a:srgbClr val="1E2761"/>
                </a:solidFill>
                <a:latin typeface="Calibri"/>
              </a:rPr>
              <a:t>FINAL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6537960"/>
            <a:ext cx="105156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606060"/>
                </a:solidFill>
                <a:latin typeface="Calibri"/>
              </a:rPr>
              <a:t>PO effective 05 Jan 2026 assumed. All dates cascade from PO date.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Team Composition  ·  7 Lean Roles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[XDH] Total 77 person-months across Year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5394960" cy="1234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94360" y="1188719"/>
            <a:ext cx="594360" cy="594360"/>
          </a:xfrm>
          <a:prstGeom prst="ellipse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188719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14300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Programme Manager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463039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  <a:latin typeface="Calibri"/>
              </a:rPr>
              <a:t>Very Senior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188719"/>
            <a:ext cx="137160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0" y="1188719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D4AF37"/>
                </a:solidFill>
                <a:latin typeface="Calibri"/>
              </a:rPr>
              <a:t>99K/mo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1435607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12 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178308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Overall delivery, client interface, escalation, phase gates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1051560"/>
            <a:ext cx="5394960" cy="1234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217920" y="1188719"/>
            <a:ext cx="594360" cy="59436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217920" y="1188719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114300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Solution Architect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1463039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  <a:latin typeface="Calibri"/>
              </a:rPr>
              <a:t>Very Senior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12680" y="1188719"/>
            <a:ext cx="137160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12680" y="1188719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D4AF37"/>
                </a:solidFill>
                <a:latin typeface="Calibri"/>
              </a:rPr>
              <a:t>72.6K/mo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12680" y="1435607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13 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178308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Architecture, tech stack, enterprise integrations, code reviews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377440"/>
            <a:ext cx="5394960" cy="1234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94360" y="2514600"/>
            <a:ext cx="594360" cy="594360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94360" y="251460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246888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Database Administrator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278892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  <a:latin typeface="Calibri"/>
              </a:rPr>
              <a:t>Senior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2514600"/>
            <a:ext cx="137160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89120" y="251460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D4AF37"/>
                </a:solidFill>
                <a:latin typeface="Calibri"/>
              </a:rPr>
              <a:t>72.6K/mo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2761488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11.5 mo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10896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Data model, KSA cloud, backups, patching, performance tuning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80760" y="2377440"/>
            <a:ext cx="5394960" cy="1234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217920" y="2514600"/>
            <a:ext cx="594360" cy="594360"/>
          </a:xfrm>
          <a:prstGeom prst="ellipse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217920" y="251460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246888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AI/ML Engineer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03720" y="278892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  <a:latin typeface="Calibri"/>
              </a:rPr>
              <a:t>Senior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12680" y="2514600"/>
            <a:ext cx="137160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0012680" y="251460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D4AF37"/>
                </a:solidFill>
                <a:latin typeface="Calibri"/>
              </a:rPr>
              <a:t>72.6K/mo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12680" y="2761488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11 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10896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4 AI Agents: Progress, RFI, Schedule Risk, Punch List Escalation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703320"/>
            <a:ext cx="5394960" cy="1234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594360" y="3840480"/>
            <a:ext cx="594360" cy="59436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94360" y="384048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KS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280160" y="3794759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KSA Compliance / Security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411480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  <a:latin typeface="Calibri"/>
              </a:rPr>
              <a:t>Senior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120" y="3840480"/>
            <a:ext cx="137160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389120" y="384048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D4AF37"/>
                </a:solidFill>
                <a:latin typeface="Calibri"/>
              </a:rPr>
              <a:t>72.6K/mo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89120" y="4087368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5.5 mo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" y="443484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NCA ECC, PDPL, CST CCRF, SIEM, pen test, audits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080760" y="3703320"/>
            <a:ext cx="5394960" cy="1234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6217920" y="3840480"/>
            <a:ext cx="594360" cy="59436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217920" y="384048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MO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03720" y="3794759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Module Specialist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03720" y="411480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  <a:latin typeface="Calibri"/>
              </a:rPr>
              <a:t>Senior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0012680" y="3840480"/>
            <a:ext cx="137160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10012680" y="384048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D4AF37"/>
                </a:solidFill>
                <a:latin typeface="Calibri"/>
              </a:rPr>
              <a:t>72.6K/mo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12680" y="4087368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12 mo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443484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Functional depth in M1-M5, business analysis, UAT lead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57200" y="5029200"/>
            <a:ext cx="5394960" cy="1234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Oval 59"/>
          <p:cNvSpPr/>
          <p:nvPr/>
        </p:nvSpPr>
        <p:spPr>
          <a:xfrm>
            <a:off x="594360" y="5166360"/>
            <a:ext cx="594360" cy="59436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594360" y="5166360"/>
            <a:ext cx="594360" cy="59436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80160" y="5120640"/>
            <a:ext cx="31089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Documents Controller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280160" y="5440680"/>
            <a:ext cx="31089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606060"/>
                </a:solidFill>
                <a:latin typeface="Calibri"/>
              </a:rPr>
              <a:t>Senior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120" y="5166360"/>
            <a:ext cx="1371600" cy="5029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89120" y="5166360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D4AF37"/>
                </a:solidFill>
                <a:latin typeface="Calibri"/>
              </a:rPr>
              <a:t>72.6K/mo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389120" y="5413248"/>
            <a:ext cx="137160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12 mo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4360" y="5760720"/>
            <a:ext cx="51206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BEP, MC Dossier, training materials, user + admin manuals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0760" y="5029200"/>
            <a:ext cx="5394960" cy="123444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355080" y="5166360"/>
            <a:ext cx="48463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  <a:latin typeface="Calibri"/>
              </a:rPr>
              <a:t>Y1 TEAM TOTALS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55080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77 person-months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55080" y="58521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7 specialist roles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006840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AED 5.65M resource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58521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(pre HW+Margin+VAT)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 proposed] 40+ tools across dev, cloud, AI, integration, security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3794760" cy="251460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94360" y="1188719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CLOUD PLATFORM (KSA)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" y="15544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7373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Microsoft Azure Riyadh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SQL / Cosmos DB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2859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Databricks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Sentinel (SIEM)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51560"/>
            <a:ext cx="3794760" cy="251460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1188719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AI + ML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26280" y="15544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0" y="17373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Anthropic Claude 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OpenAI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859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HuggingFace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5603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MLflow + Databricks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21040" y="1051560"/>
            <a:ext cx="3794760" cy="251460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58200" y="1188719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ENTERPRISE INTEGRATIONS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58200" y="15544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503920" y="17373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Oracle Aconex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20116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Primavera P6 EPPM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22859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SAP S/4HANA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25603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AVEVA PI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283463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Microsoft EPM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310895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AD / ADFS SSO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03320"/>
            <a:ext cx="3794760" cy="251460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4360" y="3840480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DEV + CI/CD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42062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438912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GitHub Enterprise + Copilot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6344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DevOps Pipelines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493775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VS Code + JetBrains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2120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Node.js + TypeScript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54863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React + Next.js + Tailwind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389120" y="3703320"/>
            <a:ext cx="3794760" cy="251460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526280" y="3840480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SECURITY + MONITORING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6280" y="42062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0" y="438912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Azure Sentinel SIEM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66344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Burp Suite (external pen)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93775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OWASP ZAP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0" y="52120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Datadog APM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54863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PagerDuty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21040" y="3703320"/>
            <a:ext cx="3794760" cy="251460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458200" y="3840480"/>
            <a:ext cx="352044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BIM / CAD (M1)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458200" y="42062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503920" y="438912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Autodesk Navisworks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0" y="466344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Autodesk Revit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03920" y="493775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Autodesk Plant 3D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521207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APS / Forge Viewer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503920" y="548639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IFC.js / xeokit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Enterprise Integrations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[Client] 10 systems the platform must integrate with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2743200"/>
            <a:ext cx="2468880" cy="14630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937760" y="2834640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200" b="1" i="0">
                <a:solidFill>
                  <a:srgbClr val="1E2761"/>
                </a:solidFill>
                <a:latin typeface="Calibri"/>
              </a:rPr>
              <a:t>ARGP 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154680"/>
            <a:ext cx="2468880" cy="5943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1E2761"/>
                </a:solidFill>
                <a:latin typeface="Calibri"/>
              </a:rPr>
              <a:t>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3794760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1E2761"/>
                </a:solidFill>
                <a:latin typeface="Calibri"/>
              </a:rPr>
              <a:t>(Single source of truth)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1280160"/>
            <a:ext cx="1828800" cy="73152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828800" y="13533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Oracle Aconex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645919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Documents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937760" y="1280160"/>
            <a:ext cx="1828800" cy="7315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937760" y="13533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Primavera P6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1645919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Schedules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280160"/>
            <a:ext cx="1828800" cy="73152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046720" y="13533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SAP S/4HANA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1645919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ERP + PO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241280" y="2743200"/>
            <a:ext cx="1828800" cy="7315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241280" y="281635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AVEVA PI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310896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Real-time 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0" y="4160520"/>
            <a:ext cx="1828800" cy="73152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241280" y="423367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MS EPM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452628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Portfolio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5394960"/>
            <a:ext cx="1828800" cy="731520"/>
          </a:xfrm>
          <a:prstGeom prst="round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46720" y="54681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ServiceNow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576072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ITSM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37760" y="5394960"/>
            <a:ext cx="1828800" cy="731520"/>
          </a:xfrm>
          <a:prstGeom prst="round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937760" y="54681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Outlook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76072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Email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828800" y="5394960"/>
            <a:ext cx="1828800" cy="73152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828800" y="546811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576072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Sec logs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0040" y="4160520"/>
            <a:ext cx="1828800" cy="73152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20040" y="423367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Azure 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" y="452628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SSO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" y="2743200"/>
            <a:ext cx="1828800" cy="7315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20040" y="2816352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ADFS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0040" y="310896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  <a:latin typeface="Calibri"/>
              </a:rPr>
              <a:t>IAM Federation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" y="6309360"/>
            <a:ext cx="11430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1">
                <a:solidFill>
                  <a:srgbClr val="606060"/>
                </a:solidFill>
                <a:latin typeface="Calibri"/>
              </a:rPr>
              <a:t>Protocols: REST/OAuth 2.0, SAP OData, SAML 2.0 for SSO, AVEVA PI Web API. All integrations built in Phase 1-2.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4 AI Agents per SoW 3.3.4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[Client mandated] AI-powered capabilities in the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5623560" cy="26060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0080" y="1234439"/>
            <a:ext cx="914400" cy="914400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1188719"/>
            <a:ext cx="42062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Progress Verification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37360" y="1645919"/>
            <a:ext cx="42062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2196F3"/>
                </a:solidFill>
                <a:latin typeface="Calibri"/>
              </a:rPr>
              <a:t>Anthropic Claude +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286000"/>
            <a:ext cx="521208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Ingests IWP completion data + site photos + timesheets. Auto-produces daily progress % per work package.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051560"/>
            <a:ext cx="5623560" cy="26060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492240" y="1234439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234439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0" y="1188719"/>
            <a:ext cx="42062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RFI Turnaround Predictor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1645919"/>
            <a:ext cx="42062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D4AF37"/>
                </a:solidFill>
                <a:latin typeface="Calibri"/>
              </a:rPr>
              <a:t>Claude + XGBoost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286000"/>
            <a:ext cx="521208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Classifies incoming RFIs by priority, predicts likely turnaround time, escalates aged items.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794760"/>
            <a:ext cx="5623560" cy="26060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640080" y="3977640"/>
            <a:ext cx="914400" cy="914400"/>
          </a:xfrm>
          <a:prstGeom prst="ellipse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397764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931920"/>
            <a:ext cx="42062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Schedule Risk Forecast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4389120"/>
            <a:ext cx="42062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9C27B0"/>
                </a:solidFill>
                <a:latin typeface="Calibri"/>
              </a:rPr>
              <a:t>Prophet + XGBoost + Claude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029200"/>
            <a:ext cx="521208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ML model on historical schedule + productivity. Forecasts likely completion date, highlights risks.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3794760"/>
            <a:ext cx="5623560" cy="26060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6492240" y="3977640"/>
            <a:ext cx="914400" cy="9144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0" y="397764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3931920"/>
            <a:ext cx="42062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1E2761"/>
                </a:solidFill>
                <a:latin typeface="Calibri"/>
              </a:rPr>
              <a:t>Punch List Escalation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389120"/>
            <a:ext cx="420624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E53935"/>
                </a:solidFill>
                <a:latin typeface="Calibri"/>
              </a:rPr>
              <a:t>Claude + rules engine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37960" y="5029200"/>
            <a:ext cx="5212080" cy="12801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0F1433"/>
                </a:solidFill>
                <a:latin typeface="Calibri"/>
              </a:rPr>
              <a:t>Scores every punch item on age + severity + system criticality. Auto-escalates blocking items.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KSA Compliance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[Client mandated] Four regulatory pillars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03707" y="1051560"/>
            <a:ext cx="2743200" cy="50292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0867" y="1188719"/>
            <a:ext cx="2468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NCA ECC-1:2018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867" y="1645919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Cybersecurity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867" y="20116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0867" y="2148839"/>
            <a:ext cx="2468880" cy="2560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National Cybersecurity Authority Essential Cybersecurity Controls. IAM, encryption, incident response, SIEM.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867" y="4846320"/>
            <a:ext cx="2468880" cy="109728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32307" y="49377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  <a:latin typeface="Calibri"/>
              </a:rPr>
              <a:t>Requirements: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2307" y="5212079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10 controls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2307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Sign-off: External auditor annual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84067" y="1051560"/>
            <a:ext cx="2743200" cy="50292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1227" y="1188719"/>
            <a:ext cx="2468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PDPL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1227" y="1645919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Data Privacy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21227" y="20116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421227" y="2148839"/>
            <a:ext cx="2468880" cy="2560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Personal Data Protection Law from SDAIA. DPIA required. Data subject rights. Consent management.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21227" y="4846320"/>
            <a:ext cx="2468880" cy="109728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512667" y="49377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  <a:latin typeface="Calibri"/>
              </a:rPr>
              <a:t>Requirements: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12667" y="5212079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8 controls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12667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Sign-off: DPO + attestation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64427" y="1051560"/>
            <a:ext cx="2743200" cy="50292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301587" y="1188719"/>
            <a:ext cx="2468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CST CCRF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1587" y="1645919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Cloud Framework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1587" y="20116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301587" y="2148839"/>
            <a:ext cx="2468880" cy="2560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Cloud Computing Regulatory Framework. In-Kingdom hosting mandatory. Level 1-4 classification.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01587" y="4846320"/>
            <a:ext cx="2468880" cy="109728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393027" y="49377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  <a:latin typeface="Calibri"/>
              </a:rPr>
              <a:t>Requirements: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3027" y="5212079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4 controls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93027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Sign-off: CST filing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044787" y="1051560"/>
            <a:ext cx="2743200" cy="50292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181947" y="1188719"/>
            <a:ext cx="246888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ISO 27001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81947" y="1645919"/>
            <a:ext cx="24688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1">
                <a:solidFill>
                  <a:srgbClr val="FFFFFF"/>
                </a:solidFill>
                <a:latin typeface="Calibri"/>
              </a:rPr>
              <a:t>Info Security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81947" y="201168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9181947" y="2148839"/>
            <a:ext cx="2468880" cy="2560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International standard. Pre-audit in Y1, full certification in Y2.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81947" y="4846320"/>
            <a:ext cx="2468880" cy="109728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273387" y="493776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  <a:latin typeface="Calibri"/>
              </a:rPr>
              <a:t>Requirements: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73387" y="5212079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3 controls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73387" y="5532120"/>
            <a:ext cx="2286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Sign-off: ISO auditor Y2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5760" y="6263640"/>
            <a:ext cx="11430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0" i="1">
                <a:solidFill>
                  <a:srgbClr val="606060"/>
                </a:solidFill>
                <a:latin typeface="Calibri"/>
              </a:rPr>
              <a:t>Total 25 compliance controls tracked in Master Roadmap KSA Compliance sheet.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6 Quality Gates  ·  Payment Milestones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 proposed] Aligned with SoW 3.3.10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51560"/>
            <a:ext cx="822960" cy="7772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05156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G1</a:t>
            </a:r>
          </a:p>
        </p:txBody>
      </p:sp>
      <p:sp>
        <p:nvSpPr>
          <p:cNvPr id="7" name="Rectangle 6"/>
          <p:cNvSpPr/>
          <p:nvPr/>
        </p:nvSpPr>
        <p:spPr>
          <a:xfrm>
            <a:off x="1325880" y="1051560"/>
            <a:ext cx="1097280" cy="77724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25880" y="105156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D4AF37"/>
                </a:solidFill>
                <a:latin typeface="Calibri"/>
              </a:rPr>
              <a:t>W4</a:t>
            </a:r>
          </a:p>
        </p:txBody>
      </p:sp>
      <p:sp>
        <p:nvSpPr>
          <p:cNvPr id="9" name="Rectangle 8"/>
          <p:cNvSpPr/>
          <p:nvPr/>
        </p:nvSpPr>
        <p:spPr>
          <a:xfrm>
            <a:off x="2468880" y="1051560"/>
            <a:ext cx="7680960" cy="7772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606040" y="1097280"/>
            <a:ext cx="7498079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REQUIREMENTS SIGN-OFF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1435607"/>
            <a:ext cx="7498079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BEP + Requirements + Solution Arch + Envs live + NCA ECC baseline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95560" y="1051560"/>
            <a:ext cx="1691640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195560" y="1051560"/>
            <a:ext cx="169164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Calibri"/>
              </a:rPr>
              <a:t>15%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74519"/>
            <a:ext cx="822960" cy="7772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1874519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25880" y="1874519"/>
            <a:ext cx="1097280" cy="77724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25880" y="1874519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D4AF37"/>
                </a:solidFill>
                <a:latin typeface="Calibri"/>
              </a:rPr>
              <a:t>W12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1874519"/>
            <a:ext cx="7680960" cy="7772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606040" y="1920239"/>
            <a:ext cx="7498079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PILOT UAT + INTEGRATIONS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2258568"/>
            <a:ext cx="7498079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M2/M3 Pilot live + 4 AI Agents + Enterprise integrations + Pen test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95560" y="1874519"/>
            <a:ext cx="1691640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195560" y="1874519"/>
            <a:ext cx="169164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Calibri"/>
              </a:rPr>
              <a:t>20%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697480"/>
            <a:ext cx="822960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269748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2697480"/>
            <a:ext cx="1097280" cy="77724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25880" y="269748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D4AF37"/>
                </a:solidFill>
                <a:latin typeface="Calibri"/>
              </a:rPr>
              <a:t>W16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68880" y="2697480"/>
            <a:ext cx="7680960" cy="7772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606040" y="2743200"/>
            <a:ext cx="7498079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PILOT ACCEPTANCE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3081528"/>
            <a:ext cx="7498079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Pilot validated in Prod + KPIs baselined + Super users trained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195560" y="2697480"/>
            <a:ext cx="1691640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195560" y="2697480"/>
            <a:ext cx="169164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Calibri"/>
              </a:rPr>
              <a:t>15%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520440"/>
            <a:ext cx="822960" cy="77724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57200" y="352044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25880" y="3520440"/>
            <a:ext cx="1097280" cy="77724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325880" y="352044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D4AF37"/>
                </a:solidFill>
                <a:latin typeface="Calibri"/>
              </a:rPr>
              <a:t>W24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3520440"/>
            <a:ext cx="7680960" cy="7772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606040" y="3566160"/>
            <a:ext cx="7498079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M1 + M2/M3 FULL LIVE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06040" y="3904488"/>
            <a:ext cx="7498079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CDE full live + M2/M3 rolled to all users + Perf SLA at 500+ users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195560" y="3520440"/>
            <a:ext cx="1691640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10195560" y="3520440"/>
            <a:ext cx="169164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Calibri"/>
              </a:rPr>
              <a:t>15%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343400"/>
            <a:ext cx="822960" cy="77724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7200" y="434340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325880" y="4343400"/>
            <a:ext cx="1097280" cy="77724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325880" y="434340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D4AF37"/>
                </a:solidFill>
                <a:latin typeface="Calibri"/>
              </a:rPr>
              <a:t>W29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468880" y="4343400"/>
            <a:ext cx="7680960" cy="7772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606040" y="4389120"/>
            <a:ext cx="7498079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M4 QUALITY FULL LIVE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606040" y="4727448"/>
            <a:ext cx="7498079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Quality Mgmt full live + Field test + ISO 27001 pre-audit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195560" y="4343400"/>
            <a:ext cx="1691640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0195560" y="4343400"/>
            <a:ext cx="169164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Calibri"/>
              </a:rPr>
              <a:t>15%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166360"/>
            <a:ext cx="822960" cy="77724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457200" y="516636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G6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325880" y="5166360"/>
            <a:ext cx="1097280" cy="77724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1325880" y="5166360"/>
            <a:ext cx="109728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D4AF37"/>
                </a:solidFill>
                <a:latin typeface="Calibri"/>
              </a:rPr>
              <a:t>W40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68880" y="5166360"/>
            <a:ext cx="7680960" cy="7772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606040" y="5212080"/>
            <a:ext cx="7498079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FINAL ACCEPTANCE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06040" y="5550408"/>
            <a:ext cx="7498079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M5 Procurement live + Docs + Runbooks + ICT handover + Cert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195560" y="5166360"/>
            <a:ext cx="1691640" cy="7772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10195560" y="5166360"/>
            <a:ext cx="169164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400" b="1" i="0">
                <a:solidFill>
                  <a:srgbClr val="1E2761"/>
                </a:solidFill>
                <a:latin typeface="Calibri"/>
              </a:rPr>
              <a:t>20%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Payment Distribution  ·  Year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 proposed] 8 tranches summing to 100%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PAYMENT BREAKDOWN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08760"/>
            <a:ext cx="5486400" cy="50292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731520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08760"/>
            <a:ext cx="73152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Mob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00200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Mobilisation on 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1600200"/>
            <a:ext cx="640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1" i="0">
                <a:solidFill>
                  <a:srgbClr val="1E2761"/>
                </a:solidFill>
                <a:latin typeface="Calibri"/>
              </a:rPr>
              <a:t>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600200"/>
            <a:ext cx="685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 i="1">
                <a:solidFill>
                  <a:srgbClr val="606060"/>
                </a:solidFill>
                <a:latin typeface="Calibri"/>
              </a:rPr>
              <a:t>AED 230K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057400"/>
            <a:ext cx="5486400" cy="50292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731520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057400"/>
            <a:ext cx="73152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G1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148840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Requirements Sign-off (W4)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48840"/>
            <a:ext cx="640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1" i="0">
                <a:solidFill>
                  <a:srgbClr val="1E2761"/>
                </a:solidFill>
                <a:latin typeface="Calibri"/>
              </a:rPr>
              <a:t>10%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148840"/>
            <a:ext cx="685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 i="1">
                <a:solidFill>
                  <a:srgbClr val="606060"/>
                </a:solidFill>
                <a:latin typeface="Calibri"/>
              </a:rPr>
              <a:t>AED 461K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606040"/>
            <a:ext cx="5486400" cy="50292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57200" y="2606040"/>
            <a:ext cx="731520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606040"/>
            <a:ext cx="73152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G2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80160" y="2697480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Pilot UAT + Integrations (W12)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2697480"/>
            <a:ext cx="640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1" i="0">
                <a:solidFill>
                  <a:srgbClr val="1E2761"/>
                </a:solidFill>
                <a:latin typeface="Calibri"/>
              </a:rPr>
              <a:t>15%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2697480"/>
            <a:ext cx="685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 i="1">
                <a:solidFill>
                  <a:srgbClr val="606060"/>
                </a:solidFill>
                <a:latin typeface="Calibri"/>
              </a:rPr>
              <a:t>AED 691K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154680"/>
            <a:ext cx="5486400" cy="50292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57200" y="3154680"/>
            <a:ext cx="731520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3154680"/>
            <a:ext cx="73152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G3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3246120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Pilot Acceptance (W16)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0" y="3246120"/>
            <a:ext cx="640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1" i="0">
                <a:solidFill>
                  <a:srgbClr val="1E2761"/>
                </a:solidFill>
                <a:latin typeface="Calibri"/>
              </a:rPr>
              <a:t>15%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212080" y="3246120"/>
            <a:ext cx="685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 i="1">
                <a:solidFill>
                  <a:srgbClr val="606060"/>
                </a:solidFill>
                <a:latin typeface="Calibri"/>
              </a:rPr>
              <a:t>AED 691K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703320"/>
            <a:ext cx="5486400" cy="50292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3703320"/>
            <a:ext cx="731520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703320"/>
            <a:ext cx="73152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G4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3794759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M1 + M2/M3 Full Live (W24)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0" y="3794759"/>
            <a:ext cx="640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1" i="0">
                <a:solidFill>
                  <a:srgbClr val="1E2761"/>
                </a:solidFill>
                <a:latin typeface="Calibri"/>
              </a:rPr>
              <a:t>15%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794759"/>
            <a:ext cx="685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 i="1">
                <a:solidFill>
                  <a:srgbClr val="606060"/>
                </a:solidFill>
                <a:latin typeface="Calibri"/>
              </a:rPr>
              <a:t>AED 691K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251959"/>
            <a:ext cx="5486400" cy="50292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57200" y="4251959"/>
            <a:ext cx="731520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4251959"/>
            <a:ext cx="73152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G5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280160" y="4343399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M4 Quality Full Live (W29)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343399"/>
            <a:ext cx="640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1" i="0">
                <a:solidFill>
                  <a:srgbClr val="1E2761"/>
                </a:solidFill>
                <a:latin typeface="Calibri"/>
              </a:rPr>
              <a:t>15%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212080" y="4343399"/>
            <a:ext cx="685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 i="1">
                <a:solidFill>
                  <a:srgbClr val="606060"/>
                </a:solidFill>
                <a:latin typeface="Calibri"/>
              </a:rPr>
              <a:t>AED 691K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800599"/>
            <a:ext cx="5486400" cy="50292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457200" y="4800599"/>
            <a:ext cx="731520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4800599"/>
            <a:ext cx="73152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G6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80160" y="4892039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Final Acceptance (W40)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0" y="4892039"/>
            <a:ext cx="640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1" i="0">
                <a:solidFill>
                  <a:srgbClr val="1E2761"/>
                </a:solidFill>
                <a:latin typeface="Calibri"/>
              </a:rPr>
              <a:t>15%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212080" y="4892039"/>
            <a:ext cx="685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 i="1">
                <a:solidFill>
                  <a:srgbClr val="606060"/>
                </a:solidFill>
                <a:latin typeface="Calibri"/>
              </a:rPr>
              <a:t>AED 691K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5349239"/>
            <a:ext cx="5486400" cy="50292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457200" y="5349239"/>
            <a:ext cx="731520" cy="5029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5349239"/>
            <a:ext cx="73152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1E2761"/>
                </a:solidFill>
                <a:latin typeface="Calibri"/>
              </a:rPr>
              <a:t>Wrap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80160" y="5440679"/>
            <a:ext cx="32004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Final handover (W41)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5440679"/>
            <a:ext cx="64008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100" b="1" i="0">
                <a:solidFill>
                  <a:srgbClr val="1E2761"/>
                </a:solidFill>
                <a:latin typeface="Calibri"/>
              </a:rPr>
              <a:t>10%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12080" y="5440679"/>
            <a:ext cx="685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0" i="1">
                <a:solidFill>
                  <a:srgbClr val="606060"/>
                </a:solidFill>
                <a:latin typeface="Calibri"/>
              </a:rPr>
              <a:t>AED 461K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897879"/>
            <a:ext cx="5486400" cy="457200"/>
          </a:xfrm>
          <a:prstGeom prst="round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1280160" y="5989319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TOTAL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5989319"/>
            <a:ext cx="6400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200" b="1" i="0">
                <a:solidFill>
                  <a:srgbClr val="D4AF37"/>
                </a:solidFill>
                <a:latin typeface="Calibri"/>
              </a:rPr>
              <a:t>100%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12080" y="5989319"/>
            <a:ext cx="685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  <a:latin typeface="Calibri"/>
              </a:rPr>
              <a:t>AED 4.6M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0" y="1508760"/>
            <a:ext cx="5333695" cy="347472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629400" y="1691640"/>
            <a:ext cx="484632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  <a:latin typeface="Calibri"/>
              </a:rPr>
              <a:t>YEAR 1 GRAND TOTAL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629400" y="2148840"/>
            <a:ext cx="4846320" cy="109728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AED 4.6M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629400" y="3337560"/>
            <a:ext cx="484632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200" b="0" i="0">
                <a:solidFill>
                  <a:srgbClr val="CADCFC"/>
                </a:solidFill>
                <a:latin typeface="Calibri"/>
              </a:rPr>
              <a:t>USD 1.25M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29400" y="3931920"/>
            <a:ext cx="3657600" cy="2743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629400" y="4069080"/>
            <a:ext cx="48463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Includes 5% KSA WHT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629400" y="4389120"/>
            <a:ext cx="48463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Hardware + Licences 15%, Margin 40%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0" y="5166360"/>
            <a:ext cx="5333695" cy="9144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629400" y="5257800"/>
            <a:ext cx="48463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PAYMENT SCHEDULE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29400" y="5577840"/>
            <a:ext cx="4846320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1E2761"/>
                </a:solidFill>
                <a:latin typeface="Calibri"/>
              </a:rPr>
              <a:t>Invoices raised 20th of each month. Payment: within 30 calendar days.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Risk Heat Map  ·  Top 25 Risks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 proposed] Score = Likelihood x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2743200"/>
            <a:ext cx="457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0F1433"/>
                </a:solidFill>
                <a:latin typeface="Calibri"/>
              </a:rPr>
              <a:t>HIGH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4206240"/>
            <a:ext cx="457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0F1433"/>
                </a:solidFill>
                <a:latin typeface="Calibri"/>
              </a:rPr>
              <a:t>MED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" y="5669280"/>
            <a:ext cx="457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0F1433"/>
                </a:solidFill>
                <a:latin typeface="Calibri"/>
              </a:rPr>
              <a:t>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" y="1051560"/>
            <a:ext cx="274320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1792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0F1433"/>
                </a:solidFill>
                <a:latin typeface="Calibri"/>
              </a:rPr>
              <a:t>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621792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0F1433"/>
                </a:solidFill>
                <a:latin typeface="Calibri"/>
              </a:rPr>
              <a:t>MED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6217920"/>
            <a:ext cx="14630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0F1433"/>
                </a:solidFill>
                <a:latin typeface="Calibri"/>
              </a:rP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446520"/>
            <a:ext cx="438912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1" i="0">
                <a:solidFill>
                  <a:srgbClr val="1E2761"/>
                </a:solidFill>
                <a:latin typeface="Calibri"/>
              </a:rPr>
              <a:t>LIKELIHOOD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1280160"/>
            <a:ext cx="1417320" cy="13258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2103120" y="1280160"/>
            <a:ext cx="1417320" cy="132588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66160" y="1280160"/>
            <a:ext cx="1417320" cy="132588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" y="2651760"/>
            <a:ext cx="1417320" cy="13258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103120" y="2651760"/>
            <a:ext cx="1417320" cy="13258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66160" y="2651760"/>
            <a:ext cx="1417320" cy="132588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4023360"/>
            <a:ext cx="1417320" cy="13258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103120" y="4023360"/>
            <a:ext cx="1417320" cy="13258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566160" y="4023360"/>
            <a:ext cx="1417320" cy="132588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3639312" y="1389888"/>
            <a:ext cx="1280160" cy="2743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685032" y="138988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KSA cloud delay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39312" y="1709928"/>
            <a:ext cx="1280160" cy="2743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85032" y="170992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Enterprise access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39312" y="2029967"/>
            <a:ext cx="1280160" cy="2743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85032" y="2029967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Scope creep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176272" y="1389888"/>
            <a:ext cx="1280160" cy="2743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221991" y="138988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NCA ECC finding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639312" y="2761488"/>
            <a:ext cx="1280160" cy="2743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85032" y="276148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Ramadan/Hajj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76272" y="2761488"/>
            <a:ext cx="1280160" cy="2743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221991" y="276148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User adoption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39312" y="3081528"/>
            <a:ext cx="1280160" cy="2743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685032" y="308152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Data quality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76272" y="3081528"/>
            <a:ext cx="1280160" cy="2743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221991" y="308152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SAP complexity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76272" y="3401568"/>
            <a:ext cx="1280160" cy="274320"/>
          </a:xfrm>
          <a:prstGeom prst="round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221991" y="3401568"/>
            <a:ext cx="118872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  <a:latin typeface="Calibri"/>
              </a:rPr>
              <a:t>AI cost overrun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1051560"/>
            <a:ext cx="5790895" cy="512064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26480" y="114300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TOP MITIGATION PLAYS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26480" y="1600200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6126480" y="1600200"/>
            <a:ext cx="548640" cy="6858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26480" y="1600200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1627632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KSA CLOUD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1892807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Request tenancy Day 1. Escalate to Microsoft Riyadh. Have Oracle + STC fallback.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26480" y="2359152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126480" y="2359152"/>
            <a:ext cx="548640" cy="6858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26480" y="2359152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66560" y="2386584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ENTERPRISE ACCESS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766560" y="2651760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Raise all ITSM tickets Day 1. Weekly follow-up.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126480" y="3118104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126480" y="3118104"/>
            <a:ext cx="548640" cy="6858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126480" y="3118104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3145536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NCA ECC BASELINE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66560" y="3410712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KSA Security engaged Day 1. External pen test W14 buffer.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126480" y="3877056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6126480" y="3877056"/>
            <a:ext cx="548640" cy="68580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26480" y="3877056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66560" y="3904488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SCOPE CREEP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66560" y="4169664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Firm BEP v1.0 in W4 as baseline. Change control per T&amp;C.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126480" y="4636008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126480" y="4636008"/>
            <a:ext cx="548640" cy="68580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126480" y="4636008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66560" y="4663440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USER ADOPTION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6560" y="4928616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Super users in W11. User forums. Executive comms.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126480" y="5394960"/>
            <a:ext cx="5486400" cy="685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6126480" y="5394960"/>
            <a:ext cx="548640" cy="6858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126480" y="5394960"/>
            <a:ext cx="548640" cy="6858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66560" y="5422392"/>
            <a:ext cx="475488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AI COST CONTROL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66560" y="5687568"/>
            <a:ext cx="475488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Weekly API spend monitoring. Prompt optimisation.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Deliverables Register  ·  25 Items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[Client + XDH] Every deliverable per SoW 3.4.5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05156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BEP v1.0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105156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88920" y="105156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80360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9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Requirements v1.0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105156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20640" y="105156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12079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79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Solution Arch v1.0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52359" y="105156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452359" y="1051560"/>
            <a:ext cx="2194560" cy="292608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543799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Infra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799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KSA Cloud envs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84080" y="105156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784080" y="105156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875519" y="107899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38560" y="107899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75519" y="1417319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NCA ECC baseline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205740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205740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11680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PDPL DPIA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88920" y="205740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788920" y="2057400"/>
            <a:ext cx="2194560" cy="2926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2880360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399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880360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M2 AWP Pilot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20640" y="205740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120640" y="2057400"/>
            <a:ext cx="2194560" cy="2926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212079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12079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M3 Pre-Comm Pilot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452359" y="205740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7452359" y="2057400"/>
            <a:ext cx="2194560" cy="2926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543799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43799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4 AI Agents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784080" y="205740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9784080" y="2057400"/>
            <a:ext cx="2194560" cy="2926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9875519" y="2084831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1338560" y="2084831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875519" y="242316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Enterprise integrations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306324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57200" y="306324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548640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11680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Pen Test v1.0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788920" y="306324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2788920" y="306324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2880360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W16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343399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880360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Pilot Acceptance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120640" y="306324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Rectangle 65"/>
          <p:cNvSpPr/>
          <p:nvPr/>
        </p:nvSpPr>
        <p:spPr>
          <a:xfrm>
            <a:off x="5120640" y="3063240"/>
            <a:ext cx="2194560" cy="2926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212079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675120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12079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KPI Dashboards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452359" y="306324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7452359" y="3063240"/>
            <a:ext cx="2194560" cy="292608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543799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W13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Trng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43799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Super User training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784080" y="306324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9784080" y="3063240"/>
            <a:ext cx="2194560" cy="292608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9875519" y="309067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338560" y="309067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Trng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75519" y="342900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End User training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406908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457200" y="4069080"/>
            <a:ext cx="2194560" cy="2926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TextBox 81"/>
          <p:cNvSpPr txBox="1"/>
          <p:nvPr/>
        </p:nvSpPr>
        <p:spPr>
          <a:xfrm>
            <a:off x="548640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W24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011680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48640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M1 CDE full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2788920" y="406908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2788920" y="4069080"/>
            <a:ext cx="2194560" cy="2926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2880360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W29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343399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80360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M4 Quality full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5120640" y="406908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5120640" y="4069080"/>
            <a:ext cx="2194560" cy="292608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TextBox 91"/>
          <p:cNvSpPr txBox="1"/>
          <p:nvPr/>
        </p:nvSpPr>
        <p:spPr>
          <a:xfrm>
            <a:off x="5212079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W32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675120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212079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M5 Procurement full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7452359" y="406908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7452359" y="406908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7543799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06840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43799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User Manual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784080" y="406908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9784080" y="406908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875519" y="409651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338560" y="409651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875519" y="443484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Admin Manual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457200" y="507492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457200" y="507492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548640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W38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011680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48640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Tech Docs Pack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788920" y="507492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2788920" y="507492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2880360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W39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343399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880360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Operational Runbooks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5120640" y="507492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/>
          <p:nvPr/>
        </p:nvSpPr>
        <p:spPr>
          <a:xfrm>
            <a:off x="5120640" y="5074920"/>
            <a:ext cx="2194560" cy="292608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5212079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W39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675120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Trng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5212079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ICT Handover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7452359" y="507492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7452359" y="507492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7543799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W32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06840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7543799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ISO 27001 pre-audit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784080" y="5074920"/>
            <a:ext cx="2194560" cy="9144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6" name="Rectangle 125"/>
          <p:cNvSpPr/>
          <p:nvPr/>
        </p:nvSpPr>
        <p:spPr>
          <a:xfrm>
            <a:off x="9784080" y="5074920"/>
            <a:ext cx="2194560" cy="292608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9875519" y="5102352"/>
            <a:ext cx="2011679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W40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1338560" y="5102352"/>
            <a:ext cx="54864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75519" y="5440680"/>
            <a:ext cx="2011679" cy="5029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1" i="0">
                <a:solidFill>
                  <a:srgbClr val="1E2761"/>
                </a:solidFill>
                <a:latin typeface="Calibri"/>
              </a:rPr>
              <a:t>Final Acceptance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1E2761"/>
                </a:solidFill>
                <a:latin typeface="Calibri"/>
              </a:rPr>
              <a:t>LEGEND: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1280160" y="6400800"/>
            <a:ext cx="548640" cy="2743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1280160" y="6400800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Doc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874519" y="640080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Document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023360" y="6400800"/>
            <a:ext cx="548640" cy="2743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4023360" y="6400800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SW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617720" y="640080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Software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6766560" y="6400800"/>
            <a:ext cx="548640" cy="27432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8" name="TextBox 137"/>
          <p:cNvSpPr txBox="1"/>
          <p:nvPr/>
        </p:nvSpPr>
        <p:spPr>
          <a:xfrm>
            <a:off x="6766560" y="6400800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Trng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360920" y="640080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Training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509760" y="6400800"/>
            <a:ext cx="548640" cy="27432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9509760" y="6400800"/>
            <a:ext cx="548640" cy="2743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Infra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104120" y="6400800"/>
            <a:ext cx="1828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Infrastructure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Year 2-5 Maintenance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 proposed] 4 years of ongoing support post-Y1 handover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SUPPORT TIERS  ·  L1/L2/L3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54480"/>
            <a:ext cx="5486400" cy="13716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822960" cy="137160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54480"/>
            <a:ext cx="822960" cy="13716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4480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TIER 1 HELPDESK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011680"/>
            <a:ext cx="4480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First-line user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377440"/>
            <a:ext cx="44805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SLA: Response 4h, resolution 24h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651760"/>
            <a:ext cx="44805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2196F3"/>
                </a:solidFill>
                <a:latin typeface="Calibri"/>
              </a:rPr>
              <a:t>Availability: Continuous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17520"/>
            <a:ext cx="5486400" cy="13716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57200" y="3017520"/>
            <a:ext cx="822960" cy="1371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3017520"/>
            <a:ext cx="822960" cy="13716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08960"/>
            <a:ext cx="4480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TIER 2 TECHNICAL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71600" y="3474720"/>
            <a:ext cx="4480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Bug diagnosis, config, minor fixes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40480"/>
            <a:ext cx="44805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D4AF37"/>
                </a:solidFill>
                <a:latin typeface="Calibri"/>
              </a:rPr>
              <a:t>SLA: Response 1h, resolution 1 business day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114800"/>
            <a:ext cx="44805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D4AF37"/>
                </a:solidFill>
                <a:latin typeface="Calibri"/>
              </a:rPr>
              <a:t>Availability: Bus hrs + escalation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80560"/>
            <a:ext cx="5486400" cy="13716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57200" y="4480560"/>
            <a:ext cx="822960" cy="1371600"/>
          </a:xfrm>
          <a:prstGeom prst="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7200" y="4480560"/>
            <a:ext cx="822960" cy="13716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572000"/>
            <a:ext cx="4480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TIER 3 DEVELOPER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937760"/>
            <a:ext cx="4480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0F1433"/>
                </a:solidFill>
                <a:latin typeface="Calibri"/>
              </a:rPr>
              <a:t>Code changes for critical bugs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71600" y="5303520"/>
            <a:ext cx="44805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E53935"/>
                </a:solidFill>
                <a:latin typeface="Calibri"/>
              </a:rPr>
              <a:t>SLA: Response 15 min for P1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71600" y="5577840"/>
            <a:ext cx="448056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E53935"/>
                </a:solidFill>
                <a:latin typeface="Calibri"/>
              </a:rPr>
              <a:t>Availability: 24/7 on-call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097280"/>
            <a:ext cx="54864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ANNUAL COST TREND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1554480"/>
            <a:ext cx="5333695" cy="77724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6400800" y="1554480"/>
            <a:ext cx="822960" cy="777240"/>
          </a:xfrm>
          <a:prstGeom prst="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155448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Y1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0" y="1645920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Build phase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1965960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Annual cost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1691639"/>
            <a:ext cx="128016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500" b="1" i="0">
                <a:solidFill>
                  <a:srgbClr val="D4AF37"/>
                </a:solidFill>
                <a:latin typeface="Calibri"/>
              </a:rPr>
              <a:t>AED 4.6M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0" y="2423160"/>
            <a:ext cx="5333695" cy="7772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6400800" y="2423160"/>
            <a:ext cx="822960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00800" y="242316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Y2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2514600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Maintenance start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2834640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Annual cost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2560320"/>
            <a:ext cx="128016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500" b="1" i="0">
                <a:solidFill>
                  <a:srgbClr val="1E2761"/>
                </a:solidFill>
                <a:latin typeface="Calibri"/>
              </a:rPr>
              <a:t>AED 805K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0" y="3291839"/>
            <a:ext cx="5333695" cy="7772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6400800" y="3291839"/>
            <a:ext cx="822960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400800" y="3291839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Y3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0" y="3383279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Rise 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0" y="3703320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Annual cost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24160" y="3428999"/>
            <a:ext cx="128016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500" b="1" i="0">
                <a:solidFill>
                  <a:srgbClr val="1E2761"/>
                </a:solidFill>
                <a:latin typeface="Calibri"/>
              </a:rPr>
              <a:t>AED 848K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0" y="4160520"/>
            <a:ext cx="5333695" cy="7772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6400800" y="4160520"/>
            <a:ext cx="822960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400800" y="416052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Y4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4251959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Rise 10%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15200" y="4572000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Annual cost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24160" y="4297680"/>
            <a:ext cx="128016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500" b="1" i="0">
                <a:solidFill>
                  <a:srgbClr val="1E2761"/>
                </a:solidFill>
                <a:latin typeface="Calibri"/>
              </a:rPr>
              <a:t>AED 890K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0" y="5029200"/>
            <a:ext cx="5333695" cy="7772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400800" y="5029200"/>
            <a:ext cx="822960" cy="7772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400800" y="5029200"/>
            <a:ext cx="822960" cy="7772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Y5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15200" y="5120640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1" i="0">
                <a:solidFill>
                  <a:srgbClr val="1E2761"/>
                </a:solidFill>
                <a:latin typeface="Calibri"/>
              </a:rPr>
              <a:t>Rise 15% + closeout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5440680"/>
            <a:ext cx="3200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606060"/>
                </a:solidFill>
                <a:latin typeface="Calibri"/>
              </a:rPr>
              <a:t>Annual cost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424160" y="5166360"/>
            <a:ext cx="1280160" cy="50292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500" b="1" i="0">
                <a:solidFill>
                  <a:srgbClr val="1E2761"/>
                </a:solidFill>
                <a:latin typeface="Calibri"/>
              </a:rPr>
              <a:t>AED 932K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6035040"/>
            <a:ext cx="11277295" cy="54864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40080" y="6035040"/>
            <a:ext cx="548640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l"/>
            <a:r>
              <a:rPr sz="1400" b="1" i="0">
                <a:solidFill>
                  <a:srgbClr val="1E2761"/>
                </a:solidFill>
                <a:latin typeface="Calibri"/>
              </a:rPr>
              <a:t>5-YEAR TCO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943600" y="6035040"/>
            <a:ext cx="6126480" cy="5486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r"/>
            <a:r>
              <a:rPr sz="1400" b="1" i="0">
                <a:solidFill>
                  <a:srgbClr val="1E2761"/>
                </a:solidFill>
                <a:latin typeface="Calibri"/>
              </a:rPr>
              <a:t>AED 8.15M  /  USD 2.2M  (at AED-USD 3.6725)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Critical Path  ·  Cannot Slip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 proposed] The chain that determines delivery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1371600" cy="1188720"/>
          </a:xfrm>
          <a:prstGeom prst="round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417319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659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UX signoff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847088" y="1737360"/>
            <a:ext cx="91439" cy="274320"/>
          </a:xfrm>
          <a:prstGeom prst="rightArrow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965960" y="1280160"/>
            <a:ext cx="1371600" cy="1188720"/>
          </a:xfrm>
          <a:prstGeom prst="round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65960" y="1417319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659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BEP signed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355848" y="1737360"/>
            <a:ext cx="91439" cy="274320"/>
          </a:xfrm>
          <a:prstGeom prst="rightArrow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74720" y="1280160"/>
            <a:ext cx="1371600" cy="1188720"/>
          </a:xfrm>
          <a:prstGeom prst="roundRect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474720" y="1417319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19659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KSA cloud live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864607" y="1737360"/>
            <a:ext cx="91439" cy="274320"/>
          </a:xfrm>
          <a:prstGeom prst="rightArrow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983479" y="1280160"/>
            <a:ext cx="1371600" cy="1188720"/>
          </a:xfrm>
          <a:prstGeom prst="round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83479" y="1417319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83479" y="19659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All Integrations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2606040"/>
            <a:ext cx="365760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3200" b="1" i="0">
                <a:solidFill>
                  <a:srgbClr val="0F1433"/>
                </a:solidFill>
                <a:latin typeface="Calibri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3479" y="4023360"/>
            <a:ext cx="1371600" cy="1188720"/>
          </a:xfrm>
          <a:prstGeom prst="round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983479" y="416052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W12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83479" y="47091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Pilot LIVE M2/M3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0" y="4023360"/>
            <a:ext cx="1371600" cy="118872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74720" y="416052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4720" y="47091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Pilot Accepted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965960" y="4023360"/>
            <a:ext cx="1371600" cy="1188720"/>
          </a:xfrm>
          <a:prstGeom prst="round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965960" y="416052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W24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65960" y="47091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M1 + M2/M3 full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4023360"/>
            <a:ext cx="1371600" cy="1188720"/>
          </a:xfrm>
          <a:prstGeom prst="roundRect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7200" y="416052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W40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709160"/>
            <a:ext cx="13716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FINAL ACCEPT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55279" y="1280160"/>
            <a:ext cx="3779215" cy="443484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38160" y="1417320"/>
            <a:ext cx="34747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  <a:latin typeface="Calibri"/>
              </a:rPr>
              <a:t>IF THESE SLIP, YOU SLIP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60" y="1783080"/>
            <a:ext cx="347472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Every step above must land on-time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38160" y="2194560"/>
            <a:ext cx="914400" cy="2743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8138160" y="2468880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KSA cloud &gt;W2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272491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ADCFC"/>
                </a:solidFill>
                <a:latin typeface="Calibri"/>
              </a:rPr>
              <a:t>Blocks all dev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2971800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Access requests &gt;W3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95360" y="322783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ADCFC"/>
                </a:solidFill>
                <a:latin typeface="Calibri"/>
              </a:rPr>
              <a:t>Blocks integrations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474720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NCA ECC issue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95360" y="373075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ADCFC"/>
                </a:solidFill>
                <a:latin typeface="Calibri"/>
              </a:rPr>
              <a:t>Blocks pilot go-live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3977639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Pilot UAT fail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95360" y="423367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ADCFC"/>
                </a:solidFill>
                <a:latin typeface="Calibri"/>
              </a:rPr>
              <a:t>Blocks G3 payment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4480559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Integration issue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595360" y="473659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ADCFC"/>
                </a:solidFill>
                <a:latin typeface="Calibri"/>
              </a:rPr>
              <a:t>Blocks Phase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60" y="4983479"/>
            <a:ext cx="3474720" cy="256032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- Late scope add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95360" y="5239512"/>
            <a:ext cx="3108960" cy="2286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1">
                <a:solidFill>
                  <a:srgbClr val="CADCFC"/>
                </a:solidFill>
                <a:latin typeface="Calibri"/>
              </a:rPr>
              <a:t>Blocks W40 target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5852160"/>
            <a:ext cx="11277295" cy="7315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300" b="1" i="0">
                <a:solidFill>
                  <a:srgbClr val="1E2761"/>
                </a:solidFill>
                <a:latin typeface="Calibri"/>
              </a:rPr>
              <a:t>CRITICAL PATH INSIGHT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617220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1E2761"/>
                </a:solidFill>
                <a:latin typeface="Calibri"/>
              </a:rPr>
              <a:t>Every gate week has an accountability owner. Weekly report to Maaden PMO tracks slip risk.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Meeting Cadence  ·  Communication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 proposed] 18 meeting types</a:t>
            </a:r>
          </a:p>
        </p:txBody>
      </p:sp>
      <p:sp>
        <p:nvSpPr>
          <p:cNvPr id="5" name="Rectangle 4"/>
          <p:cNvSpPr/>
          <p:nvPr/>
        </p:nvSpPr>
        <p:spPr>
          <a:xfrm>
            <a:off x="266547" y="1051560"/>
            <a:ext cx="3794760" cy="53035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03707" y="1188720"/>
            <a:ext cx="3520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DAILY + WEEKLY</a:t>
            </a:r>
          </a:p>
        </p:txBody>
      </p:sp>
      <p:sp>
        <p:nvSpPr>
          <p:cNvPr id="7" name="Rectangle 6"/>
          <p:cNvSpPr/>
          <p:nvPr/>
        </p:nvSpPr>
        <p:spPr>
          <a:xfrm>
            <a:off x="403707" y="16916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49427" y="18745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Daily Standup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587" y="2148839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15 min | All team | Blockers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427" y="251460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Weekly Client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6587" y="278892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Mon 30 min | PM + Maaden PMO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427" y="315468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Security Sync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6587" y="342900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Wed 30 min | KSA Sec +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9427" y="37947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Integration WG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6587" y="406908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Thu 60 min | Sol Arch + Maaden IT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98467" y="1051560"/>
            <a:ext cx="3794760" cy="53035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35627" y="1188720"/>
            <a:ext cx="3520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SPRINT + FORTNIGHTLY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35627" y="16916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381347" y="18745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Sprint Planning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8507" y="2148839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Every 2wk 90 min | PM + Sol Arch + AI/ML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1347" y="251460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Sprint Review + Demo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18507" y="278892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Every 2wk 60 min | All + Maaden PMO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1347" y="315468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Sprint Retrospective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18507" y="342900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Every 2wk 60 min | All XDH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1347" y="37947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CCB Change Control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18507" y="406908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As needed | PM + Maaden PMO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30387" y="1051560"/>
            <a:ext cx="3794760" cy="530352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267547" y="1188720"/>
            <a:ext cx="352044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MONTHLY + BEYOND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67547" y="1691640"/>
            <a:ext cx="9144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313267" y="1874519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Steering Committee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0427" y="2148839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Monthly 90 min | PM + Maaden CIO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51460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AI Model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0427" y="278892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Monthly 60 min | AI/ML + SMEs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15468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User Forum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0427" y="342900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Monthly 60 min from P3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379476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Executive Briefing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0427" y="406908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Quarterly 30 min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4434840"/>
            <a:ext cx="3429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- Compliance Audit Prep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0427" y="4709160"/>
            <a:ext cx="333756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CADCFC"/>
                </a:solidFill>
                <a:latin typeface="Calibri"/>
              </a:rPr>
              <a:t>Bi-annual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Week 1 Kickoff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 proposed] Day-by-day actions for first 5 working days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335127" y="1097280"/>
            <a:ext cx="2194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3512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D4AF37"/>
                </a:solidFill>
                <a:latin typeface="Calibri"/>
              </a:rPr>
              <a:t>DAY 1</a:t>
            </a:r>
          </a:p>
        </p:txBody>
      </p:sp>
      <p:sp>
        <p:nvSpPr>
          <p:cNvPr id="7" name="Rectangle 6"/>
          <p:cNvSpPr/>
          <p:nvPr/>
        </p:nvSpPr>
        <p:spPr>
          <a:xfrm>
            <a:off x="335127" y="173736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2656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804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Signed PO received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127" y="251460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656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804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XDH team kickoff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5127" y="329184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2656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804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Slack channel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5127" y="406908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2656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804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ACC workspace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5127" y="484632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2656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804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HW spec drafted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66847" y="1097280"/>
            <a:ext cx="2194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66684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D4AF37"/>
                </a:solidFill>
                <a:latin typeface="Calibri"/>
              </a:rPr>
              <a:t>DAY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66847" y="173736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75828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16976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Client kickoff (2h)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66847" y="251460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75828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16976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Team RACI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66847" y="329184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75828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16976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ITSM tickets raised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66847" y="406908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275828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16976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KSA cloud request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666847" y="484632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275828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16976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BEP v0.5 draft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98567" y="1097280"/>
            <a:ext cx="2194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99856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D4AF37"/>
                </a:solidFill>
                <a:latin typeface="Calibri"/>
              </a:rPr>
              <a:t>DAY 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98567" y="173736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09000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0148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Req workshop #1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98567" y="251460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09000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50148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Sol Arch v0.3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98567" y="329184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509000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50148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Azure AD SSO req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998567" y="406908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509000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50148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NCA ECC baseline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98567" y="484632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509000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50148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Data mapping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330287" y="1097280"/>
            <a:ext cx="2194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733028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D4AF37"/>
                </a:solidFill>
                <a:latin typeface="Calibri"/>
              </a:rPr>
              <a:t>DAY 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330287" y="173736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742172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783320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Req workshop #2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330287" y="251460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742172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783320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Req workshop #3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30287" y="329184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742172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783320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BEP v0.8 circ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330287" y="406908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742172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783320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Sandbox provision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330287" y="484632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742172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83320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Aconex sandbox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662007" y="1097280"/>
            <a:ext cx="2194560" cy="4572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TextBox 73"/>
          <p:cNvSpPr txBox="1"/>
          <p:nvPr/>
        </p:nvSpPr>
        <p:spPr>
          <a:xfrm>
            <a:off x="9662007" y="1097280"/>
            <a:ext cx="2194560" cy="4572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400" b="1" i="0">
                <a:solidFill>
                  <a:srgbClr val="D4AF37"/>
                </a:solidFill>
                <a:latin typeface="Calibri"/>
              </a:rPr>
              <a:t>DAY 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662007" y="173736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9753447" y="1856231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164927" y="1874519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Req workshop #4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662007" y="251460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9753447" y="263347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10164927" y="265176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Req workshop #5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662007" y="329184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9753447" y="341071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10164927" y="342900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Wk 1 summary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662007" y="406908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Rectangle 84"/>
          <p:cNvSpPr/>
          <p:nvPr/>
        </p:nvSpPr>
        <p:spPr>
          <a:xfrm>
            <a:off x="9753447" y="418795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TextBox 85"/>
          <p:cNvSpPr txBox="1"/>
          <p:nvPr/>
        </p:nvSpPr>
        <p:spPr>
          <a:xfrm>
            <a:off x="10164927" y="420624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Sprint 1 planning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662007" y="4846320"/>
            <a:ext cx="2194560" cy="6858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/>
          <p:cNvSpPr/>
          <p:nvPr/>
        </p:nvSpPr>
        <p:spPr>
          <a:xfrm>
            <a:off x="9753447" y="4965192"/>
            <a:ext cx="320040" cy="320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10164927" y="4983480"/>
            <a:ext cx="1645919" cy="5486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900" b="0" i="0">
                <a:solidFill>
                  <a:srgbClr val="0F1433"/>
                </a:solidFill>
                <a:latin typeface="Calibri"/>
              </a:rPr>
              <a:t>Weekend prep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28016"/>
            <a:ext cx="114300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Success Criteria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200" b="0" i="1">
                <a:solidFill>
                  <a:srgbClr val="CADCFC"/>
                </a:solidFill>
                <a:latin typeface="Calibri"/>
              </a:rPr>
              <a:t>[XDH + Client] Six metrics for "we won"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43000"/>
            <a:ext cx="3794760" cy="2377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897380" y="1371600"/>
            <a:ext cx="914400" cy="914400"/>
          </a:xfrm>
          <a:prstGeom prst="ellipse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97380" y="13716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ON 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7889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All 6 quality gates hit within +/- 1 week. Final Acceptance on/before W40.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143000"/>
            <a:ext cx="3794760" cy="2377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829300" y="1371600"/>
            <a:ext cx="914400" cy="914400"/>
          </a:xfrm>
          <a:prstGeom prst="ellipse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829300" y="13716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3774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ON BUDGET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889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Delivered within AED 4.6M lump sum. Variations per T&amp;C.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143000"/>
            <a:ext cx="3794760" cy="2377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761220" y="1371600"/>
            <a:ext cx="914400" cy="914400"/>
          </a:xfrm>
          <a:prstGeom prst="ellipse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761220" y="13716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23774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ON QUALITY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7889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Meet all 8 SoW KPIs. Zero P1 defects at Final Acceptance.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57600"/>
            <a:ext cx="3794760" cy="2377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1897380" y="3886200"/>
            <a:ext cx="914400" cy="914400"/>
          </a:xfrm>
          <a:prstGeom prst="ellipse">
            <a:avLst/>
          </a:prstGeom>
          <a:solidFill>
            <a:srgbClr val="E971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897380" y="38862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USER ADOPTION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&gt;80% daily active users of AWP within 3 months of rollout.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794760" cy="2377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5829300" y="3886200"/>
            <a:ext cx="914400" cy="91440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829300" y="38862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COMPLIANCE PASSED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NCA ECC passed. PDPL attestation. ISO 27001 pre-audit.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321040" y="3657600"/>
            <a:ext cx="3794760" cy="237744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9761220" y="3886200"/>
            <a:ext cx="914400" cy="914400"/>
          </a:xfrm>
          <a:prstGeom prst="ellipse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761220" y="3886200"/>
            <a:ext cx="914400" cy="91440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892040"/>
            <a:ext cx="379476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500" b="1" i="0">
                <a:solidFill>
                  <a:srgbClr val="1E2761"/>
                </a:solidFill>
                <a:latin typeface="Calibri"/>
              </a:rPr>
              <a:t>CLIENT DELIGHT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5303520"/>
            <a:ext cx="3246120" cy="6858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000" b="0" i="0">
                <a:solidFill>
                  <a:srgbClr val="0F1433"/>
                </a:solidFill>
                <a:latin typeface="Calibri"/>
              </a:rPr>
              <a:t>Maaden refer XDH to Aluminium, Waad Al Shamal projects.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457200" y="6492240"/>
            <a:ext cx="11430000" cy="320040"/>
          </a:xfrm>
          <a:prstGeom prst="rect">
            <a:avLst/>
          </a:prstGeom>
          <a:noFill/>
        </p:spPr>
        <p:txBody>
          <a:bodyPr wrap="square" lIns="36576" tIns="18288" rIns="36576" bIns="18288" anchor="ctr">
            <a:spAutoFit/>
          </a:bodyPr>
          <a:lstStyle/>
          <a:p>
            <a:pPr algn="ctr"/>
            <a:r>
              <a:rPr sz="1200" b="0" i="1">
                <a:solidFill>
                  <a:srgbClr val="D4AF37"/>
                </a:solidFill>
                <a:latin typeface="Calibri"/>
              </a:rPr>
              <a:t>If we hit 6/6, XDH becomes preferred vendor for Maaden portfolio expansion in Y2-Y5.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4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72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D4AF37"/>
                </a:solidFill>
                <a:latin typeface="Calibri"/>
              </a:rPr>
              <a:t>THE MASTER WORKBOOK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72800" cy="9144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Calibri"/>
              </a:rPr>
              <a:t>Where the detail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94560"/>
            <a:ext cx="10972800" cy="45720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500" b="0" i="1">
                <a:solidFill>
                  <a:srgbClr val="CADCFC"/>
                </a:solidFill>
                <a:latin typeface="Calibri"/>
              </a:rPr>
              <a:t>This deck is the visual summary. The Excel workbook is the working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80360"/>
            <a:ext cx="10972800" cy="457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400" b="1" i="0">
                <a:solidFill>
                  <a:srgbClr val="D4AF37"/>
                </a:solidFill>
                <a:latin typeface="Calibri"/>
              </a:rPr>
              <a:t>Maaden ARGP - Master Roadmap.xlsx (14 sheets)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429000"/>
            <a:ext cx="109728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000" b="0" i="1">
                <a:solidFill>
                  <a:srgbClr val="CADCFC"/>
                </a:solidFill>
                <a:latin typeface="Calibri"/>
              </a:rPr>
              <a:t>Pipeline\Maaden\2026.05.18 PDE Digitalization\Master Roadmap\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31920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1-2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3931920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Cover + Overview  ·  Strategic context, 5 modules, 4 phases, 8 KPIs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24528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224528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Programme Timeline  ·  40-week Gantt with phase, module, integration tracks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517136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Task Register (MASTER)  ·  93 tasks with owner, software, hardware, deliverables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809744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5-7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809744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Team Roster  ·  Software Stack (40+)  ·  Hardware + Infra (20 items)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102352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8-9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5102352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Integrations Register (10)  ·  KSA Compliance (25 controls)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394960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10-12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94960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Deliverables (25)  ·  Quality Gates (6)  ·  Risk Register (25)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87568"/>
            <a:ext cx="9144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  <a:latin typeface="Calibri"/>
              </a:rPr>
              <a:t>13-14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5687568"/>
            <a:ext cx="914400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Year 2-5 Maintenance model  ·  Meeting Cadence (18 types)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6400800"/>
            <a:ext cx="10972800" cy="36576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ctr"/>
            <a:r>
              <a:rPr sz="1100" b="0" i="1">
                <a:solidFill>
                  <a:srgbClr val="CADCFC"/>
                </a:solidFill>
                <a:latin typeface="Calibri"/>
              </a:rPr>
              <a:t>Use both: deck for briefings, workbook for daily execution.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338560" y="6537960"/>
            <a:ext cx="777240" cy="274320"/>
          </a:xfrm>
          <a:prstGeom prst="rect">
            <a:avLst/>
          </a:prstGeom>
          <a:noFill/>
        </p:spPr>
        <p:txBody>
          <a:bodyPr wrap="square" lIns="36576" tIns="18288" rIns="36576" bIns="18288" anchor="t">
            <a:spAutoFit/>
          </a:bodyPr>
          <a:lstStyle/>
          <a:p>
            <a:pPr algn="r"/>
            <a:r>
              <a:rPr sz="900" b="0" i="0">
                <a:solidFill>
                  <a:srgbClr val="606060"/>
                </a:solidFill>
                <a:latin typeface="Calibri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3069</Words>
  <Application>Microsoft Office PowerPoint</Application>
  <PresentationFormat>Widescreen</PresentationFormat>
  <Paragraphs>743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Angel Balilo</cp:lastModifiedBy>
  <cp:revision>2</cp:revision>
  <dcterms:created xsi:type="dcterms:W3CDTF">2013-01-27T09:14:16Z</dcterms:created>
  <dcterms:modified xsi:type="dcterms:W3CDTF">2026-07-06T06:32:07Z</dcterms:modified>
  <cp:category/>
</cp:coreProperties>
</file>