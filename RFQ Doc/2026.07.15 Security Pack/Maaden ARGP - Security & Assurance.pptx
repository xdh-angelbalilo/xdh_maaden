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Ma'aden's security team evaluates XD House before commercial terms. This pack is the pre-emptive answer. Everything in it is evidence-backed. Where we have no evidence yet, we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we did this work before you asked. Most vendors scramble after the questionnaire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when our last pen test was: the honest answer is none yet on this app, and here is the audit that proves we are not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value is not that the demo is secure. It is that we audit ourselves against a defined standard, find our own problems, and show you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merge demo-today with production-committed. Answering a today-question with a committed-answer is what gets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Kitemark certificate number, scope and validity before issuing. Do not add ISO 27001 or SOC 2 unless XD House actually holds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13258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148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Assurance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58368" y="29260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 Ar Rjum Gold Project: CDE Asset Data Backbone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58368" y="34015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Ma'aden security and IT review. Module M1, Master Data Registry.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58368" y="4343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 ARGP-DIGI-APP-SOW-001 Rev 00, §3.4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Roadmap XDH-AE-Q26-05-00030 v1.0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July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732520" y="5029200"/>
            <a:ext cx="2880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358384"/>
            <a:ext cx="2514600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security review decides the deal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commercial terms are agreed, your security team evaluates us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questionnaire arrives before the contract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9659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encrypt data at rest and in transit?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66090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6090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was your last penetration test?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35584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an incident response plan? Can we see it?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0507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40507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our data stored? Onshore or offshore?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463040"/>
            <a:ext cx="5303520" cy="3291840"/>
          </a:xfrm>
          <a:prstGeom prst="roundRect">
            <a:avLst>
              <a:gd name="adj" fmla="val 2222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position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583680" y="21945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added once the product works.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asset data backbone is the layer every downstream system trusts, so security is its precondition.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audit our own stack, fix what we find, commission an independent test, then re-audit. We show you the evidence from every step, including the failures.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A7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Deals do not end with a rejection at this gate. They end with silence.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Audit. Remediate. Test. Re-audit.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pay an external firm to find what you already know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13-layer review of the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stack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370332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1188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61188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61188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what the audit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611880" y="3703320"/>
            <a:ext cx="1563624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703320"/>
            <a:ext cx="1563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1792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465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4652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TEST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4652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firm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to break in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46520" y="3703320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46520" y="370332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5256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8116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811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28116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RE-AUDIT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28116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fixes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281160" y="370332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81160" y="370332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" y="46634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today.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 is complete and available to you now. No penetration test has been run on this application yet. It is scoped and will be commissioned after remediation. We will not present a test result until an external firm has actually performed one.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13-Layer Production Readiness Audit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#1, commit 0d25f7f, 15 July 2026. Source review, dependency scan, live reproduction.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14173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114800" y="1417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TODAY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77840" y="14173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 (SoW §3.4)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session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0" y="170992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0" y="17099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77840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and ADFS SSO, SAML 2.0, MFA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20071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" y="20071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/ RBAC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14800" y="20253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0253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577840" y="20071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roles, IdP-backed, server-side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68680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(transit/rest)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0" y="234086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23408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577840" y="23225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1.2+, TDE, Key Vault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6380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68680" y="26380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114800" y="2656332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0" y="2656332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577840" y="26380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PostgreSQL, private endpoint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68680" y="2953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&amp; injection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114800" y="29718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577840" y="2953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Maintain, add schema validation at API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32689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68680" y="32689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114800" y="328726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14800" y="328726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577840" y="32689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Vault, managed identity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68680" y="3584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&amp; supply chain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4114800" y="360273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114800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5577840" y="3584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scanning, patch SLA, SBOM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8999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68680" y="38999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hardening / headers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114800" y="391820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0" y="39182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5577840" y="38999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CSP, HSTS via Front Door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68680" y="4215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network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4114800" y="423367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114800" y="423367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5577840" y="4215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Riyadh, WAF, private net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530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68680" y="45308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CI/CD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4114800" y="454914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114800" y="454914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5577840" y="45308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Enterprise, Azure DevOps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868680" y="4846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audit &amp; monitoring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4114800" y="486460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114800" y="486460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62" name="Text 59"/>
          <p:cNvSpPr/>
          <p:nvPr/>
        </p:nvSpPr>
        <p:spPr>
          <a:xfrm>
            <a:off x="5577840" y="4846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Insights, Azure Sentinel SIEM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51617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868680" y="51617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&amp; availability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4114800" y="5180076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4114800" y="518007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577840" y="51617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Autoscale, health probes, SLO</a:t>
            </a:r>
            <a:endParaRPr lang="en-US" sz="1100" dirty="0"/>
          </a:p>
        </p:txBody>
      </p:sp>
      <p:sp>
        <p:nvSpPr>
          <p:cNvPr id="68" name="Text 65"/>
          <p:cNvSpPr/>
          <p:nvPr/>
        </p:nvSpPr>
        <p:spPr>
          <a:xfrm>
            <a:off x="548640" y="5477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86868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4114800" y="549554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114800" y="54955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72" name="Text 69"/>
          <p:cNvSpPr/>
          <p:nvPr/>
        </p:nvSpPr>
        <p:spPr>
          <a:xfrm>
            <a:off x="5577840" y="54772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PITR, RPO/RTO, restore drills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10058400" y="1691640"/>
            <a:ext cx="1600200" cy="1874520"/>
          </a:xfrm>
          <a:prstGeom prst="roundRect">
            <a:avLst>
              <a:gd name="adj" fmla="val 4571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019556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75" name="Text 72"/>
          <p:cNvSpPr/>
          <p:nvPr/>
        </p:nvSpPr>
        <p:spPr>
          <a:xfrm>
            <a:off x="10680192" y="19110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10195560" y="2258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7" name="Text 74"/>
          <p:cNvSpPr/>
          <p:nvPr/>
        </p:nvSpPr>
        <p:spPr>
          <a:xfrm>
            <a:off x="10680192" y="23408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78" name="Text 75"/>
          <p:cNvSpPr/>
          <p:nvPr/>
        </p:nvSpPr>
        <p:spPr>
          <a:xfrm>
            <a:off x="10195560" y="2688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9" name="Text 76"/>
          <p:cNvSpPr/>
          <p:nvPr/>
        </p:nvSpPr>
        <p:spPr>
          <a:xfrm>
            <a:off x="10680192" y="2770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80" name="Text 77"/>
          <p:cNvSpPr/>
          <p:nvPr/>
        </p:nvSpPr>
        <p:spPr>
          <a:xfrm>
            <a:off x="10195560" y="3118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9B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81" name="Text 78"/>
          <p:cNvSpPr/>
          <p:nvPr/>
        </p:nvSpPr>
        <p:spPr>
          <a:xfrm>
            <a:off x="10680192" y="3200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100" dirty="0"/>
          </a:p>
        </p:txBody>
      </p:sp>
      <p:sp>
        <p:nvSpPr>
          <p:cNvPr id="82" name="Shape 79"/>
          <p:cNvSpPr/>
          <p:nvPr/>
        </p:nvSpPr>
        <p:spPr>
          <a:xfrm>
            <a:off x="10058400" y="370332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10195560" y="3840480"/>
            <a:ext cx="1325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scores the pre-award demo on localhost, not production. It holds no Ma'aden data and is not internet-facing.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demo-scope decisions with defined production controls.</a:t>
            </a:r>
            <a:endParaRPr lang="en-US" sz="950" dirty="0"/>
          </a:p>
        </p:txBody>
      </p:sp>
      <p:sp>
        <p:nvSpPr>
          <p:cNvPr id="84" name="Text 8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found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against a running instance, not a checklist exercise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59105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59105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91640" y="154533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requests served as Governance Lead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18470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falls back to a default admin user. Reproduced: an anonymous API call mutates data.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366760" y="166420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166420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 to delete the fallback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514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268833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268833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691640" y="26426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selection requires no authentication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91640" y="294436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role switcher issues a session for any user, with no password.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366760" y="276148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03920" y="276148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to 5 d to wire ADFS SAML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378561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78561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H-2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691640" y="37398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version carries high-severity advisories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1691640" y="404164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next@14.2.5 carries DoS, XSS, cache poisoning and SSRF advisories. Found by dependency scan.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366760" y="385876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503920" y="385876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to 2 d to upgrade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" y="48828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8828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H-1/3/4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691640" y="48371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signing secret, cookie not Secure, no TLS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691640" y="513892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Production-hardening steps the localhost demo deliberately skipped.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95604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920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d 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Critical finding is a demo-scope removal, but they become live vulnerabilities the moment the demo leaves localhost.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holds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built in from the start, not retrofitted for this review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8" name="Text 5"/>
          <p:cNvSpPr/>
          <p:nvPr/>
        </p:nvSpPr>
        <p:spPr>
          <a:xfrm>
            <a:off x="1298448" y="1728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SQL injection surface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298448" y="2029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parameterised through the driver. A source sweep for string interpolation returned zero hits.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1764792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13" name="Text 10"/>
          <p:cNvSpPr/>
          <p:nvPr/>
        </p:nvSpPr>
        <p:spPr>
          <a:xfrm>
            <a:off x="6967728" y="1728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967728" y="2029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mutation records actor, action, before and after value, and timestamp. This is the control SoW §3.1.4 requires.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18" name="Text 15"/>
          <p:cNvSpPr/>
          <p:nvPr/>
        </p:nvSpPr>
        <p:spPr>
          <a:xfrm>
            <a:off x="1298448" y="32095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 is immutable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298448" y="35112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published asset forces a new revision and returns it for re-validation. No silent edits.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1792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3246120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46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23" name="Text 20"/>
          <p:cNvSpPr/>
          <p:nvPr/>
        </p:nvSpPr>
        <p:spPr>
          <a:xfrm>
            <a:off x="6967728" y="32095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967728" y="35112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gates enforced in the API, not hidden UI. A Viewer attempting to mutate receives 403, reproduced.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727448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772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28" name="Text 25"/>
          <p:cNvSpPr/>
          <p:nvPr/>
        </p:nvSpPr>
        <p:spPr>
          <a:xfrm>
            <a:off x="1298448" y="4690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never in version control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1298448" y="49926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against the git index. No credential files tracked.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1792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46520" y="4727448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4652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12" dirty="0"/>
          </a:p>
        </p:txBody>
      </p:sp>
      <p:sp>
        <p:nvSpPr>
          <p:cNvPr id="33" name="Text 30"/>
          <p:cNvSpPr/>
          <p:nvPr/>
        </p:nvSpPr>
        <p:spPr>
          <a:xfrm>
            <a:off x="6967728" y="4690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fails closed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6967728" y="49926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API key the client is never constructed and routes return a clean 503. The key never reaches the browser.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Ma'aden's stated requirements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SoW ARGP-DIGI-APP-SOW-001 §3.4 and the Master Roadmap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72768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987552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residency: Kingdom of Saudi Arabia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46304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 and Azure Database for PostgreSQL, Riyadh region. No Ma'aden production data offshore.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2194560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987552" y="208483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and ADFS SSO, SAML 2.0, MFA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2084832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Ma'aden's identity provider is the source of truth. MFA enforced. Four least-privilege roles.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816352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987552" y="270662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 and at rest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49240" y="2706624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 from browser to app to database, HSTS at the edge. Azure TDE at rest. Keys in Azure Key Vault.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38144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19" name="Text 16"/>
          <p:cNvSpPr/>
          <p:nvPr/>
        </p:nvSpPr>
        <p:spPr>
          <a:xfrm>
            <a:off x="987552" y="332841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349240" y="3328416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security events forwarded to Ma'aden's Azure Sentinel.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059936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987552" y="395020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 (§3.1.4)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349240" y="3950208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demonstrable today in the CDE sample: who, what, before and after, when.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681728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23242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80" dirty="0"/>
          </a:p>
        </p:txBody>
      </p:sp>
      <p:sp>
        <p:nvSpPr>
          <p:cNvPr id="27" name="Text 24"/>
          <p:cNvSpPr/>
          <p:nvPr/>
        </p:nvSpPr>
        <p:spPr>
          <a:xfrm>
            <a:off x="987552" y="45720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APIs with access control (§3.4.4)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457200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published. Every mutating route is role-gated server-side.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77240" y="5440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commitments for the delivered production system. The pre-award demo you have seen implements the audit trail and role model today. The identity, transport and hosting controls arrive with the Azure deployment.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certification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assessed, not self-declared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4846320" cy="1600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3749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Kitemark for BIM Design and Construction, and for BIM Security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868680" y="4224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Security addresses security-minded information management for built assets, which is directly relevant to a Common Data Environment.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309360" y="16002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not claim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0" y="23317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only what we hold and can evidence on request.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certification claim is the first thing a security reviewer verifies. An unsupportable one ends the review, and the relationship.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aligned to a standard but not certified against it, we say exactly that.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numbers and scope available on request.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assurance pack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documents, available to your reviewers today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280160" y="1481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Overview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80160" y="17647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residency, access control, testing cadence, vulnerability reporting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424160" y="1645920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424160" y="1645920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249424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24942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280160" y="2359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Audit, 13 Layers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280160" y="264261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audit, its findings, and the remediation plan with owners and dates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24160" y="2523744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0" y="252374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12724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12724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280160" y="3236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Test, Scope &amp; Commission Plan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280160" y="3520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be tested, by whom, and when. A plan, not a result.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24160" y="34015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0" y="3401568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4005072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400507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28016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Plan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280160" y="43982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levels, roles, containment, notification timelines, post-incident review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424160" y="4279392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424160" y="4279392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488289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" y="488289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280160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Questionnaire, Pre-Answers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280160" y="52760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Demo-today against production-committed, answered side by side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0424160" y="5157216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24160" y="5157216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documents answer more procurement questions than any sales deck: an audit scorecard, and an independent penetration test.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ARGP Security &amp; Assurance   |  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66928"/>
            <a:ext cx="1051560" cy="868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874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asking you to take from this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658368" y="2752344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24" dirty="0"/>
          </a:p>
        </p:txBody>
      </p:sp>
      <p:sp>
        <p:nvSpPr>
          <p:cNvPr id="6" name="Text 3"/>
          <p:cNvSpPr/>
          <p:nvPr/>
        </p:nvSpPr>
        <p:spPr>
          <a:xfrm>
            <a:off x="1115568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 ourselves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206240" y="269748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defined 13-layer standard. We show you the failures, not a marketing summary.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3465576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24" dirty="0"/>
          </a:p>
        </p:txBody>
      </p:sp>
      <p:sp>
        <p:nvSpPr>
          <p:cNvPr id="10" name="Text 7"/>
          <p:cNvSpPr/>
          <p:nvPr/>
        </p:nvSpPr>
        <p:spPr>
          <a:xfrm>
            <a:off x="1115568" y="34107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sequence it properly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06240" y="341071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fix, independent test, re-audit. We do not buy a pen test to discover what we already documented.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4178808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4178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24" dirty="0"/>
          </a:p>
        </p:txBody>
      </p:sp>
      <p:sp>
        <p:nvSpPr>
          <p:cNvPr id="14" name="Text 11"/>
          <p:cNvSpPr/>
          <p:nvPr/>
        </p:nvSpPr>
        <p:spPr>
          <a:xfrm>
            <a:off x="1115568" y="412394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overstate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206240" y="412394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result until an external firm runs one. No certification claim we cannot evidence.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8368" y="51389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is available to your reviewers today.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58368" y="59893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 |   Ma'aden Ar Rjum Gold Project   |   15 July 2026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52560" y="5138928"/>
            <a:ext cx="25603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5431536"/>
            <a:ext cx="2231136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XD House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Maaden ARGP Security and Assurance</dc:title>
  <dc:subject>PptxGenJS Presentation</dc:subject>
  <dc:creator>XD House</dc:creator>
  <cp:lastModifiedBy>XD House</cp:lastModifiedBy>
  <cp:revision>1</cp:revision>
  <dcterms:created xsi:type="dcterms:W3CDTF">2026-07-15T06:29:33Z</dcterms:created>
  <dcterms:modified xsi:type="dcterms:W3CDTF">2026-07-15T06:29:33Z</dcterms:modified>
</cp:coreProperties>
</file>