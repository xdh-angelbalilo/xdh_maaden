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Ma'aden's security team evaluates XD House before commercial terms. This pack is the pre-emptive answer. Everything in it is evidence-backed; where we have no evidence yet, we say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point: we did this work before you asked. Most vendors scramble after the questionnaire lands.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'when was your last pen test' — the honest answer is none yet on this app, and here is the audit that proves we are not guessing.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value is not 'the demo is secure'. It is: we audit ourselves against a defined standard, find our own problems, and show you the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merge 'demo today' with 'production committed'. Answering a today-question with a committed-answer is what gets caught.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Kitemark certificate number, scope and validity before issuing. Do not add ISO 27001 or SOC 2 unless XD House actually holds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8640"/>
            <a:ext cx="13258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1488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Assurance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58368" y="29260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Ma'aden Ar Rjum Gold Project — CDE Asset Data Backbone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58368" y="340156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Ma'aden security &amp; IT review  ·  Module M1 (Master Data Registry)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58368" y="4069080"/>
            <a:ext cx="29260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43434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 ARGP-DIGI-APP-SOW-001 Rev 00 §3.4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Roadmap XDH-AE-Q26-05-00030 v1.0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July 2026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732520" y="5029200"/>
            <a:ext cx="288036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5358384"/>
            <a:ext cx="2514600" cy="5577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security review decides the deal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commercial terms are agreed, your security team evaluates us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384048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508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questionnaire arrives before the contract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4F3F0"/>
          </a:solidFill>
          <a:ln w="9525">
            <a:solidFill>
              <a:srgbClr val="E3E1D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96596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encrypt data at rest and in transit?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660904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4F3F0"/>
          </a:solidFill>
          <a:ln w="9525">
            <a:solidFill>
              <a:srgbClr val="E3E1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2660904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was your last penetration test?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355848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4F3F0"/>
          </a:solidFill>
          <a:ln w="9525">
            <a:solidFill>
              <a:srgbClr val="E3E1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335584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 an incident response plan — can we see it?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4050792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4F3F0"/>
          </a:solidFill>
          <a:ln w="9525">
            <a:solidFill>
              <a:srgbClr val="E3E1D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405079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our data stored? Onshore or offshore?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309360" y="146304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23242A"/>
          </a:solidFill>
          <a:ln w="9525">
            <a:solidFill>
              <a:srgbClr val="E3E1D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0" y="1737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position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6583680" y="219456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D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not a feature added once the product works.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layer every downstream system trusts — your asset data backbone — it is the precondition.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audit our own stack, fix what we find, commission an independent test, then re-audit. And we show you the evidence from each step — including the failures.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A7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Deals do not end with a rejection at this gate. They end with silence.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 House · Ma'aden ARGP Security &amp; Assurance · 15 July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→ Remediate → Test → Re-audit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pay an external firm to find what you already know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384048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4F3F0"/>
          </a:solidFill>
          <a:ln w="9525">
            <a:solidFill>
              <a:srgbClr val="E3E1D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828800"/>
            <a:ext cx="566928" cy="566928"/>
          </a:xfrm>
          <a:prstGeom prst="ellipse">
            <a:avLst/>
          </a:prstGeom>
          <a:solidFill>
            <a:srgbClr val="23242A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2889504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13-layer review of the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stack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3703320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E5F2E6"/>
          </a:solidFill>
          <a:ln w="12700">
            <a:solidFill>
              <a:srgbClr val="E5F2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370332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200400" y="182880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383280" y="16002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4F3F0"/>
          </a:solidFill>
          <a:ln w="9525">
            <a:solidFill>
              <a:srgbClr val="E3E1D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11880" y="1828800"/>
            <a:ext cx="566928" cy="566928"/>
          </a:xfrm>
          <a:prstGeom prst="ellipse">
            <a:avLst/>
          </a:prstGeom>
          <a:solidFill>
            <a:srgbClr val="23242A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118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611880" y="254203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611880" y="2889504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what the audit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611880" y="3703320"/>
            <a:ext cx="1563624" cy="237744"/>
          </a:xfrm>
          <a:prstGeom prst="roundRect">
            <a:avLst>
              <a:gd name="adj" fmla="val 50000"/>
            </a:avLst>
          </a:prstGeom>
          <a:solidFill>
            <a:srgbClr val="FDF0DC"/>
          </a:solidFill>
          <a:ln w="12700">
            <a:solidFill>
              <a:srgbClr val="FDF0D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11880" y="3703320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035040" y="182880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217920" y="16002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4F3F0"/>
          </a:solidFill>
          <a:ln w="9525">
            <a:solidFill>
              <a:srgbClr val="E3E1D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46520" y="1828800"/>
            <a:ext cx="566928" cy="566928"/>
          </a:xfrm>
          <a:prstGeom prst="ellipse">
            <a:avLst/>
          </a:prstGeom>
          <a:solidFill>
            <a:srgbClr val="23242A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4652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446520" y="254203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TEST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46520" y="2889504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firm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 to break in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446520" y="3703320"/>
            <a:ext cx="969264" cy="237744"/>
          </a:xfrm>
          <a:prstGeom prst="roundRect">
            <a:avLst>
              <a:gd name="adj" fmla="val 50000"/>
            </a:avLst>
          </a:prstGeom>
          <a:solidFill>
            <a:srgbClr val="E8E8EC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46520" y="3703320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869680" y="182880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9052560" y="16002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4F3F0"/>
          </a:solidFill>
          <a:ln w="9525">
            <a:solidFill>
              <a:srgbClr val="E3E1D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281160" y="1828800"/>
            <a:ext cx="566928" cy="566928"/>
          </a:xfrm>
          <a:prstGeom prst="ellipse">
            <a:avLst/>
          </a:prstGeom>
          <a:solidFill>
            <a:srgbClr val="23242A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8116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9281160" y="254203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RE-AUDIT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9281160" y="2889504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fixes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9281160" y="3703320"/>
            <a:ext cx="1088136" cy="237744"/>
          </a:xfrm>
          <a:prstGeom prst="roundRect">
            <a:avLst>
              <a:gd name="adj" fmla="val 50000"/>
            </a:avLst>
          </a:prstGeom>
          <a:solidFill>
            <a:srgbClr val="E8E8EC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281160" y="3703320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48640" y="452628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DF3D7"/>
          </a:solidFill>
          <a:ln w="9525">
            <a:solidFill>
              <a:srgbClr val="E3E1D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77240" y="46634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today: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#1 is complete and available to you now. No penetration test has been run on this application yet — it is scoped and will be commissioned after remediation. We will not present a test result until an external firm has actually performed one.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 House · Ma'aden ARGP Security &amp; Assurance · 15 July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13-Layer Production Readiness Audit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#1 · commit 0d25f7f · 15 July 2026 · source review + dependency scan + live reproduction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384048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4173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114800" y="1417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TODAY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577840" y="1417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TARGET (SoW §3.4)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868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session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114800" y="1709928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FBE4E4"/>
          </a:solidFill>
          <a:ln w="12700">
            <a:solidFill>
              <a:srgbClr val="FBE4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0" y="170992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577840" y="1691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+ ADFS SSO, SAML 2.0, MFA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20071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68680" y="20071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/ RBAC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114800" y="2025396"/>
            <a:ext cx="1088136" cy="237744"/>
          </a:xfrm>
          <a:prstGeom prst="roundRect">
            <a:avLst>
              <a:gd name="adj" fmla="val 50000"/>
            </a:avLst>
          </a:prstGeom>
          <a:solidFill>
            <a:srgbClr val="FDF0DC"/>
          </a:solidFill>
          <a:ln w="12700">
            <a:solidFill>
              <a:srgbClr val="FDF0D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0" y="2025396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577840" y="20071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roles, IdP-backed, server-side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" y="2322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68680" y="23225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(transit/rest)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114800" y="2340864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FBE4E4"/>
          </a:solidFill>
          <a:ln w="12700">
            <a:solidFill>
              <a:srgbClr val="FBE4E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0" y="234086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577840" y="23225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1.2+, TDE, Key Vault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26380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68680" y="26380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114800" y="2656332"/>
            <a:ext cx="1088136" cy="237744"/>
          </a:xfrm>
          <a:prstGeom prst="roundRect">
            <a:avLst>
              <a:gd name="adj" fmla="val 50000"/>
            </a:avLst>
          </a:prstGeom>
          <a:solidFill>
            <a:srgbClr val="FDF0DC"/>
          </a:solidFill>
          <a:ln w="12700">
            <a:solidFill>
              <a:srgbClr val="FDF0D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14800" y="2656332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577840" y="26380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PostgreSQL, private endpoint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8640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68680" y="2953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&amp; injection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114800" y="2971800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E5F2E6"/>
          </a:solidFill>
          <a:ln w="12700">
            <a:solidFill>
              <a:srgbClr val="E5F2E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14800" y="29718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577840" y="29535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Maintain; schema validation at API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48640" y="32689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868680" y="32689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4114800" y="3287268"/>
            <a:ext cx="1088136" cy="237744"/>
          </a:xfrm>
          <a:prstGeom prst="roundRect">
            <a:avLst>
              <a:gd name="adj" fmla="val 50000"/>
            </a:avLst>
          </a:prstGeom>
          <a:solidFill>
            <a:srgbClr val="FDF0DC"/>
          </a:solidFill>
          <a:ln w="12700">
            <a:solidFill>
              <a:srgbClr val="FDF0D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114800" y="3287268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5577840" y="32689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 / managed identity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48640" y="3584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868680" y="3584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&amp; supply chain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4114800" y="3602736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FBE4E4"/>
          </a:solidFill>
          <a:ln w="12700">
            <a:solidFill>
              <a:srgbClr val="FBE4E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114800" y="360273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5577840" y="3584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scanning, patch SLA, SBOM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548640" y="38999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868680" y="38999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hardening / headers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4114800" y="3918204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FBE4E4"/>
          </a:solidFill>
          <a:ln w="12700">
            <a:solidFill>
              <a:srgbClr val="FBE4E4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114800" y="391820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577840" y="38999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CSP, HSTS via Front Door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548640" y="4215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868680" y="42153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&amp; network</a:t>
            </a:r>
            <a:endParaRPr lang="en-US" sz="1150" dirty="0"/>
          </a:p>
        </p:txBody>
      </p:sp>
      <p:sp>
        <p:nvSpPr>
          <p:cNvPr id="50" name="Shape 47"/>
          <p:cNvSpPr/>
          <p:nvPr/>
        </p:nvSpPr>
        <p:spPr>
          <a:xfrm>
            <a:off x="4114800" y="4233672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E8E8EC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114800" y="4233672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n/a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5577840" y="42153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 Riyadh, WAF, private net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548640" y="45308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868680" y="45308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CI/CD</a:t>
            </a:r>
            <a:endParaRPr lang="en-US" sz="1150" dirty="0"/>
          </a:p>
        </p:txBody>
      </p:sp>
      <p:sp>
        <p:nvSpPr>
          <p:cNvPr id="55" name="Shape 52"/>
          <p:cNvSpPr/>
          <p:nvPr/>
        </p:nvSpPr>
        <p:spPr>
          <a:xfrm>
            <a:off x="4114800" y="4549140"/>
            <a:ext cx="1088136" cy="237744"/>
          </a:xfrm>
          <a:prstGeom prst="roundRect">
            <a:avLst>
              <a:gd name="adj" fmla="val 50000"/>
            </a:avLst>
          </a:prstGeom>
          <a:solidFill>
            <a:srgbClr val="FDF0DC"/>
          </a:solidFill>
          <a:ln w="12700">
            <a:solidFill>
              <a:srgbClr val="FDF0DC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114800" y="4549140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50" dirty="0"/>
          </a:p>
        </p:txBody>
      </p:sp>
      <p:sp>
        <p:nvSpPr>
          <p:cNvPr id="57" name="Text 54"/>
          <p:cNvSpPr/>
          <p:nvPr/>
        </p:nvSpPr>
        <p:spPr>
          <a:xfrm>
            <a:off x="5577840" y="45308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Enterprise + Azure DevOps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548640" y="4846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868680" y="4846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audit &amp; monitoring</a:t>
            </a:r>
            <a:endParaRPr lang="en-US" sz="1150" dirty="0"/>
          </a:p>
        </p:txBody>
      </p:sp>
      <p:sp>
        <p:nvSpPr>
          <p:cNvPr id="60" name="Shape 57"/>
          <p:cNvSpPr/>
          <p:nvPr/>
        </p:nvSpPr>
        <p:spPr>
          <a:xfrm>
            <a:off x="4114800" y="4864608"/>
            <a:ext cx="1088136" cy="237744"/>
          </a:xfrm>
          <a:prstGeom prst="roundRect">
            <a:avLst>
              <a:gd name="adj" fmla="val 50000"/>
            </a:avLst>
          </a:prstGeom>
          <a:solidFill>
            <a:srgbClr val="FDF0DC"/>
          </a:solidFill>
          <a:ln w="12700">
            <a:solidFill>
              <a:srgbClr val="FDF0DC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114800" y="4864608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50" dirty="0"/>
          </a:p>
        </p:txBody>
      </p:sp>
      <p:sp>
        <p:nvSpPr>
          <p:cNvPr id="62" name="Text 59"/>
          <p:cNvSpPr/>
          <p:nvPr/>
        </p:nvSpPr>
        <p:spPr>
          <a:xfrm>
            <a:off x="5577840" y="4846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Insights + Azure Sentinel SIEM</a:t>
            </a:r>
            <a:endParaRPr lang="en-US" sz="1100" dirty="0"/>
          </a:p>
        </p:txBody>
      </p:sp>
      <p:sp>
        <p:nvSpPr>
          <p:cNvPr id="63" name="Text 60"/>
          <p:cNvSpPr/>
          <p:nvPr/>
        </p:nvSpPr>
        <p:spPr>
          <a:xfrm>
            <a:off x="548640" y="51617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868680" y="51617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&amp; availability</a:t>
            </a:r>
            <a:endParaRPr lang="en-US" sz="1150" dirty="0"/>
          </a:p>
        </p:txBody>
      </p:sp>
      <p:sp>
        <p:nvSpPr>
          <p:cNvPr id="65" name="Shape 62"/>
          <p:cNvSpPr/>
          <p:nvPr/>
        </p:nvSpPr>
        <p:spPr>
          <a:xfrm>
            <a:off x="4114800" y="5180076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E8E8EC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4114800" y="518007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n/a</a:t>
            </a:r>
            <a:endParaRPr lang="en-US" sz="950" dirty="0"/>
          </a:p>
        </p:txBody>
      </p:sp>
      <p:sp>
        <p:nvSpPr>
          <p:cNvPr id="67" name="Text 64"/>
          <p:cNvSpPr/>
          <p:nvPr/>
        </p:nvSpPr>
        <p:spPr>
          <a:xfrm>
            <a:off x="5577840" y="51617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Autoscale, health probes, SLO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548640" y="5477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868680" y="54772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disaster recovery</a:t>
            </a:r>
            <a:endParaRPr lang="en-US" sz="1150" dirty="0"/>
          </a:p>
        </p:txBody>
      </p:sp>
      <p:sp>
        <p:nvSpPr>
          <p:cNvPr id="70" name="Shape 67"/>
          <p:cNvSpPr/>
          <p:nvPr/>
        </p:nvSpPr>
        <p:spPr>
          <a:xfrm>
            <a:off x="4114800" y="5495544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FBE4E4"/>
          </a:solidFill>
          <a:ln w="12700">
            <a:solidFill>
              <a:srgbClr val="FBE4E4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4114800" y="549554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950" dirty="0"/>
          </a:p>
        </p:txBody>
      </p:sp>
      <p:sp>
        <p:nvSpPr>
          <p:cNvPr id="72" name="Text 69"/>
          <p:cNvSpPr/>
          <p:nvPr/>
        </p:nvSpPr>
        <p:spPr>
          <a:xfrm>
            <a:off x="5577840" y="54772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PITR, RPO/RTO, restore drills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10058400" y="1691640"/>
            <a:ext cx="1600200" cy="1874520"/>
          </a:xfrm>
          <a:prstGeom prst="roundRect">
            <a:avLst>
              <a:gd name="adj" fmla="val 4571"/>
            </a:avLst>
          </a:prstGeom>
          <a:solidFill>
            <a:srgbClr val="23242A"/>
          </a:solidFill>
          <a:ln w="9525">
            <a:solidFill>
              <a:srgbClr val="E3E1DA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10195560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75" name="Text 72"/>
          <p:cNvSpPr/>
          <p:nvPr/>
        </p:nvSpPr>
        <p:spPr>
          <a:xfrm>
            <a:off x="10680192" y="19110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76" name="Text 73"/>
          <p:cNvSpPr/>
          <p:nvPr/>
        </p:nvSpPr>
        <p:spPr>
          <a:xfrm>
            <a:off x="10195560" y="22585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100" dirty="0"/>
          </a:p>
        </p:txBody>
      </p:sp>
      <p:sp>
        <p:nvSpPr>
          <p:cNvPr id="77" name="Text 74"/>
          <p:cNvSpPr/>
          <p:nvPr/>
        </p:nvSpPr>
        <p:spPr>
          <a:xfrm>
            <a:off x="10680192" y="23408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78" name="Text 75"/>
          <p:cNvSpPr/>
          <p:nvPr/>
        </p:nvSpPr>
        <p:spPr>
          <a:xfrm>
            <a:off x="10195560" y="26883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100" dirty="0"/>
          </a:p>
        </p:txBody>
      </p:sp>
      <p:sp>
        <p:nvSpPr>
          <p:cNvPr id="79" name="Text 76"/>
          <p:cNvSpPr/>
          <p:nvPr/>
        </p:nvSpPr>
        <p:spPr>
          <a:xfrm>
            <a:off x="10680192" y="27706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100" dirty="0"/>
          </a:p>
        </p:txBody>
      </p:sp>
      <p:sp>
        <p:nvSpPr>
          <p:cNvPr id="80" name="Text 77"/>
          <p:cNvSpPr/>
          <p:nvPr/>
        </p:nvSpPr>
        <p:spPr>
          <a:xfrm>
            <a:off x="10195560" y="31181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A9B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81" name="Text 78"/>
          <p:cNvSpPr/>
          <p:nvPr/>
        </p:nvSpPr>
        <p:spPr>
          <a:xfrm>
            <a:off x="10680192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82" name="Shape 79"/>
          <p:cNvSpPr/>
          <p:nvPr/>
        </p:nvSpPr>
        <p:spPr>
          <a:xfrm>
            <a:off x="10058400" y="3703320"/>
            <a:ext cx="1600200" cy="2194560"/>
          </a:xfrm>
          <a:prstGeom prst="roundRect">
            <a:avLst>
              <a:gd name="adj" fmla="val 4571"/>
            </a:avLst>
          </a:prstGeom>
          <a:solidFill>
            <a:srgbClr val="FDF3D7"/>
          </a:solidFill>
          <a:ln w="9525">
            <a:solidFill>
              <a:srgbClr val="E3E1DA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10195560" y="3840480"/>
            <a:ext cx="1325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scores the pre-award demo on localhost — not production. It holds no Ma'aden data and is not internet-facing.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failures are demo-scope decisions with defined production controls.</a:t>
            </a:r>
            <a:endParaRPr lang="en-US" sz="950" dirty="0"/>
          </a:p>
        </p:txBody>
      </p:sp>
      <p:sp>
        <p:nvSpPr>
          <p:cNvPr id="84" name="Text 81"/>
          <p:cNvSpPr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report: 02 — Production Readiness Audit — 13 Layers · XD House · 15 July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audit found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 against a running instance — not a checklist exercise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384048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3F0"/>
          </a:solidFill>
          <a:ln w="9525">
            <a:solidFill>
              <a:srgbClr val="E3E1D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591056"/>
            <a:ext cx="612648" cy="237744"/>
          </a:xfrm>
          <a:prstGeom prst="roundRect">
            <a:avLst>
              <a:gd name="adj" fmla="val 50000"/>
            </a:avLst>
          </a:prstGeom>
          <a:solidFill>
            <a:srgbClr val="FBE4E4"/>
          </a:solidFill>
          <a:ln w="12700">
            <a:solidFill>
              <a:srgbClr val="FBE4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591056"/>
            <a:ext cx="61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C-1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691640" y="15453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Unauthenticated requests served as Governance Lead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691640" y="184708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falls back to a default admin user. Reproduced: an anonymous API call mutates data.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366760" y="1664208"/>
            <a:ext cx="3063240" cy="512064"/>
          </a:xfrm>
          <a:prstGeom prst="roundRect">
            <a:avLst>
              <a:gd name="adj" fmla="val 10714"/>
            </a:avLst>
          </a:prstGeom>
          <a:solidFill>
            <a:srgbClr val="E5F2E6"/>
          </a:solidFill>
          <a:ln w="12700">
            <a:solidFill>
              <a:srgbClr val="E5F2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0" y="1664208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h — delete the fallback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51460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3F0"/>
          </a:solidFill>
          <a:ln w="9525">
            <a:solidFill>
              <a:srgbClr val="E3E1D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2688336"/>
            <a:ext cx="612648" cy="237744"/>
          </a:xfrm>
          <a:prstGeom prst="roundRect">
            <a:avLst>
              <a:gd name="adj" fmla="val 50000"/>
            </a:avLst>
          </a:prstGeom>
          <a:solidFill>
            <a:srgbClr val="FBE4E4"/>
          </a:solidFill>
          <a:ln w="12700">
            <a:solidFill>
              <a:srgbClr val="FBE4E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2688336"/>
            <a:ext cx="61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C-2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691640" y="26426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selection requires no authentication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691640" y="29443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role switcher issues a session for any user, no password.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366760" y="2761488"/>
            <a:ext cx="3063240" cy="512064"/>
          </a:xfrm>
          <a:prstGeom prst="roundRect">
            <a:avLst>
              <a:gd name="adj" fmla="val 10714"/>
            </a:avLst>
          </a:prstGeom>
          <a:solidFill>
            <a:srgbClr val="E5F2E6"/>
          </a:solidFill>
          <a:ln w="12700">
            <a:solidFill>
              <a:srgbClr val="E5F2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03920" y="2761488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d — wire ADFS/Azure AD SAML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36118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3F0"/>
          </a:solidFill>
          <a:ln w="9525">
            <a:solidFill>
              <a:srgbClr val="E3E1D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1520" y="3785616"/>
            <a:ext cx="612648" cy="237744"/>
          </a:xfrm>
          <a:prstGeom prst="roundRect">
            <a:avLst>
              <a:gd name="adj" fmla="val 50000"/>
            </a:avLst>
          </a:prstGeom>
          <a:solidFill>
            <a:srgbClr val="FDF0DC"/>
          </a:solidFill>
          <a:ln w="12700">
            <a:solidFill>
              <a:srgbClr val="FDF0D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3785616"/>
            <a:ext cx="61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H-2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691640" y="373989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version carries high-severity advisories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1691640" y="404164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next@14.2.5 — DoS, XSS, cache poisoning, SSRF. Found by dependency scan.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366760" y="3858768"/>
            <a:ext cx="3063240" cy="512064"/>
          </a:xfrm>
          <a:prstGeom prst="roundRect">
            <a:avLst>
              <a:gd name="adj" fmla="val 10714"/>
            </a:avLst>
          </a:prstGeom>
          <a:solidFill>
            <a:srgbClr val="E5F2E6"/>
          </a:solidFill>
          <a:ln w="12700">
            <a:solidFill>
              <a:srgbClr val="E5F2E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503920" y="3858768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0.5–2 d — upgrade + re-verify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48640" y="47091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3F0"/>
          </a:solidFill>
          <a:ln w="9525">
            <a:solidFill>
              <a:srgbClr val="E3E1D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31520" y="4882896"/>
            <a:ext cx="1088136" cy="237744"/>
          </a:xfrm>
          <a:prstGeom prst="roundRect">
            <a:avLst>
              <a:gd name="adj" fmla="val 50000"/>
            </a:avLst>
          </a:prstGeom>
          <a:solidFill>
            <a:srgbClr val="FDF0DC"/>
          </a:solidFill>
          <a:ln w="12700">
            <a:solidFill>
              <a:srgbClr val="FDF0D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31520" y="4882896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H-1/3/4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691640" y="48371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signing secret · cookie not Secure · no TLS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1691640" y="513892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Production-hardening steps the localhost demo deliberately skipped.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8366760" y="4956048"/>
            <a:ext cx="3063240" cy="512064"/>
          </a:xfrm>
          <a:prstGeom prst="roundRect">
            <a:avLst>
              <a:gd name="adj" fmla="val 10714"/>
            </a:avLst>
          </a:prstGeom>
          <a:solidFill>
            <a:srgbClr val="E5F2E6"/>
          </a:solidFill>
          <a:ln w="12700">
            <a:solidFill>
              <a:srgbClr val="E5F2E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503920" y="4956048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d total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48640" y="58704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Critical finding is a demo-scope removal — but they become live vulnerabilities the moment the demo leaves localhost.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 House · Ma'aden ARGP Security &amp; Assurance · 15 July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already holds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built in from the start — not retrofitted for this review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384048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0876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4F3F0"/>
          </a:solidFill>
          <a:ln w="9525">
            <a:solidFill>
              <a:srgbClr val="E3E1D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764792"/>
            <a:ext cx="384048" cy="384048"/>
          </a:xfrm>
          <a:prstGeom prst="ellipse">
            <a:avLst/>
          </a:prstGeom>
          <a:solidFill>
            <a:srgbClr val="E5F2E6"/>
          </a:solidFill>
          <a:ln w="12700">
            <a:solidFill>
              <a:srgbClr val="E5F2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98448" y="17282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SQL injection surface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98448" y="2029968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parameterised through the driver. A source sweep for string interpolation returned zero hits.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17920" y="150876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4F3F0"/>
          </a:solidFill>
          <a:ln w="9525">
            <a:solidFill>
              <a:srgbClr val="E3E1D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1764792"/>
            <a:ext cx="384048" cy="384048"/>
          </a:xfrm>
          <a:prstGeom prst="ellipse">
            <a:avLst/>
          </a:prstGeom>
          <a:solidFill>
            <a:srgbClr val="E5F2E6"/>
          </a:solidFill>
          <a:ln w="12700">
            <a:solidFill>
              <a:srgbClr val="E5F2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967728" y="17282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967728" y="2029968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mutation records actor, action, before/after value and timestamp — the control SoW §3.1.4 requires.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2990088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4F3F0"/>
          </a:solidFill>
          <a:ln w="9525">
            <a:solidFill>
              <a:srgbClr val="E3E1D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240" y="3246120"/>
            <a:ext cx="384048" cy="384048"/>
          </a:xfrm>
          <a:prstGeom prst="ellipse">
            <a:avLst/>
          </a:prstGeom>
          <a:solidFill>
            <a:srgbClr val="E5F2E6"/>
          </a:solidFill>
          <a:ln w="12700">
            <a:solidFill>
              <a:srgbClr val="E5F2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298448" y="32095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data is immutable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298448" y="3511296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a published asset forces a new revision and returns it for re-validation. No silent edits.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217920" y="2990088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4F3F0"/>
          </a:solidFill>
          <a:ln w="9525">
            <a:solidFill>
              <a:srgbClr val="E3E1D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46520" y="3246120"/>
            <a:ext cx="384048" cy="384048"/>
          </a:xfrm>
          <a:prstGeom prst="ellipse">
            <a:avLst/>
          </a:prstGeom>
          <a:solidFill>
            <a:srgbClr val="E5F2E6"/>
          </a:solidFill>
          <a:ln w="12700">
            <a:solidFill>
              <a:srgbClr val="E5F2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4652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967728" y="32095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authorization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967728" y="3511296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gates enforced in the API, not hidden UI. A Viewer attempting to mutate receives 403 — reproduced.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4471416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4F3F0"/>
          </a:solidFill>
          <a:ln w="9525">
            <a:solidFill>
              <a:srgbClr val="E3E1D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77240" y="4727448"/>
            <a:ext cx="384048" cy="384048"/>
          </a:xfrm>
          <a:prstGeom prst="ellipse">
            <a:avLst/>
          </a:prstGeom>
          <a:solidFill>
            <a:srgbClr val="E5F2E6"/>
          </a:solidFill>
          <a:ln w="12700">
            <a:solidFill>
              <a:srgbClr val="E5F2E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7240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298448" y="46908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never in version control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1298448" y="499262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against the git index. No credential files tracked.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217920" y="4471416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4F3F0"/>
          </a:solidFill>
          <a:ln w="9525">
            <a:solidFill>
              <a:srgbClr val="E3E1D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46520" y="4727448"/>
            <a:ext cx="384048" cy="384048"/>
          </a:xfrm>
          <a:prstGeom prst="ellipse">
            <a:avLst/>
          </a:prstGeom>
          <a:solidFill>
            <a:srgbClr val="E5F2E6"/>
          </a:solidFill>
          <a:ln w="12700">
            <a:solidFill>
              <a:srgbClr val="E5F2E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46520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6967728" y="46908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 fails closed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6967728" y="499262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API key the client is never constructed; routes return a clean 503. The key never reaches the browser.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 House · Ma'aden ARGP Security &amp; Assurance · 15 July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 Ma'aden's stated requirements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SoW ARGP-DIGI-APP-SOW-001 §3.4 and the Master Roadmap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384048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572768"/>
            <a:ext cx="274320" cy="274320"/>
          </a:xfrm>
          <a:prstGeom prst="ellipse">
            <a:avLst/>
          </a:prstGeom>
          <a:solidFill>
            <a:srgbClr val="23242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1572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87552" y="146304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 — Kingdom of Saudi Arabia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349240" y="1463040"/>
            <a:ext cx="6263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 Service + Azure Database for PostgreSQL, Riyadh region. No Ma'aden production data offshore.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66928" y="2194560"/>
            <a:ext cx="274320" cy="274320"/>
          </a:xfrm>
          <a:prstGeom prst="ellipse">
            <a:avLst/>
          </a:prstGeom>
          <a:solidFill>
            <a:srgbClr val="23242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87552" y="208483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+ ADFS SSO, SAML 2.0, MFA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49240" y="2084832"/>
            <a:ext cx="6263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Ma'aden's identity provider is the source of truth. MFA enforced. Four least-privilege roles.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66928" y="2816352"/>
            <a:ext cx="274320" cy="274320"/>
          </a:xfrm>
          <a:prstGeom prst="ellipse">
            <a:avLst/>
          </a:prstGeom>
          <a:solidFill>
            <a:srgbClr val="23242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87552" y="2706624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in transit and at rest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49240" y="2706624"/>
            <a:ext cx="6263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1.2+ browser→app→database, HSTS at the edge. Azure TDE at rest. Keys in Azure Key Vault.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6928" y="3438144"/>
            <a:ext cx="274320" cy="274320"/>
          </a:xfrm>
          <a:prstGeom prst="ellipse">
            <a:avLst/>
          </a:prstGeom>
          <a:solidFill>
            <a:srgbClr val="23242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" y="3438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87552" y="3328416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integration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349240" y="3328416"/>
            <a:ext cx="6263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security events forwarded to Ma'aden's Azure Sentinel.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66928" y="4059936"/>
            <a:ext cx="274320" cy="274320"/>
          </a:xfrm>
          <a:prstGeom prst="ellipse">
            <a:avLst/>
          </a:prstGeom>
          <a:solidFill>
            <a:srgbClr val="23242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4059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87552" y="3950208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 (§3.1.4)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349240" y="3950208"/>
            <a:ext cx="6263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demonstrable today in the CDE sample — who, what, before/after, when.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66928" y="4681728"/>
            <a:ext cx="274320" cy="274320"/>
          </a:xfrm>
          <a:prstGeom prst="ellipse">
            <a:avLst/>
          </a:prstGeom>
          <a:solidFill>
            <a:srgbClr val="23242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4681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87552" y="457200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APIs with access control (§3.4.4)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349240" y="4572000"/>
            <a:ext cx="6263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spec published; every mutating route role-gated server-side.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3F0"/>
          </a:solidFill>
          <a:ln w="9525">
            <a:solidFill>
              <a:srgbClr val="E3E1D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7240" y="54406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commitments for the delivered production system. The pre-award demo you have seen implements the audit trail and role model today; the identity, transport and hosting controls arrive with the Azure deployment.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 House · Ma'aden ARGP Security &amp; Assurance · 15 July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certification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assessed, not self-declared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384048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5486400" cy="3200400"/>
          </a:xfrm>
          <a:prstGeom prst="roundRect">
            <a:avLst>
              <a:gd name="adj" fmla="val 2286"/>
            </a:avLst>
          </a:prstGeom>
          <a:solidFill>
            <a:srgbClr val="F4F3F0"/>
          </a:solidFill>
          <a:ln w="9525">
            <a:solidFill>
              <a:srgbClr val="E3E1DA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65960"/>
            <a:ext cx="4846320" cy="1600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37490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 Kitemark™ — BIM Design and Construction, and BIM Security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868680" y="42245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Security addresses security-minded information management for built assets — directly relevant to a Common Data Environment.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309360" y="160020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23242A"/>
          </a:solidFill>
          <a:ln w="9525">
            <a:solidFill>
              <a:srgbClr val="E3E1D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583680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not claim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6583680" y="233172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D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state only what we hold and can evidence on request.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certification claim is the first thing a security reviewer verifies. An unsupportable one ends the review — and the relationship.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aligned to a standard but not certified against it, we say exactly that.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numbers and scope available on request · XD House · 15 July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assurance pack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documents — available to your reviewers today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384048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4F3F0"/>
          </a:solidFill>
          <a:ln w="9525">
            <a:solidFill>
              <a:srgbClr val="E3E1D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71600"/>
            <a:ext cx="457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280160" y="14813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Overview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80160" y="17647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residency, access control, testing cadence, vulnerability reporting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0424160" y="1645920"/>
            <a:ext cx="850392" cy="237744"/>
          </a:xfrm>
          <a:prstGeom prst="roundRect">
            <a:avLst>
              <a:gd name="adj" fmla="val 50000"/>
            </a:avLst>
          </a:prstGeom>
          <a:solidFill>
            <a:srgbClr val="E5F2E6"/>
          </a:solidFill>
          <a:ln w="12700">
            <a:solidFill>
              <a:srgbClr val="E5F2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424160" y="1645920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48640" y="2249424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4F3F0"/>
          </a:solidFill>
          <a:ln w="9525">
            <a:solidFill>
              <a:srgbClr val="E3E1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2249424"/>
            <a:ext cx="457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280160" y="23591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 Audit — 13 Layers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280160" y="264261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audit, its findings, and the remediation plan with owners and dates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0424160" y="2523744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E5F2E6"/>
          </a:solidFill>
          <a:ln w="12700">
            <a:solidFill>
              <a:srgbClr val="E5F2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424160" y="252374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127248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4F3F0"/>
          </a:solidFill>
          <a:ln w="9525">
            <a:solidFill>
              <a:srgbClr val="E3E1D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3127248"/>
            <a:ext cx="457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280160" y="32369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 — Scope &amp; Commission Plan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280160" y="3520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be tested, by whom, and when — a plan, not a result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424160" y="3401568"/>
            <a:ext cx="969264" cy="237744"/>
          </a:xfrm>
          <a:prstGeom prst="roundRect">
            <a:avLst>
              <a:gd name="adj" fmla="val 50000"/>
            </a:avLst>
          </a:prstGeom>
          <a:solidFill>
            <a:srgbClr val="E8E8EC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424160" y="3401568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48640" y="4005072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4F3F0"/>
          </a:solidFill>
          <a:ln w="9525">
            <a:solidFill>
              <a:srgbClr val="E3E1D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4005072"/>
            <a:ext cx="457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1280160" y="4114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Plan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1280160" y="439826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levels, roles, containment, notification timelines, post-incident review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0424160" y="4279392"/>
            <a:ext cx="850392" cy="237744"/>
          </a:xfrm>
          <a:prstGeom prst="roundRect">
            <a:avLst>
              <a:gd name="adj" fmla="val 50000"/>
            </a:avLst>
          </a:prstGeom>
          <a:solidFill>
            <a:srgbClr val="FDF0DC"/>
          </a:solidFill>
          <a:ln w="12700">
            <a:solidFill>
              <a:srgbClr val="FDF0D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424160" y="4279392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48640" y="4882896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4F3F0"/>
          </a:solidFill>
          <a:ln w="9525">
            <a:solidFill>
              <a:srgbClr val="E3E1D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1520" y="4882896"/>
            <a:ext cx="457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1280160" y="49926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Questionnaire — Pre-Answers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1280160" y="52760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Demo-today vs production-committed, answered side by side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10424160" y="5157216"/>
            <a:ext cx="850392" cy="237744"/>
          </a:xfrm>
          <a:prstGeom prst="roundRect">
            <a:avLst>
              <a:gd name="adj" fmla="val 50000"/>
            </a:avLst>
          </a:prstGeom>
          <a:solidFill>
            <a:srgbClr val="FDF0DC"/>
          </a:solidFill>
          <a:ln w="12700">
            <a:solidFill>
              <a:srgbClr val="FDF0D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424160" y="5157216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48640" y="58704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documents answer more procurement questions than any sales deck: an audit scorecard, and an independent penetration test.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 House · Ma'aden ARGP Security &amp; Assurance · 15 July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2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105156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18745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are asking you to take from this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658368" y="2752344"/>
            <a:ext cx="310896" cy="31089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2752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15568" y="2697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audit ourselves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206240" y="2697480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defined 13-layer standard — and we show you the failures, not a marketing summary.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" y="3465576"/>
            <a:ext cx="310896" cy="31089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15568" y="34107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sequence it properly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206240" y="3410712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Audit, fix, independent test, re-audit. We do not buy a pen test to discover what we already documented.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58368" y="4178808"/>
            <a:ext cx="310896" cy="31089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4178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15568" y="412394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overstate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206240" y="4123944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result until an external firm runs one. No certification claim we cannot evidence.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58368" y="5029200"/>
            <a:ext cx="29260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52303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audit is available to your reviewers today.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58368" y="59893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 House  ·  Ma'aden Ar Rjum Gold Project  ·  Security &amp; Assurance  ·  15 July 2026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052560" y="5138928"/>
            <a:ext cx="256032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7152" y="5431536"/>
            <a:ext cx="2231136" cy="4937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XD House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Maaden ARGP — Security &amp; Assurance</dc:title>
  <dc:subject>PptxGenJS Presentation</dc:subject>
  <dc:creator>XD House</dc:creator>
  <cp:lastModifiedBy>XD House</cp:lastModifiedBy>
  <cp:revision>1</cp:revision>
  <dcterms:created xsi:type="dcterms:W3CDTF">2026-07-15T04:47:06Z</dcterms:created>
  <dcterms:modified xsi:type="dcterms:W3CDTF">2026-07-15T04:47:06Z</dcterms:modified>
</cp:coreProperties>
</file>