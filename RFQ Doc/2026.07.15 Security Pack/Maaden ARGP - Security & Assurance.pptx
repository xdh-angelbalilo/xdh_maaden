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Scope: the delivered platform. Do not raise the pre-award demo's own configuration. It is a laptop sales artifact, not what Maaden is procuring.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when the last pen test was: none yet for this platform, because it is not yet built. It is committed before go-live and already scoped. Never present a plan as a result.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Confirm the Kitemark certificate number, scope and validity before issuing. Do not add ISO 27001 or SOC 2 unless XD House actually holds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3242A"/>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58368" y="548640"/>
            <a:ext cx="1325880" cy="1097280"/>
          </a:xfrm>
          <a:prstGeom prst="rect">
            <a:avLst/>
          </a:prstGeom>
        </p:spPr>
      </p:pic>
      <p:sp>
        <p:nvSpPr>
          <p:cNvPr id="3" name="Text 0"/>
          <p:cNvSpPr/>
          <p:nvPr/>
        </p:nvSpPr>
        <p:spPr>
          <a:xfrm>
            <a:off x="658368" y="2148840"/>
            <a:ext cx="8595360" cy="73152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Security &amp; Assurance</a:t>
            </a:r>
            <a:endParaRPr lang="en-US" sz="4400" dirty="0"/>
          </a:p>
        </p:txBody>
      </p:sp>
      <p:sp>
        <p:nvSpPr>
          <p:cNvPr id="4" name="Text 1"/>
          <p:cNvSpPr/>
          <p:nvPr/>
        </p:nvSpPr>
        <p:spPr>
          <a:xfrm>
            <a:off x="658368" y="2926080"/>
            <a:ext cx="8595360" cy="411480"/>
          </a:xfrm>
          <a:prstGeom prst="rect">
            <a:avLst/>
          </a:prstGeom>
          <a:noFill/>
          <a:ln/>
        </p:spPr>
        <p:txBody>
          <a:bodyPr wrap="square" lIns="0" tIns="0" rIns="0" bIns="0" rtlCol="0" anchor="ctr"/>
          <a:lstStyle/>
          <a:p>
            <a:pPr indent="0" marL="0">
              <a:buNone/>
            </a:pPr>
            <a:r>
              <a:rPr lang="en-US" sz="1900" dirty="0">
                <a:solidFill>
                  <a:srgbClr val="C9A227"/>
                </a:solidFill>
                <a:latin typeface="Calibri" pitchFamily="34" charset="0"/>
                <a:ea typeface="Calibri" pitchFamily="34" charset="-122"/>
                <a:cs typeface="Calibri" pitchFamily="34" charset="-120"/>
              </a:rPr>
              <a:t>Ma'aden Ar Rjum Gold Project: Digitalization Platform</a:t>
            </a:r>
            <a:endParaRPr lang="en-US" sz="1900" dirty="0"/>
          </a:p>
        </p:txBody>
      </p:sp>
      <p:sp>
        <p:nvSpPr>
          <p:cNvPr id="5" name="Text 2"/>
          <p:cNvSpPr/>
          <p:nvPr/>
        </p:nvSpPr>
        <p:spPr>
          <a:xfrm>
            <a:off x="658368" y="3401568"/>
            <a:ext cx="8595360" cy="320040"/>
          </a:xfrm>
          <a:prstGeom prst="rect">
            <a:avLst/>
          </a:prstGeom>
          <a:noFill/>
          <a:ln/>
        </p:spPr>
        <p:txBody>
          <a:bodyPr wrap="square" lIns="0" tIns="0" rIns="0" bIns="0" rtlCol="0" anchor="ctr"/>
          <a:lstStyle/>
          <a:p>
            <a:pPr indent="0" marL="0">
              <a:buNone/>
            </a:pPr>
            <a:r>
              <a:rPr lang="en-US" sz="1300" dirty="0">
                <a:solidFill>
                  <a:srgbClr val="C4C5CC"/>
                </a:solidFill>
                <a:latin typeface="Calibri" pitchFamily="34" charset="0"/>
                <a:ea typeface="Calibri" pitchFamily="34" charset="-122"/>
                <a:cs typeface="Calibri" pitchFamily="34" charset="-120"/>
              </a:rPr>
              <a:t>How we secure your asset data, and how we prove it.</a:t>
            </a:r>
            <a:endParaRPr lang="en-US" sz="1300" dirty="0"/>
          </a:p>
        </p:txBody>
      </p:sp>
      <p:sp>
        <p:nvSpPr>
          <p:cNvPr id="6" name="Text 3"/>
          <p:cNvSpPr/>
          <p:nvPr/>
        </p:nvSpPr>
        <p:spPr>
          <a:xfrm>
            <a:off x="658368" y="4343400"/>
            <a:ext cx="5486400" cy="1005840"/>
          </a:xfrm>
          <a:prstGeom prst="rect">
            <a:avLst/>
          </a:prstGeom>
          <a:noFill/>
          <a:ln/>
        </p:spPr>
        <p:txBody>
          <a:bodyPr wrap="square" lIns="0" tIns="0" rIns="0" bIns="0" rtlCol="0" anchor="ctr"/>
          <a:lstStyle/>
          <a:p>
            <a:pPr indent="0" marL="0">
              <a:lnSpc>
                <a:spcPts val="1800"/>
              </a:lnSpc>
              <a:buNone/>
            </a:pPr>
            <a:r>
              <a:rPr lang="en-US" sz="1200" dirty="0">
                <a:solidFill>
                  <a:srgbClr val="9A9BA3"/>
                </a:solidFill>
                <a:latin typeface="Calibri" pitchFamily="34" charset="0"/>
                <a:ea typeface="Calibri" pitchFamily="34" charset="-122"/>
                <a:cs typeface="Calibri" pitchFamily="34" charset="-120"/>
              </a:rPr>
              <a:t>SoW ARGP-DIGI-APP-SOW-001 Rev 00, §3.4</a:t>
            </a:r>
            <a:endParaRPr lang="en-US" sz="1200" dirty="0"/>
          </a:p>
          <a:p>
            <a:pPr indent="0" marL="0">
              <a:lnSpc>
                <a:spcPts val="1800"/>
              </a:lnSpc>
              <a:buNone/>
            </a:pPr>
            <a:r>
              <a:rPr lang="en-US" sz="1200" dirty="0">
                <a:solidFill>
                  <a:srgbClr val="9A9BA3"/>
                </a:solidFill>
                <a:latin typeface="Calibri" pitchFamily="34" charset="0"/>
                <a:ea typeface="Calibri" pitchFamily="34" charset="-122"/>
                <a:cs typeface="Calibri" pitchFamily="34" charset="-120"/>
              </a:rPr>
              <a:t>Master Roadmap XDH-AE-Q26-05-00030 v1.0</a:t>
            </a:r>
            <a:endParaRPr lang="en-US" sz="1200" dirty="0"/>
          </a:p>
          <a:p>
            <a:pPr indent="0" marL="0">
              <a:lnSpc>
                <a:spcPts val="1800"/>
              </a:lnSpc>
              <a:buNone/>
            </a:pPr>
            <a:r>
              <a:rPr lang="en-US" sz="1200" dirty="0">
                <a:solidFill>
                  <a:srgbClr val="9A9BA3"/>
                </a:solidFill>
                <a:latin typeface="Calibri" pitchFamily="34" charset="0"/>
                <a:ea typeface="Calibri" pitchFamily="34" charset="-122"/>
                <a:cs typeface="Calibri" pitchFamily="34" charset="-120"/>
              </a:rPr>
              <a:t>15 July 2026</a:t>
            </a:r>
            <a:endParaRPr lang="en-US" sz="1200" dirty="0"/>
          </a:p>
        </p:txBody>
      </p:sp>
      <p:sp>
        <p:nvSpPr>
          <p:cNvPr id="7" name="Shape 4"/>
          <p:cNvSpPr/>
          <p:nvPr/>
        </p:nvSpPr>
        <p:spPr>
          <a:xfrm>
            <a:off x="8732520" y="5029200"/>
            <a:ext cx="2880360" cy="1207008"/>
          </a:xfrm>
          <a:prstGeom prst="roundRect">
            <a:avLst>
              <a:gd name="adj" fmla="val 4545"/>
            </a:avLst>
          </a:prstGeom>
          <a:solidFill>
            <a:srgbClr val="FFFFFF"/>
          </a:solidFill>
          <a:ln w="12700">
            <a:solidFill>
              <a:srgbClr val="FFFFFF"/>
            </a:solidFill>
            <a:prstDash val="solid"/>
          </a:ln>
        </p:spPr>
      </p:sp>
      <p:pic>
        <p:nvPicPr>
          <p:cNvPr id="8" name="Image 1" descr="preencoded.png">    </p:cNvPr>
          <p:cNvPicPr>
            <a:picLocks noChangeAspect="1"/>
          </p:cNvPicPr>
          <p:nvPr/>
        </p:nvPicPr>
        <p:blipFill>
          <a:blip r:embed="rId2"/>
          <a:stretch>
            <a:fillRect/>
          </a:stretch>
        </p:blipFill>
        <p:spPr>
          <a:xfrm>
            <a:off x="8915400" y="5358384"/>
            <a:ext cx="2514600" cy="557784"/>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9692640" cy="548640"/>
          </a:xfrm>
          <a:prstGeom prst="rect">
            <a:avLst/>
          </a:prstGeom>
          <a:noFill/>
          <a:ln/>
        </p:spPr>
        <p:txBody>
          <a:bodyPr wrap="square" lIns="0" tIns="0" rIns="0" bIns="0" rtlCol="0" anchor="ctr"/>
          <a:lstStyle/>
          <a:p>
            <a:pPr indent="0" marL="0">
              <a:buNone/>
            </a:pPr>
            <a:r>
              <a:rPr lang="en-US" sz="3000" b="1" dirty="0">
                <a:solidFill>
                  <a:srgbClr val="1F2024"/>
                </a:solidFill>
                <a:latin typeface="Cambria" pitchFamily="34" charset="0"/>
                <a:ea typeface="Cambria" pitchFamily="34" charset="-122"/>
                <a:cs typeface="Cambria" pitchFamily="34" charset="-120"/>
              </a:rPr>
              <a:t>What your security team will ask</a:t>
            </a:r>
            <a:endParaRPr lang="en-US" sz="3000" dirty="0"/>
          </a:p>
        </p:txBody>
      </p:sp>
      <p:sp>
        <p:nvSpPr>
          <p:cNvPr id="3" name="Text 1"/>
          <p:cNvSpPr/>
          <p:nvPr/>
        </p:nvSpPr>
        <p:spPr>
          <a:xfrm>
            <a:off x="548640" y="914400"/>
            <a:ext cx="9692640" cy="292608"/>
          </a:xfrm>
          <a:prstGeom prst="rect">
            <a:avLst/>
          </a:prstGeom>
          <a:noFill/>
          <a:ln/>
        </p:spPr>
        <p:txBody>
          <a:bodyPr wrap="square" lIns="0" tIns="0" rIns="0" bIns="0" rtlCol="0" anchor="ctr"/>
          <a:lstStyle/>
          <a:p>
            <a:pPr indent="0" marL="0">
              <a:buNone/>
            </a:pPr>
            <a:r>
              <a:rPr lang="en-US" sz="1300" dirty="0">
                <a:solidFill>
                  <a:srgbClr val="6B6D76"/>
                </a:solidFill>
                <a:latin typeface="Calibri" pitchFamily="34" charset="0"/>
                <a:ea typeface="Calibri" pitchFamily="34" charset="-122"/>
                <a:cs typeface="Calibri" pitchFamily="34" charset="-120"/>
              </a:rPr>
              <a:t>The questions that decide whether a platform is approved, answered in this pack</a:t>
            </a:r>
            <a:endParaRPr lang="en-US" sz="1300" dirty="0"/>
          </a:p>
        </p:txBody>
      </p:sp>
      <p:pic>
        <p:nvPicPr>
          <p:cNvPr id="4" name="Image 0" descr="preencoded.png">    </p:cNvPr>
          <p:cNvPicPr>
            <a:picLocks noChangeAspect="1"/>
          </p:cNvPicPr>
          <p:nvPr/>
        </p:nvPicPr>
        <p:blipFill>
          <a:blip r:embed="rId1"/>
          <a:stretch>
            <a:fillRect/>
          </a:stretch>
        </p:blipFill>
        <p:spPr>
          <a:xfrm>
            <a:off x="11292840" y="384048"/>
            <a:ext cx="411480" cy="411480"/>
          </a:xfrm>
          <a:prstGeom prst="rect">
            <a:avLst/>
          </a:prstGeom>
        </p:spPr>
      </p:pic>
      <p:sp>
        <p:nvSpPr>
          <p:cNvPr id="5" name="Shape 2"/>
          <p:cNvSpPr/>
          <p:nvPr/>
        </p:nvSpPr>
        <p:spPr>
          <a:xfrm>
            <a:off x="548640" y="1554480"/>
            <a:ext cx="11064240" cy="749808"/>
          </a:xfrm>
          <a:prstGeom prst="roundRect">
            <a:avLst>
              <a:gd name="adj" fmla="val 9756"/>
            </a:avLst>
          </a:prstGeom>
          <a:solidFill>
            <a:srgbClr val="F4F3F0"/>
          </a:solidFill>
          <a:ln w="9525">
            <a:solidFill>
              <a:srgbClr val="E3E1DA"/>
            </a:solidFill>
            <a:prstDash val="solid"/>
          </a:ln>
        </p:spPr>
      </p:sp>
      <p:sp>
        <p:nvSpPr>
          <p:cNvPr id="6" name="Text 3"/>
          <p:cNvSpPr/>
          <p:nvPr/>
        </p:nvSpPr>
        <p:spPr>
          <a:xfrm>
            <a:off x="777240" y="1554480"/>
            <a:ext cx="5029200" cy="749808"/>
          </a:xfrm>
          <a:prstGeom prst="rect">
            <a:avLst/>
          </a:prstGeom>
          <a:noFill/>
          <a:ln/>
        </p:spPr>
        <p:txBody>
          <a:bodyPr wrap="square" lIns="0" tIns="0" rIns="0" bIns="0" rtlCol="0" anchor="ctr"/>
          <a:lstStyle/>
          <a:p>
            <a:pPr indent="0" marL="0">
              <a:buNone/>
            </a:pPr>
            <a:r>
              <a:rPr lang="en-US" sz="1300" b="1" dirty="0">
                <a:solidFill>
                  <a:srgbClr val="1F2024"/>
                </a:solidFill>
                <a:latin typeface="Calibri" pitchFamily="34" charset="0"/>
                <a:ea typeface="Calibri" pitchFamily="34" charset="-122"/>
                <a:cs typeface="Calibri" pitchFamily="34" charset="-120"/>
              </a:rPr>
              <a:t>Where is our data stored? Onshore or offshore?</a:t>
            </a:r>
            <a:endParaRPr lang="en-US" sz="1300" dirty="0"/>
          </a:p>
        </p:txBody>
      </p:sp>
      <p:sp>
        <p:nvSpPr>
          <p:cNvPr id="7" name="Text 4"/>
          <p:cNvSpPr/>
          <p:nvPr/>
        </p:nvSpPr>
        <p:spPr>
          <a:xfrm>
            <a:off x="6035040" y="1554480"/>
            <a:ext cx="5394960" cy="749808"/>
          </a:xfrm>
          <a:prstGeom prst="rect">
            <a:avLst/>
          </a:prstGeom>
          <a:noFill/>
          <a:ln/>
        </p:spPr>
        <p:txBody>
          <a:bodyPr wrap="square" lIns="0" tIns="0" rIns="0" bIns="0" rtlCol="0" anchor="ctr"/>
          <a:lstStyle/>
          <a:p>
            <a:pPr indent="0" marL="0">
              <a:buNone/>
            </a:pPr>
            <a:r>
              <a:rPr lang="en-US" sz="1250" dirty="0">
                <a:solidFill>
                  <a:srgbClr val="6B6D76"/>
                </a:solidFill>
                <a:latin typeface="Calibri" pitchFamily="34" charset="0"/>
                <a:ea typeface="Calibri" pitchFamily="34" charset="-122"/>
                <a:cs typeface="Calibri" pitchFamily="34" charset="-120"/>
              </a:rPr>
              <a:t>Kingdom of Saudi Arabia. Azure Riyadh.</a:t>
            </a:r>
            <a:endParaRPr lang="en-US" sz="1250" dirty="0"/>
          </a:p>
        </p:txBody>
      </p:sp>
      <p:sp>
        <p:nvSpPr>
          <p:cNvPr id="8" name="Shape 5"/>
          <p:cNvSpPr/>
          <p:nvPr/>
        </p:nvSpPr>
        <p:spPr>
          <a:xfrm>
            <a:off x="548640" y="2414016"/>
            <a:ext cx="11064240" cy="749808"/>
          </a:xfrm>
          <a:prstGeom prst="roundRect">
            <a:avLst>
              <a:gd name="adj" fmla="val 9756"/>
            </a:avLst>
          </a:prstGeom>
          <a:solidFill>
            <a:srgbClr val="F4F3F0"/>
          </a:solidFill>
          <a:ln w="9525">
            <a:solidFill>
              <a:srgbClr val="E3E1DA"/>
            </a:solidFill>
            <a:prstDash val="solid"/>
          </a:ln>
        </p:spPr>
      </p:sp>
      <p:sp>
        <p:nvSpPr>
          <p:cNvPr id="9" name="Text 6"/>
          <p:cNvSpPr/>
          <p:nvPr/>
        </p:nvSpPr>
        <p:spPr>
          <a:xfrm>
            <a:off x="777240" y="2414016"/>
            <a:ext cx="5029200" cy="749808"/>
          </a:xfrm>
          <a:prstGeom prst="rect">
            <a:avLst/>
          </a:prstGeom>
          <a:noFill/>
          <a:ln/>
        </p:spPr>
        <p:txBody>
          <a:bodyPr wrap="square" lIns="0" tIns="0" rIns="0" bIns="0" rtlCol="0" anchor="ctr"/>
          <a:lstStyle/>
          <a:p>
            <a:pPr indent="0" marL="0">
              <a:buNone/>
            </a:pPr>
            <a:r>
              <a:rPr lang="en-US" sz="1300" b="1" dirty="0">
                <a:solidFill>
                  <a:srgbClr val="1F2024"/>
                </a:solidFill>
                <a:latin typeface="Calibri" pitchFamily="34" charset="0"/>
                <a:ea typeface="Calibri" pitchFamily="34" charset="-122"/>
                <a:cs typeface="Calibri" pitchFamily="34" charset="-120"/>
              </a:rPr>
              <a:t>Do you encrypt data at rest and in transit?</a:t>
            </a:r>
            <a:endParaRPr lang="en-US" sz="1300" dirty="0"/>
          </a:p>
        </p:txBody>
      </p:sp>
      <p:sp>
        <p:nvSpPr>
          <p:cNvPr id="10" name="Text 7"/>
          <p:cNvSpPr/>
          <p:nvPr/>
        </p:nvSpPr>
        <p:spPr>
          <a:xfrm>
            <a:off x="6035040" y="2414016"/>
            <a:ext cx="5394960" cy="749808"/>
          </a:xfrm>
          <a:prstGeom prst="rect">
            <a:avLst/>
          </a:prstGeom>
          <a:noFill/>
          <a:ln/>
        </p:spPr>
        <p:txBody>
          <a:bodyPr wrap="square" lIns="0" tIns="0" rIns="0" bIns="0" rtlCol="0" anchor="ctr"/>
          <a:lstStyle/>
          <a:p>
            <a:pPr indent="0" marL="0">
              <a:buNone/>
            </a:pPr>
            <a:r>
              <a:rPr lang="en-US" sz="1250" dirty="0">
                <a:solidFill>
                  <a:srgbClr val="6B6D76"/>
                </a:solidFill>
                <a:latin typeface="Calibri" pitchFamily="34" charset="0"/>
                <a:ea typeface="Calibri" pitchFamily="34" charset="-122"/>
                <a:cs typeface="Calibri" pitchFamily="34" charset="-120"/>
              </a:rPr>
              <a:t>TLS 1.2+ end to end. TDE at rest. Keys in Key Vault.</a:t>
            </a:r>
            <a:endParaRPr lang="en-US" sz="1250" dirty="0"/>
          </a:p>
        </p:txBody>
      </p:sp>
      <p:sp>
        <p:nvSpPr>
          <p:cNvPr id="11" name="Shape 8"/>
          <p:cNvSpPr/>
          <p:nvPr/>
        </p:nvSpPr>
        <p:spPr>
          <a:xfrm>
            <a:off x="548640" y="3273552"/>
            <a:ext cx="11064240" cy="749808"/>
          </a:xfrm>
          <a:prstGeom prst="roundRect">
            <a:avLst>
              <a:gd name="adj" fmla="val 9756"/>
            </a:avLst>
          </a:prstGeom>
          <a:solidFill>
            <a:srgbClr val="F4F3F0"/>
          </a:solidFill>
          <a:ln w="9525">
            <a:solidFill>
              <a:srgbClr val="E3E1DA"/>
            </a:solidFill>
            <a:prstDash val="solid"/>
          </a:ln>
        </p:spPr>
      </p:sp>
      <p:sp>
        <p:nvSpPr>
          <p:cNvPr id="12" name="Text 9"/>
          <p:cNvSpPr/>
          <p:nvPr/>
        </p:nvSpPr>
        <p:spPr>
          <a:xfrm>
            <a:off x="777240" y="3273552"/>
            <a:ext cx="5029200" cy="749808"/>
          </a:xfrm>
          <a:prstGeom prst="rect">
            <a:avLst/>
          </a:prstGeom>
          <a:noFill/>
          <a:ln/>
        </p:spPr>
        <p:txBody>
          <a:bodyPr wrap="square" lIns="0" tIns="0" rIns="0" bIns="0" rtlCol="0" anchor="ctr"/>
          <a:lstStyle/>
          <a:p>
            <a:pPr indent="0" marL="0">
              <a:buNone/>
            </a:pPr>
            <a:r>
              <a:rPr lang="en-US" sz="1300" b="1" dirty="0">
                <a:solidFill>
                  <a:srgbClr val="1F2024"/>
                </a:solidFill>
                <a:latin typeface="Calibri" pitchFamily="34" charset="0"/>
                <a:ea typeface="Calibri" pitchFamily="34" charset="-122"/>
                <a:cs typeface="Calibri" pitchFamily="34" charset="-120"/>
              </a:rPr>
              <a:t>Who can get in, and how?</a:t>
            </a:r>
            <a:endParaRPr lang="en-US" sz="1300" dirty="0"/>
          </a:p>
        </p:txBody>
      </p:sp>
      <p:sp>
        <p:nvSpPr>
          <p:cNvPr id="13" name="Text 10"/>
          <p:cNvSpPr/>
          <p:nvPr/>
        </p:nvSpPr>
        <p:spPr>
          <a:xfrm>
            <a:off x="6035040" y="3273552"/>
            <a:ext cx="5394960" cy="749808"/>
          </a:xfrm>
          <a:prstGeom prst="rect">
            <a:avLst/>
          </a:prstGeom>
          <a:noFill/>
          <a:ln/>
        </p:spPr>
        <p:txBody>
          <a:bodyPr wrap="square" lIns="0" tIns="0" rIns="0" bIns="0" rtlCol="0" anchor="ctr"/>
          <a:lstStyle/>
          <a:p>
            <a:pPr indent="0" marL="0">
              <a:buNone/>
            </a:pPr>
            <a:r>
              <a:rPr lang="en-US" sz="1250" dirty="0">
                <a:solidFill>
                  <a:srgbClr val="6B6D76"/>
                </a:solidFill>
                <a:latin typeface="Calibri" pitchFamily="34" charset="0"/>
                <a:ea typeface="Calibri" pitchFamily="34" charset="-122"/>
                <a:cs typeface="Calibri" pitchFamily="34" charset="-120"/>
              </a:rPr>
              <a:t>Your Azure AD and ADFS. SAML 2.0. MFA enforced.</a:t>
            </a:r>
            <a:endParaRPr lang="en-US" sz="1250" dirty="0"/>
          </a:p>
        </p:txBody>
      </p:sp>
      <p:sp>
        <p:nvSpPr>
          <p:cNvPr id="14" name="Shape 11"/>
          <p:cNvSpPr/>
          <p:nvPr/>
        </p:nvSpPr>
        <p:spPr>
          <a:xfrm>
            <a:off x="548640" y="4133088"/>
            <a:ext cx="11064240" cy="749808"/>
          </a:xfrm>
          <a:prstGeom prst="roundRect">
            <a:avLst>
              <a:gd name="adj" fmla="val 9756"/>
            </a:avLst>
          </a:prstGeom>
          <a:solidFill>
            <a:srgbClr val="F4F3F0"/>
          </a:solidFill>
          <a:ln w="9525">
            <a:solidFill>
              <a:srgbClr val="E3E1DA"/>
            </a:solidFill>
            <a:prstDash val="solid"/>
          </a:ln>
        </p:spPr>
      </p:sp>
      <p:sp>
        <p:nvSpPr>
          <p:cNvPr id="15" name="Text 12"/>
          <p:cNvSpPr/>
          <p:nvPr/>
        </p:nvSpPr>
        <p:spPr>
          <a:xfrm>
            <a:off x="777240" y="4133088"/>
            <a:ext cx="5029200" cy="749808"/>
          </a:xfrm>
          <a:prstGeom prst="rect">
            <a:avLst/>
          </a:prstGeom>
          <a:noFill/>
          <a:ln/>
        </p:spPr>
        <p:txBody>
          <a:bodyPr wrap="square" lIns="0" tIns="0" rIns="0" bIns="0" rtlCol="0" anchor="ctr"/>
          <a:lstStyle/>
          <a:p>
            <a:pPr indent="0" marL="0">
              <a:buNone/>
            </a:pPr>
            <a:r>
              <a:rPr lang="en-US" sz="1300" b="1" dirty="0">
                <a:solidFill>
                  <a:srgbClr val="1F2024"/>
                </a:solidFill>
                <a:latin typeface="Calibri" pitchFamily="34" charset="0"/>
                <a:ea typeface="Calibri" pitchFamily="34" charset="-122"/>
                <a:cs typeface="Calibri" pitchFamily="34" charset="-120"/>
              </a:rPr>
              <a:t>When was your last penetration test?</a:t>
            </a:r>
            <a:endParaRPr lang="en-US" sz="1300" dirty="0"/>
          </a:p>
        </p:txBody>
      </p:sp>
      <p:sp>
        <p:nvSpPr>
          <p:cNvPr id="16" name="Text 13"/>
          <p:cNvSpPr/>
          <p:nvPr/>
        </p:nvSpPr>
        <p:spPr>
          <a:xfrm>
            <a:off x="6035040" y="4133088"/>
            <a:ext cx="5394960" cy="749808"/>
          </a:xfrm>
          <a:prstGeom prst="rect">
            <a:avLst/>
          </a:prstGeom>
          <a:noFill/>
          <a:ln/>
        </p:spPr>
        <p:txBody>
          <a:bodyPr wrap="square" lIns="0" tIns="0" rIns="0" bIns="0" rtlCol="0" anchor="ctr"/>
          <a:lstStyle/>
          <a:p>
            <a:pPr indent="0" marL="0">
              <a:buNone/>
            </a:pPr>
            <a:r>
              <a:rPr lang="en-US" sz="1250" dirty="0">
                <a:solidFill>
                  <a:srgbClr val="6B6D76"/>
                </a:solidFill>
                <a:latin typeface="Calibri" pitchFamily="34" charset="0"/>
                <a:ea typeface="Calibri" pitchFamily="34" charset="-122"/>
                <a:cs typeface="Calibri" pitchFamily="34" charset="-120"/>
              </a:rPr>
              <a:t>Committed before go-live, by an independent firm.</a:t>
            </a:r>
            <a:endParaRPr lang="en-US" sz="1250" dirty="0"/>
          </a:p>
        </p:txBody>
      </p:sp>
      <p:sp>
        <p:nvSpPr>
          <p:cNvPr id="17" name="Shape 14"/>
          <p:cNvSpPr/>
          <p:nvPr/>
        </p:nvSpPr>
        <p:spPr>
          <a:xfrm>
            <a:off x="548640" y="4992624"/>
            <a:ext cx="11064240" cy="749808"/>
          </a:xfrm>
          <a:prstGeom prst="roundRect">
            <a:avLst>
              <a:gd name="adj" fmla="val 9756"/>
            </a:avLst>
          </a:prstGeom>
          <a:solidFill>
            <a:srgbClr val="F4F3F0"/>
          </a:solidFill>
          <a:ln w="9525">
            <a:solidFill>
              <a:srgbClr val="E3E1DA"/>
            </a:solidFill>
            <a:prstDash val="solid"/>
          </a:ln>
        </p:spPr>
      </p:sp>
      <p:sp>
        <p:nvSpPr>
          <p:cNvPr id="18" name="Text 15"/>
          <p:cNvSpPr/>
          <p:nvPr/>
        </p:nvSpPr>
        <p:spPr>
          <a:xfrm>
            <a:off x="777240" y="4992624"/>
            <a:ext cx="5029200" cy="749808"/>
          </a:xfrm>
          <a:prstGeom prst="rect">
            <a:avLst/>
          </a:prstGeom>
          <a:noFill/>
          <a:ln/>
        </p:spPr>
        <p:txBody>
          <a:bodyPr wrap="square" lIns="0" tIns="0" rIns="0" bIns="0" rtlCol="0" anchor="ctr"/>
          <a:lstStyle/>
          <a:p>
            <a:pPr indent="0" marL="0">
              <a:buNone/>
            </a:pPr>
            <a:r>
              <a:rPr lang="en-US" sz="1300" b="1" dirty="0">
                <a:solidFill>
                  <a:srgbClr val="1F2024"/>
                </a:solidFill>
                <a:latin typeface="Calibri" pitchFamily="34" charset="0"/>
                <a:ea typeface="Calibri" pitchFamily="34" charset="-122"/>
                <a:cs typeface="Calibri" pitchFamily="34" charset="-120"/>
              </a:rPr>
              <a:t>Do you have an incident response plan?</a:t>
            </a:r>
            <a:endParaRPr lang="en-US" sz="1300" dirty="0"/>
          </a:p>
        </p:txBody>
      </p:sp>
      <p:sp>
        <p:nvSpPr>
          <p:cNvPr id="19" name="Text 16"/>
          <p:cNvSpPr/>
          <p:nvPr/>
        </p:nvSpPr>
        <p:spPr>
          <a:xfrm>
            <a:off x="6035040" y="4992624"/>
            <a:ext cx="5394960" cy="749808"/>
          </a:xfrm>
          <a:prstGeom prst="rect">
            <a:avLst/>
          </a:prstGeom>
          <a:noFill/>
          <a:ln/>
        </p:spPr>
        <p:txBody>
          <a:bodyPr wrap="square" lIns="0" tIns="0" rIns="0" bIns="0" rtlCol="0" anchor="ctr"/>
          <a:lstStyle/>
          <a:p>
            <a:pPr indent="0" marL="0">
              <a:buNone/>
            </a:pPr>
            <a:r>
              <a:rPr lang="en-US" sz="1250" dirty="0">
                <a:solidFill>
                  <a:srgbClr val="6B6D76"/>
                </a:solidFill>
                <a:latin typeface="Calibri" pitchFamily="34" charset="0"/>
                <a:ea typeface="Calibri" pitchFamily="34" charset="-122"/>
                <a:cs typeface="Calibri" pitchFamily="34" charset="-120"/>
              </a:rPr>
              <a:t>Yes. Signed, tested, and in this pack.</a:t>
            </a:r>
            <a:endParaRPr lang="en-US" sz="1250" dirty="0"/>
          </a:p>
        </p:txBody>
      </p:sp>
      <p:sp>
        <p:nvSpPr>
          <p:cNvPr id="20" name="Text 17"/>
          <p:cNvSpPr/>
          <p:nvPr/>
        </p:nvSpPr>
        <p:spPr>
          <a:xfrm>
            <a:off x="548640" y="5852160"/>
            <a:ext cx="11064240" cy="365760"/>
          </a:xfrm>
          <a:prstGeom prst="rect">
            <a:avLst/>
          </a:prstGeom>
          <a:noFill/>
          <a:ln/>
        </p:spPr>
        <p:txBody>
          <a:bodyPr wrap="square" lIns="0" tIns="0" rIns="0" bIns="0" rtlCol="0" anchor="ctr"/>
          <a:lstStyle/>
          <a:p>
            <a:pPr indent="0" marL="0">
              <a:buNone/>
            </a:pPr>
            <a:r>
              <a:rPr lang="en-US" sz="1500" i="1" dirty="0">
                <a:solidFill>
                  <a:srgbClr val="9A7B1A"/>
                </a:solidFill>
                <a:latin typeface="Cambria" pitchFamily="34" charset="0"/>
                <a:ea typeface="Cambria" pitchFamily="34" charset="-122"/>
                <a:cs typeface="Cambria" pitchFamily="34" charset="-120"/>
              </a:rPr>
              <a:t>Deals do not end with a rejection at this gate. They end with silence. This pack is the answer, sent before the questionnaire arrives.</a:t>
            </a:r>
            <a:endParaRPr lang="en-US" sz="1500" dirty="0"/>
          </a:p>
        </p:txBody>
      </p:sp>
      <p:sp>
        <p:nvSpPr>
          <p:cNvPr id="21" name="Text 18"/>
          <p:cNvSpPr/>
          <p:nvPr/>
        </p:nvSpPr>
        <p:spPr>
          <a:xfrm>
            <a:off x="548640" y="6327648"/>
            <a:ext cx="11064240" cy="274320"/>
          </a:xfrm>
          <a:prstGeom prst="rect">
            <a:avLst/>
          </a:prstGeom>
          <a:noFill/>
          <a:ln/>
        </p:spPr>
        <p:txBody>
          <a:bodyPr wrap="square" lIns="0" tIns="0" rIns="0" bIns="0" rtlCol="0" anchor="ctr"/>
          <a:lstStyle/>
          <a:p>
            <a:pPr indent="0" marL="0">
              <a:buNone/>
            </a:pPr>
            <a:r>
              <a:rPr lang="en-US" sz="900" dirty="0">
                <a:solidFill>
                  <a:srgbClr val="6B6D76"/>
                </a:solidFill>
                <a:latin typeface="Calibri" pitchFamily="34" charset="0"/>
                <a:ea typeface="Calibri" pitchFamily="34" charset="-122"/>
                <a:cs typeface="Calibri" pitchFamily="34" charset="-120"/>
              </a:rPr>
              <a:t>XD House   |   Ma'aden ARGP Security &amp; Assurance   |   15 July 2026</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9692640" cy="548640"/>
          </a:xfrm>
          <a:prstGeom prst="rect">
            <a:avLst/>
          </a:prstGeom>
          <a:noFill/>
          <a:ln/>
        </p:spPr>
        <p:txBody>
          <a:bodyPr wrap="square" lIns="0" tIns="0" rIns="0" bIns="0" rtlCol="0" anchor="ctr"/>
          <a:lstStyle/>
          <a:p>
            <a:pPr indent="0" marL="0">
              <a:buNone/>
            </a:pPr>
            <a:r>
              <a:rPr lang="en-US" sz="3000" b="1" dirty="0">
                <a:solidFill>
                  <a:srgbClr val="1F2024"/>
                </a:solidFill>
                <a:latin typeface="Cambria" pitchFamily="34" charset="0"/>
                <a:ea typeface="Cambria" pitchFamily="34" charset="-122"/>
                <a:cs typeface="Cambria" pitchFamily="34" charset="-120"/>
              </a:rPr>
              <a:t>The 13 control layers we implement</a:t>
            </a:r>
            <a:endParaRPr lang="en-US" sz="3000" dirty="0"/>
          </a:p>
        </p:txBody>
      </p:sp>
      <p:sp>
        <p:nvSpPr>
          <p:cNvPr id="3" name="Text 1"/>
          <p:cNvSpPr/>
          <p:nvPr/>
        </p:nvSpPr>
        <p:spPr>
          <a:xfrm>
            <a:off x="548640" y="914400"/>
            <a:ext cx="9692640" cy="292608"/>
          </a:xfrm>
          <a:prstGeom prst="rect">
            <a:avLst/>
          </a:prstGeom>
          <a:noFill/>
          <a:ln/>
        </p:spPr>
        <p:txBody>
          <a:bodyPr wrap="square" lIns="0" tIns="0" rIns="0" bIns="0" rtlCol="0" anchor="ctr"/>
          <a:lstStyle/>
          <a:p>
            <a:pPr indent="0" marL="0">
              <a:buNone/>
            </a:pPr>
            <a:r>
              <a:rPr lang="en-US" sz="1300" dirty="0">
                <a:solidFill>
                  <a:srgbClr val="6B6D76"/>
                </a:solidFill>
                <a:latin typeface="Calibri" pitchFamily="34" charset="0"/>
                <a:ea typeface="Calibri" pitchFamily="34" charset="-122"/>
                <a:cs typeface="Calibri" pitchFamily="34" charset="-120"/>
              </a:rPr>
              <a:t>Every layer is a build item with an owner and a roadmap gate, not a statement of intent</a:t>
            </a:r>
            <a:endParaRPr lang="en-US" sz="1300" dirty="0"/>
          </a:p>
        </p:txBody>
      </p:sp>
      <p:pic>
        <p:nvPicPr>
          <p:cNvPr id="4" name="Image 0" descr="preencoded.png">    </p:cNvPr>
          <p:cNvPicPr>
            <a:picLocks noChangeAspect="1"/>
          </p:cNvPicPr>
          <p:nvPr/>
        </p:nvPicPr>
        <p:blipFill>
          <a:blip r:embed="rId1"/>
          <a:stretch>
            <a:fillRect/>
          </a:stretch>
        </p:blipFill>
        <p:spPr>
          <a:xfrm>
            <a:off x="11292840" y="384048"/>
            <a:ext cx="411480" cy="411480"/>
          </a:xfrm>
          <a:prstGeom prst="rect">
            <a:avLst/>
          </a:prstGeom>
        </p:spPr>
      </p:pic>
      <p:sp>
        <p:nvSpPr>
          <p:cNvPr id="5" name="Text 2"/>
          <p:cNvSpPr/>
          <p:nvPr/>
        </p:nvSpPr>
        <p:spPr>
          <a:xfrm>
            <a:off x="868680" y="1417320"/>
            <a:ext cx="3108960" cy="228600"/>
          </a:xfrm>
          <a:prstGeom prst="rect">
            <a:avLst/>
          </a:prstGeom>
          <a:noFill/>
          <a:ln/>
        </p:spPr>
        <p:txBody>
          <a:bodyPr wrap="square" lIns="0" tIns="0" rIns="0" bIns="0" rtlCol="0" anchor="ctr"/>
          <a:lstStyle/>
          <a:p>
            <a:pPr indent="0" marL="0">
              <a:buNone/>
            </a:pPr>
            <a:r>
              <a:rPr lang="en-US" sz="950" b="1" dirty="0">
                <a:solidFill>
                  <a:srgbClr val="6B6D76"/>
                </a:solidFill>
                <a:latin typeface="Calibri" pitchFamily="34" charset="0"/>
                <a:ea typeface="Calibri" pitchFamily="34" charset="-122"/>
                <a:cs typeface="Calibri" pitchFamily="34" charset="-120"/>
              </a:rPr>
              <a:t>LAYER</a:t>
            </a:r>
            <a:endParaRPr lang="en-US" sz="950" dirty="0"/>
          </a:p>
        </p:txBody>
      </p:sp>
      <p:sp>
        <p:nvSpPr>
          <p:cNvPr id="6" name="Text 3"/>
          <p:cNvSpPr/>
          <p:nvPr/>
        </p:nvSpPr>
        <p:spPr>
          <a:xfrm>
            <a:off x="4572000" y="1417320"/>
            <a:ext cx="4114800" cy="228600"/>
          </a:xfrm>
          <a:prstGeom prst="rect">
            <a:avLst/>
          </a:prstGeom>
          <a:noFill/>
          <a:ln/>
        </p:spPr>
        <p:txBody>
          <a:bodyPr wrap="square" lIns="0" tIns="0" rIns="0" bIns="0" rtlCol="0" anchor="ctr"/>
          <a:lstStyle/>
          <a:p>
            <a:pPr indent="0" marL="0">
              <a:buNone/>
            </a:pPr>
            <a:r>
              <a:rPr lang="en-US" sz="950" b="1" dirty="0">
                <a:solidFill>
                  <a:srgbClr val="6B6D76"/>
                </a:solidFill>
                <a:latin typeface="Calibri" pitchFamily="34" charset="0"/>
                <a:ea typeface="Calibri" pitchFamily="34" charset="-122"/>
                <a:cs typeface="Calibri" pitchFamily="34" charset="-120"/>
              </a:rPr>
              <a:t>WHAT WE IMPLEMENT</a:t>
            </a:r>
            <a:endParaRPr lang="en-US" sz="950" dirty="0"/>
          </a:p>
        </p:txBody>
      </p:sp>
      <p:sp>
        <p:nvSpPr>
          <p:cNvPr id="7" name="Text 4"/>
          <p:cNvSpPr/>
          <p:nvPr/>
        </p:nvSpPr>
        <p:spPr>
          <a:xfrm>
            <a:off x="548640" y="1691640"/>
            <a:ext cx="274320" cy="274320"/>
          </a:xfrm>
          <a:prstGeom prst="rect">
            <a:avLst/>
          </a:prstGeom>
          <a:noFill/>
          <a:ln/>
        </p:spPr>
        <p:txBody>
          <a:bodyPr wrap="square" lIns="0" tIns="0" rIns="0" bIns="0" rtlCol="0" anchor="ctr"/>
          <a:lstStyle/>
          <a:p>
            <a:pPr algn="r" indent="0" marL="0">
              <a:buNone/>
            </a:pPr>
            <a:r>
              <a:rPr lang="en-US" sz="1000" dirty="0">
                <a:solidFill>
                  <a:srgbClr val="6B6D76"/>
                </a:solidFill>
                <a:latin typeface="Calibri" pitchFamily="34" charset="0"/>
                <a:ea typeface="Calibri" pitchFamily="34" charset="-122"/>
                <a:cs typeface="Calibri" pitchFamily="34" charset="-120"/>
              </a:rPr>
              <a:t>1</a:t>
            </a:r>
            <a:endParaRPr lang="en-US" sz="1000" dirty="0"/>
          </a:p>
        </p:txBody>
      </p:sp>
      <p:sp>
        <p:nvSpPr>
          <p:cNvPr id="8" name="Text 5"/>
          <p:cNvSpPr/>
          <p:nvPr/>
        </p:nvSpPr>
        <p:spPr>
          <a:xfrm>
            <a:off x="868680" y="1691640"/>
            <a:ext cx="3566160" cy="274320"/>
          </a:xfrm>
          <a:prstGeom prst="rect">
            <a:avLst/>
          </a:prstGeom>
          <a:noFill/>
          <a:ln/>
        </p:spPr>
        <p:txBody>
          <a:bodyPr wrap="square" lIns="0" tIns="0" rIns="0" bIns="0" rtlCol="0" anchor="ctr"/>
          <a:lstStyle/>
          <a:p>
            <a:pPr indent="0" marL="0">
              <a:buNone/>
            </a:pPr>
            <a:r>
              <a:rPr lang="en-US" sz="1150" b="1" dirty="0">
                <a:solidFill>
                  <a:srgbClr val="1F2024"/>
                </a:solidFill>
                <a:latin typeface="Calibri" pitchFamily="34" charset="0"/>
                <a:ea typeface="Calibri" pitchFamily="34" charset="-122"/>
                <a:cs typeface="Calibri" pitchFamily="34" charset="-120"/>
              </a:rPr>
              <a:t>Authentication &amp; session</a:t>
            </a:r>
            <a:endParaRPr lang="en-US" sz="1150" dirty="0"/>
          </a:p>
        </p:txBody>
      </p:sp>
      <p:sp>
        <p:nvSpPr>
          <p:cNvPr id="9" name="Text 6"/>
          <p:cNvSpPr/>
          <p:nvPr/>
        </p:nvSpPr>
        <p:spPr>
          <a:xfrm>
            <a:off x="4572000" y="1691640"/>
            <a:ext cx="5394960" cy="274320"/>
          </a:xfrm>
          <a:prstGeom prst="rect">
            <a:avLst/>
          </a:prstGeom>
          <a:noFill/>
          <a:ln/>
        </p:spPr>
        <p:txBody>
          <a:bodyPr wrap="square" lIns="0" tIns="0" rIns="0" bIns="0" rtlCol="0" anchor="ctr"/>
          <a:lstStyle/>
          <a:p>
            <a:pPr indent="0" marL="0">
              <a:buNone/>
            </a:pPr>
            <a:r>
              <a:rPr lang="en-US" sz="1100" dirty="0">
                <a:solidFill>
                  <a:srgbClr val="6B6D76"/>
                </a:solidFill>
                <a:latin typeface="Calibri" pitchFamily="34" charset="0"/>
                <a:ea typeface="Calibri" pitchFamily="34" charset="-122"/>
                <a:cs typeface="Calibri" pitchFamily="34" charset="-120"/>
              </a:rPr>
              <a:t>Azure AD and ADFS SSO, SAML 2.0, MFA enforced</a:t>
            </a:r>
            <a:endParaRPr lang="en-US" sz="1100" dirty="0"/>
          </a:p>
        </p:txBody>
      </p:sp>
      <p:sp>
        <p:nvSpPr>
          <p:cNvPr id="10" name="Text 7"/>
          <p:cNvSpPr/>
          <p:nvPr/>
        </p:nvSpPr>
        <p:spPr>
          <a:xfrm>
            <a:off x="548640" y="2007108"/>
            <a:ext cx="274320" cy="274320"/>
          </a:xfrm>
          <a:prstGeom prst="rect">
            <a:avLst/>
          </a:prstGeom>
          <a:noFill/>
          <a:ln/>
        </p:spPr>
        <p:txBody>
          <a:bodyPr wrap="square" lIns="0" tIns="0" rIns="0" bIns="0" rtlCol="0" anchor="ctr"/>
          <a:lstStyle/>
          <a:p>
            <a:pPr algn="r" indent="0" marL="0">
              <a:buNone/>
            </a:pPr>
            <a:r>
              <a:rPr lang="en-US" sz="1000" dirty="0">
                <a:solidFill>
                  <a:srgbClr val="6B6D76"/>
                </a:solidFill>
                <a:latin typeface="Calibri" pitchFamily="34" charset="0"/>
                <a:ea typeface="Calibri" pitchFamily="34" charset="-122"/>
                <a:cs typeface="Calibri" pitchFamily="34" charset="-120"/>
              </a:rPr>
              <a:t>2</a:t>
            </a:r>
            <a:endParaRPr lang="en-US" sz="1000" dirty="0"/>
          </a:p>
        </p:txBody>
      </p:sp>
      <p:sp>
        <p:nvSpPr>
          <p:cNvPr id="11" name="Text 8"/>
          <p:cNvSpPr/>
          <p:nvPr/>
        </p:nvSpPr>
        <p:spPr>
          <a:xfrm>
            <a:off x="868680" y="2007108"/>
            <a:ext cx="3566160" cy="274320"/>
          </a:xfrm>
          <a:prstGeom prst="rect">
            <a:avLst/>
          </a:prstGeom>
          <a:noFill/>
          <a:ln/>
        </p:spPr>
        <p:txBody>
          <a:bodyPr wrap="square" lIns="0" tIns="0" rIns="0" bIns="0" rtlCol="0" anchor="ctr"/>
          <a:lstStyle/>
          <a:p>
            <a:pPr indent="0" marL="0">
              <a:buNone/>
            </a:pPr>
            <a:r>
              <a:rPr lang="en-US" sz="1150" b="1" dirty="0">
                <a:solidFill>
                  <a:srgbClr val="1F2024"/>
                </a:solidFill>
                <a:latin typeface="Calibri" pitchFamily="34" charset="0"/>
                <a:ea typeface="Calibri" pitchFamily="34" charset="-122"/>
                <a:cs typeface="Calibri" pitchFamily="34" charset="-120"/>
              </a:rPr>
              <a:t>Authorization / RBAC</a:t>
            </a:r>
            <a:endParaRPr lang="en-US" sz="1150" dirty="0"/>
          </a:p>
        </p:txBody>
      </p:sp>
      <p:sp>
        <p:nvSpPr>
          <p:cNvPr id="12" name="Text 9"/>
          <p:cNvSpPr/>
          <p:nvPr/>
        </p:nvSpPr>
        <p:spPr>
          <a:xfrm>
            <a:off x="4572000" y="2007108"/>
            <a:ext cx="5394960" cy="274320"/>
          </a:xfrm>
          <a:prstGeom prst="rect">
            <a:avLst/>
          </a:prstGeom>
          <a:noFill/>
          <a:ln/>
        </p:spPr>
        <p:txBody>
          <a:bodyPr wrap="square" lIns="0" tIns="0" rIns="0" bIns="0" rtlCol="0" anchor="ctr"/>
          <a:lstStyle/>
          <a:p>
            <a:pPr indent="0" marL="0">
              <a:buNone/>
            </a:pPr>
            <a:r>
              <a:rPr lang="en-US" sz="1100" dirty="0">
                <a:solidFill>
                  <a:srgbClr val="6B6D76"/>
                </a:solidFill>
                <a:latin typeface="Calibri" pitchFamily="34" charset="0"/>
                <a:ea typeface="Calibri" pitchFamily="34" charset="-122"/>
                <a:cs typeface="Calibri" pitchFamily="34" charset="-120"/>
              </a:rPr>
              <a:t>Four least-privilege roles, enforced server-side</a:t>
            </a:r>
            <a:endParaRPr lang="en-US" sz="1100" dirty="0"/>
          </a:p>
        </p:txBody>
      </p:sp>
      <p:sp>
        <p:nvSpPr>
          <p:cNvPr id="13" name="Text 10"/>
          <p:cNvSpPr/>
          <p:nvPr/>
        </p:nvSpPr>
        <p:spPr>
          <a:xfrm>
            <a:off x="548640" y="2322576"/>
            <a:ext cx="274320" cy="274320"/>
          </a:xfrm>
          <a:prstGeom prst="rect">
            <a:avLst/>
          </a:prstGeom>
          <a:noFill/>
          <a:ln/>
        </p:spPr>
        <p:txBody>
          <a:bodyPr wrap="square" lIns="0" tIns="0" rIns="0" bIns="0" rtlCol="0" anchor="ctr"/>
          <a:lstStyle/>
          <a:p>
            <a:pPr algn="r" indent="0" marL="0">
              <a:buNone/>
            </a:pPr>
            <a:r>
              <a:rPr lang="en-US" sz="1000" dirty="0">
                <a:solidFill>
                  <a:srgbClr val="6B6D76"/>
                </a:solidFill>
                <a:latin typeface="Calibri" pitchFamily="34" charset="0"/>
                <a:ea typeface="Calibri" pitchFamily="34" charset="-122"/>
                <a:cs typeface="Calibri" pitchFamily="34" charset="-120"/>
              </a:rPr>
              <a:t>3</a:t>
            </a:r>
            <a:endParaRPr lang="en-US" sz="1000" dirty="0"/>
          </a:p>
        </p:txBody>
      </p:sp>
      <p:sp>
        <p:nvSpPr>
          <p:cNvPr id="14" name="Text 11"/>
          <p:cNvSpPr/>
          <p:nvPr/>
        </p:nvSpPr>
        <p:spPr>
          <a:xfrm>
            <a:off x="868680" y="2322576"/>
            <a:ext cx="3566160" cy="274320"/>
          </a:xfrm>
          <a:prstGeom prst="rect">
            <a:avLst/>
          </a:prstGeom>
          <a:noFill/>
          <a:ln/>
        </p:spPr>
        <p:txBody>
          <a:bodyPr wrap="square" lIns="0" tIns="0" rIns="0" bIns="0" rtlCol="0" anchor="ctr"/>
          <a:lstStyle/>
          <a:p>
            <a:pPr indent="0" marL="0">
              <a:buNone/>
            </a:pPr>
            <a:r>
              <a:rPr lang="en-US" sz="1150" b="1" dirty="0">
                <a:solidFill>
                  <a:srgbClr val="1F2024"/>
                </a:solidFill>
                <a:latin typeface="Calibri" pitchFamily="34" charset="0"/>
                <a:ea typeface="Calibri" pitchFamily="34" charset="-122"/>
                <a:cs typeface="Calibri" pitchFamily="34" charset="-120"/>
              </a:rPr>
              <a:t>Data protection</a:t>
            </a:r>
            <a:endParaRPr lang="en-US" sz="1150" dirty="0"/>
          </a:p>
        </p:txBody>
      </p:sp>
      <p:sp>
        <p:nvSpPr>
          <p:cNvPr id="15" name="Text 12"/>
          <p:cNvSpPr/>
          <p:nvPr/>
        </p:nvSpPr>
        <p:spPr>
          <a:xfrm>
            <a:off x="4572000" y="2322576"/>
            <a:ext cx="5394960" cy="274320"/>
          </a:xfrm>
          <a:prstGeom prst="rect">
            <a:avLst/>
          </a:prstGeom>
          <a:noFill/>
          <a:ln/>
        </p:spPr>
        <p:txBody>
          <a:bodyPr wrap="square" lIns="0" tIns="0" rIns="0" bIns="0" rtlCol="0" anchor="ctr"/>
          <a:lstStyle/>
          <a:p>
            <a:pPr indent="0" marL="0">
              <a:buNone/>
            </a:pPr>
            <a:r>
              <a:rPr lang="en-US" sz="1100" dirty="0">
                <a:solidFill>
                  <a:srgbClr val="6B6D76"/>
                </a:solidFill>
                <a:latin typeface="Calibri" pitchFamily="34" charset="0"/>
                <a:ea typeface="Calibri" pitchFamily="34" charset="-122"/>
                <a:cs typeface="Calibri" pitchFamily="34" charset="-120"/>
              </a:rPr>
              <a:t>TLS 1.2+ in transit, Azure TDE at rest</a:t>
            </a:r>
            <a:endParaRPr lang="en-US" sz="1100" dirty="0"/>
          </a:p>
        </p:txBody>
      </p:sp>
      <p:sp>
        <p:nvSpPr>
          <p:cNvPr id="16" name="Text 13"/>
          <p:cNvSpPr/>
          <p:nvPr/>
        </p:nvSpPr>
        <p:spPr>
          <a:xfrm>
            <a:off x="548640" y="2638044"/>
            <a:ext cx="274320" cy="274320"/>
          </a:xfrm>
          <a:prstGeom prst="rect">
            <a:avLst/>
          </a:prstGeom>
          <a:noFill/>
          <a:ln/>
        </p:spPr>
        <p:txBody>
          <a:bodyPr wrap="square" lIns="0" tIns="0" rIns="0" bIns="0" rtlCol="0" anchor="ctr"/>
          <a:lstStyle/>
          <a:p>
            <a:pPr algn="r" indent="0" marL="0">
              <a:buNone/>
            </a:pPr>
            <a:r>
              <a:rPr lang="en-US" sz="1000" dirty="0">
                <a:solidFill>
                  <a:srgbClr val="6B6D76"/>
                </a:solidFill>
                <a:latin typeface="Calibri" pitchFamily="34" charset="0"/>
                <a:ea typeface="Calibri" pitchFamily="34" charset="-122"/>
                <a:cs typeface="Calibri" pitchFamily="34" charset="-120"/>
              </a:rPr>
              <a:t>4</a:t>
            </a:r>
            <a:endParaRPr lang="en-US" sz="1000" dirty="0"/>
          </a:p>
        </p:txBody>
      </p:sp>
      <p:sp>
        <p:nvSpPr>
          <p:cNvPr id="17" name="Text 14"/>
          <p:cNvSpPr/>
          <p:nvPr/>
        </p:nvSpPr>
        <p:spPr>
          <a:xfrm>
            <a:off x="868680" y="2638044"/>
            <a:ext cx="3566160" cy="274320"/>
          </a:xfrm>
          <a:prstGeom prst="rect">
            <a:avLst/>
          </a:prstGeom>
          <a:noFill/>
          <a:ln/>
        </p:spPr>
        <p:txBody>
          <a:bodyPr wrap="square" lIns="0" tIns="0" rIns="0" bIns="0" rtlCol="0" anchor="ctr"/>
          <a:lstStyle/>
          <a:p>
            <a:pPr indent="0" marL="0">
              <a:buNone/>
            </a:pPr>
            <a:r>
              <a:rPr lang="en-US" sz="1150" b="1" dirty="0">
                <a:solidFill>
                  <a:srgbClr val="1F2024"/>
                </a:solidFill>
                <a:latin typeface="Calibri" pitchFamily="34" charset="0"/>
                <a:ea typeface="Calibri" pitchFamily="34" charset="-122"/>
                <a:cs typeface="Calibri" pitchFamily="34" charset="-120"/>
              </a:rPr>
              <a:t>Database</a:t>
            </a:r>
            <a:endParaRPr lang="en-US" sz="1150" dirty="0"/>
          </a:p>
        </p:txBody>
      </p:sp>
      <p:sp>
        <p:nvSpPr>
          <p:cNvPr id="18" name="Text 15"/>
          <p:cNvSpPr/>
          <p:nvPr/>
        </p:nvSpPr>
        <p:spPr>
          <a:xfrm>
            <a:off x="4572000" y="2638044"/>
            <a:ext cx="5394960" cy="274320"/>
          </a:xfrm>
          <a:prstGeom prst="rect">
            <a:avLst/>
          </a:prstGeom>
          <a:noFill/>
          <a:ln/>
        </p:spPr>
        <p:txBody>
          <a:bodyPr wrap="square" lIns="0" tIns="0" rIns="0" bIns="0" rtlCol="0" anchor="ctr"/>
          <a:lstStyle/>
          <a:p>
            <a:pPr indent="0" marL="0">
              <a:buNone/>
            </a:pPr>
            <a:r>
              <a:rPr lang="en-US" sz="1100" dirty="0">
                <a:solidFill>
                  <a:srgbClr val="6B6D76"/>
                </a:solidFill>
                <a:latin typeface="Calibri" pitchFamily="34" charset="0"/>
                <a:ea typeface="Calibri" pitchFamily="34" charset="-122"/>
                <a:cs typeface="Calibri" pitchFamily="34" charset="-120"/>
              </a:rPr>
              <a:t>Azure PostgreSQL, private endpoint, TLS only</a:t>
            </a:r>
            <a:endParaRPr lang="en-US" sz="1100" dirty="0"/>
          </a:p>
        </p:txBody>
      </p:sp>
      <p:sp>
        <p:nvSpPr>
          <p:cNvPr id="19" name="Text 16"/>
          <p:cNvSpPr/>
          <p:nvPr/>
        </p:nvSpPr>
        <p:spPr>
          <a:xfrm>
            <a:off x="548640" y="2953512"/>
            <a:ext cx="274320" cy="274320"/>
          </a:xfrm>
          <a:prstGeom prst="rect">
            <a:avLst/>
          </a:prstGeom>
          <a:noFill/>
          <a:ln/>
        </p:spPr>
        <p:txBody>
          <a:bodyPr wrap="square" lIns="0" tIns="0" rIns="0" bIns="0" rtlCol="0" anchor="ctr"/>
          <a:lstStyle/>
          <a:p>
            <a:pPr algn="r" indent="0" marL="0">
              <a:buNone/>
            </a:pPr>
            <a:r>
              <a:rPr lang="en-US" sz="1000" dirty="0">
                <a:solidFill>
                  <a:srgbClr val="6B6D76"/>
                </a:solidFill>
                <a:latin typeface="Calibri" pitchFamily="34" charset="0"/>
                <a:ea typeface="Calibri" pitchFamily="34" charset="-122"/>
                <a:cs typeface="Calibri" pitchFamily="34" charset="-120"/>
              </a:rPr>
              <a:t>5</a:t>
            </a:r>
            <a:endParaRPr lang="en-US" sz="1000" dirty="0"/>
          </a:p>
        </p:txBody>
      </p:sp>
      <p:sp>
        <p:nvSpPr>
          <p:cNvPr id="20" name="Text 17"/>
          <p:cNvSpPr/>
          <p:nvPr/>
        </p:nvSpPr>
        <p:spPr>
          <a:xfrm>
            <a:off x="868680" y="2953512"/>
            <a:ext cx="3566160" cy="274320"/>
          </a:xfrm>
          <a:prstGeom prst="rect">
            <a:avLst/>
          </a:prstGeom>
          <a:noFill/>
          <a:ln/>
        </p:spPr>
        <p:txBody>
          <a:bodyPr wrap="square" lIns="0" tIns="0" rIns="0" bIns="0" rtlCol="0" anchor="ctr"/>
          <a:lstStyle/>
          <a:p>
            <a:pPr indent="0" marL="0">
              <a:buNone/>
            </a:pPr>
            <a:r>
              <a:rPr lang="en-US" sz="1150" b="1" dirty="0">
                <a:solidFill>
                  <a:srgbClr val="1F2024"/>
                </a:solidFill>
                <a:latin typeface="Calibri" pitchFamily="34" charset="0"/>
                <a:ea typeface="Calibri" pitchFamily="34" charset="-122"/>
                <a:cs typeface="Calibri" pitchFamily="34" charset="-120"/>
              </a:rPr>
              <a:t>Input validation &amp; injection</a:t>
            </a:r>
            <a:endParaRPr lang="en-US" sz="1150" dirty="0"/>
          </a:p>
        </p:txBody>
      </p:sp>
      <p:sp>
        <p:nvSpPr>
          <p:cNvPr id="21" name="Text 18"/>
          <p:cNvSpPr/>
          <p:nvPr/>
        </p:nvSpPr>
        <p:spPr>
          <a:xfrm>
            <a:off x="4572000" y="2953512"/>
            <a:ext cx="5394960" cy="274320"/>
          </a:xfrm>
          <a:prstGeom prst="rect">
            <a:avLst/>
          </a:prstGeom>
          <a:noFill/>
          <a:ln/>
        </p:spPr>
        <p:txBody>
          <a:bodyPr wrap="square" lIns="0" tIns="0" rIns="0" bIns="0" rtlCol="0" anchor="ctr"/>
          <a:lstStyle/>
          <a:p>
            <a:pPr indent="0" marL="0">
              <a:buNone/>
            </a:pPr>
            <a:r>
              <a:rPr lang="en-US" sz="1100" dirty="0">
                <a:solidFill>
                  <a:srgbClr val="6B6D76"/>
                </a:solidFill>
                <a:latin typeface="Calibri" pitchFamily="34" charset="0"/>
                <a:ea typeface="Calibri" pitchFamily="34" charset="-122"/>
                <a:cs typeface="Calibri" pitchFamily="34" charset="-120"/>
              </a:rPr>
              <a:t>Parameterised queries, schema validation at the API</a:t>
            </a:r>
            <a:endParaRPr lang="en-US" sz="1100" dirty="0"/>
          </a:p>
        </p:txBody>
      </p:sp>
      <p:sp>
        <p:nvSpPr>
          <p:cNvPr id="22" name="Text 19"/>
          <p:cNvSpPr/>
          <p:nvPr/>
        </p:nvSpPr>
        <p:spPr>
          <a:xfrm>
            <a:off x="548640" y="3268980"/>
            <a:ext cx="274320" cy="274320"/>
          </a:xfrm>
          <a:prstGeom prst="rect">
            <a:avLst/>
          </a:prstGeom>
          <a:noFill/>
          <a:ln/>
        </p:spPr>
        <p:txBody>
          <a:bodyPr wrap="square" lIns="0" tIns="0" rIns="0" bIns="0" rtlCol="0" anchor="ctr"/>
          <a:lstStyle/>
          <a:p>
            <a:pPr algn="r" indent="0" marL="0">
              <a:buNone/>
            </a:pPr>
            <a:r>
              <a:rPr lang="en-US" sz="1000" dirty="0">
                <a:solidFill>
                  <a:srgbClr val="6B6D76"/>
                </a:solidFill>
                <a:latin typeface="Calibri" pitchFamily="34" charset="0"/>
                <a:ea typeface="Calibri" pitchFamily="34" charset="-122"/>
                <a:cs typeface="Calibri" pitchFamily="34" charset="-120"/>
              </a:rPr>
              <a:t>6</a:t>
            </a:r>
            <a:endParaRPr lang="en-US" sz="1000" dirty="0"/>
          </a:p>
        </p:txBody>
      </p:sp>
      <p:sp>
        <p:nvSpPr>
          <p:cNvPr id="23" name="Text 20"/>
          <p:cNvSpPr/>
          <p:nvPr/>
        </p:nvSpPr>
        <p:spPr>
          <a:xfrm>
            <a:off x="868680" y="3268980"/>
            <a:ext cx="3566160" cy="274320"/>
          </a:xfrm>
          <a:prstGeom prst="rect">
            <a:avLst/>
          </a:prstGeom>
          <a:noFill/>
          <a:ln/>
        </p:spPr>
        <p:txBody>
          <a:bodyPr wrap="square" lIns="0" tIns="0" rIns="0" bIns="0" rtlCol="0" anchor="ctr"/>
          <a:lstStyle/>
          <a:p>
            <a:pPr indent="0" marL="0">
              <a:buNone/>
            </a:pPr>
            <a:r>
              <a:rPr lang="en-US" sz="1150" b="1" dirty="0">
                <a:solidFill>
                  <a:srgbClr val="1F2024"/>
                </a:solidFill>
                <a:latin typeface="Calibri" pitchFamily="34" charset="0"/>
                <a:ea typeface="Calibri" pitchFamily="34" charset="-122"/>
                <a:cs typeface="Calibri" pitchFamily="34" charset="-120"/>
              </a:rPr>
              <a:t>Secrets management</a:t>
            </a:r>
            <a:endParaRPr lang="en-US" sz="1150" dirty="0"/>
          </a:p>
        </p:txBody>
      </p:sp>
      <p:sp>
        <p:nvSpPr>
          <p:cNvPr id="24" name="Text 21"/>
          <p:cNvSpPr/>
          <p:nvPr/>
        </p:nvSpPr>
        <p:spPr>
          <a:xfrm>
            <a:off x="4572000" y="3268980"/>
            <a:ext cx="5394960" cy="274320"/>
          </a:xfrm>
          <a:prstGeom prst="rect">
            <a:avLst/>
          </a:prstGeom>
          <a:noFill/>
          <a:ln/>
        </p:spPr>
        <p:txBody>
          <a:bodyPr wrap="square" lIns="0" tIns="0" rIns="0" bIns="0" rtlCol="0" anchor="ctr"/>
          <a:lstStyle/>
          <a:p>
            <a:pPr indent="0" marL="0">
              <a:buNone/>
            </a:pPr>
            <a:r>
              <a:rPr lang="en-US" sz="1100" dirty="0">
                <a:solidFill>
                  <a:srgbClr val="6B6D76"/>
                </a:solidFill>
                <a:latin typeface="Calibri" pitchFamily="34" charset="0"/>
                <a:ea typeface="Calibri" pitchFamily="34" charset="-122"/>
                <a:cs typeface="Calibri" pitchFamily="34" charset="-120"/>
              </a:rPr>
              <a:t>Azure Key Vault, managed identity, rotation policy</a:t>
            </a:r>
            <a:endParaRPr lang="en-US" sz="1100" dirty="0"/>
          </a:p>
        </p:txBody>
      </p:sp>
      <p:sp>
        <p:nvSpPr>
          <p:cNvPr id="25" name="Text 22"/>
          <p:cNvSpPr/>
          <p:nvPr/>
        </p:nvSpPr>
        <p:spPr>
          <a:xfrm>
            <a:off x="548640" y="3584448"/>
            <a:ext cx="274320" cy="274320"/>
          </a:xfrm>
          <a:prstGeom prst="rect">
            <a:avLst/>
          </a:prstGeom>
          <a:noFill/>
          <a:ln/>
        </p:spPr>
        <p:txBody>
          <a:bodyPr wrap="square" lIns="0" tIns="0" rIns="0" bIns="0" rtlCol="0" anchor="ctr"/>
          <a:lstStyle/>
          <a:p>
            <a:pPr algn="r" indent="0" marL="0">
              <a:buNone/>
            </a:pPr>
            <a:r>
              <a:rPr lang="en-US" sz="1000" dirty="0">
                <a:solidFill>
                  <a:srgbClr val="6B6D76"/>
                </a:solidFill>
                <a:latin typeface="Calibri" pitchFamily="34" charset="0"/>
                <a:ea typeface="Calibri" pitchFamily="34" charset="-122"/>
                <a:cs typeface="Calibri" pitchFamily="34" charset="-120"/>
              </a:rPr>
              <a:t>7</a:t>
            </a:r>
            <a:endParaRPr lang="en-US" sz="1000" dirty="0"/>
          </a:p>
        </p:txBody>
      </p:sp>
      <p:sp>
        <p:nvSpPr>
          <p:cNvPr id="26" name="Text 23"/>
          <p:cNvSpPr/>
          <p:nvPr/>
        </p:nvSpPr>
        <p:spPr>
          <a:xfrm>
            <a:off x="868680" y="3584448"/>
            <a:ext cx="3566160" cy="274320"/>
          </a:xfrm>
          <a:prstGeom prst="rect">
            <a:avLst/>
          </a:prstGeom>
          <a:noFill/>
          <a:ln/>
        </p:spPr>
        <p:txBody>
          <a:bodyPr wrap="square" lIns="0" tIns="0" rIns="0" bIns="0" rtlCol="0" anchor="ctr"/>
          <a:lstStyle/>
          <a:p>
            <a:pPr indent="0" marL="0">
              <a:buNone/>
            </a:pPr>
            <a:r>
              <a:rPr lang="en-US" sz="1150" b="1" dirty="0">
                <a:solidFill>
                  <a:srgbClr val="1F2024"/>
                </a:solidFill>
                <a:latin typeface="Calibri" pitchFamily="34" charset="0"/>
                <a:ea typeface="Calibri" pitchFamily="34" charset="-122"/>
                <a:cs typeface="Calibri" pitchFamily="34" charset="-120"/>
              </a:rPr>
              <a:t>Dependencies &amp; supply chain</a:t>
            </a:r>
            <a:endParaRPr lang="en-US" sz="1150" dirty="0"/>
          </a:p>
        </p:txBody>
      </p:sp>
      <p:sp>
        <p:nvSpPr>
          <p:cNvPr id="27" name="Text 24"/>
          <p:cNvSpPr/>
          <p:nvPr/>
        </p:nvSpPr>
        <p:spPr>
          <a:xfrm>
            <a:off x="4572000" y="3584448"/>
            <a:ext cx="5394960" cy="274320"/>
          </a:xfrm>
          <a:prstGeom prst="rect">
            <a:avLst/>
          </a:prstGeom>
          <a:noFill/>
          <a:ln/>
        </p:spPr>
        <p:txBody>
          <a:bodyPr wrap="square" lIns="0" tIns="0" rIns="0" bIns="0" rtlCol="0" anchor="ctr"/>
          <a:lstStyle/>
          <a:p>
            <a:pPr indent="0" marL="0">
              <a:buNone/>
            </a:pPr>
            <a:r>
              <a:rPr lang="en-US" sz="1100" dirty="0">
                <a:solidFill>
                  <a:srgbClr val="6B6D76"/>
                </a:solidFill>
                <a:latin typeface="Calibri" pitchFamily="34" charset="0"/>
                <a:ea typeface="Calibri" pitchFamily="34" charset="-122"/>
                <a:cs typeface="Calibri" pitchFamily="34" charset="-120"/>
              </a:rPr>
              <a:t>CI scanning, patch SLA by severity, SBOM</a:t>
            </a:r>
            <a:endParaRPr lang="en-US" sz="1100" dirty="0"/>
          </a:p>
        </p:txBody>
      </p:sp>
      <p:sp>
        <p:nvSpPr>
          <p:cNvPr id="28" name="Text 25"/>
          <p:cNvSpPr/>
          <p:nvPr/>
        </p:nvSpPr>
        <p:spPr>
          <a:xfrm>
            <a:off x="548640" y="3899916"/>
            <a:ext cx="274320" cy="274320"/>
          </a:xfrm>
          <a:prstGeom prst="rect">
            <a:avLst/>
          </a:prstGeom>
          <a:noFill/>
          <a:ln/>
        </p:spPr>
        <p:txBody>
          <a:bodyPr wrap="square" lIns="0" tIns="0" rIns="0" bIns="0" rtlCol="0" anchor="ctr"/>
          <a:lstStyle/>
          <a:p>
            <a:pPr algn="r" indent="0" marL="0">
              <a:buNone/>
            </a:pPr>
            <a:r>
              <a:rPr lang="en-US" sz="1000" dirty="0">
                <a:solidFill>
                  <a:srgbClr val="6B6D76"/>
                </a:solidFill>
                <a:latin typeface="Calibri" pitchFamily="34" charset="0"/>
                <a:ea typeface="Calibri" pitchFamily="34" charset="-122"/>
                <a:cs typeface="Calibri" pitchFamily="34" charset="-120"/>
              </a:rPr>
              <a:t>8</a:t>
            </a:r>
            <a:endParaRPr lang="en-US" sz="1000" dirty="0"/>
          </a:p>
        </p:txBody>
      </p:sp>
      <p:sp>
        <p:nvSpPr>
          <p:cNvPr id="29" name="Text 26"/>
          <p:cNvSpPr/>
          <p:nvPr/>
        </p:nvSpPr>
        <p:spPr>
          <a:xfrm>
            <a:off x="868680" y="3899916"/>
            <a:ext cx="3566160" cy="274320"/>
          </a:xfrm>
          <a:prstGeom prst="rect">
            <a:avLst/>
          </a:prstGeom>
          <a:noFill/>
          <a:ln/>
        </p:spPr>
        <p:txBody>
          <a:bodyPr wrap="square" lIns="0" tIns="0" rIns="0" bIns="0" rtlCol="0" anchor="ctr"/>
          <a:lstStyle/>
          <a:p>
            <a:pPr indent="0" marL="0">
              <a:buNone/>
            </a:pPr>
            <a:r>
              <a:rPr lang="en-US" sz="1150" b="1" dirty="0">
                <a:solidFill>
                  <a:srgbClr val="1F2024"/>
                </a:solidFill>
                <a:latin typeface="Calibri" pitchFamily="34" charset="0"/>
                <a:ea typeface="Calibri" pitchFamily="34" charset="-122"/>
                <a:cs typeface="Calibri" pitchFamily="34" charset="-120"/>
              </a:rPr>
              <a:t>Browser hardening</a:t>
            </a:r>
            <a:endParaRPr lang="en-US" sz="1150" dirty="0"/>
          </a:p>
        </p:txBody>
      </p:sp>
      <p:sp>
        <p:nvSpPr>
          <p:cNvPr id="30" name="Text 27"/>
          <p:cNvSpPr/>
          <p:nvPr/>
        </p:nvSpPr>
        <p:spPr>
          <a:xfrm>
            <a:off x="4572000" y="3899916"/>
            <a:ext cx="5394960" cy="274320"/>
          </a:xfrm>
          <a:prstGeom prst="rect">
            <a:avLst/>
          </a:prstGeom>
          <a:noFill/>
          <a:ln/>
        </p:spPr>
        <p:txBody>
          <a:bodyPr wrap="square" lIns="0" tIns="0" rIns="0" bIns="0" rtlCol="0" anchor="ctr"/>
          <a:lstStyle/>
          <a:p>
            <a:pPr indent="0" marL="0">
              <a:buNone/>
            </a:pPr>
            <a:r>
              <a:rPr lang="en-US" sz="1100" dirty="0">
                <a:solidFill>
                  <a:srgbClr val="6B6D76"/>
                </a:solidFill>
                <a:latin typeface="Calibri" pitchFamily="34" charset="0"/>
                <a:ea typeface="Calibri" pitchFamily="34" charset="-122"/>
                <a:cs typeface="Calibri" pitchFamily="34" charset="-120"/>
              </a:rPr>
              <a:t>CSP, HSTS and security headers at Front Door</a:t>
            </a:r>
            <a:endParaRPr lang="en-US" sz="1100" dirty="0"/>
          </a:p>
        </p:txBody>
      </p:sp>
      <p:sp>
        <p:nvSpPr>
          <p:cNvPr id="31" name="Text 28"/>
          <p:cNvSpPr/>
          <p:nvPr/>
        </p:nvSpPr>
        <p:spPr>
          <a:xfrm>
            <a:off x="548640" y="4215384"/>
            <a:ext cx="274320" cy="274320"/>
          </a:xfrm>
          <a:prstGeom prst="rect">
            <a:avLst/>
          </a:prstGeom>
          <a:noFill/>
          <a:ln/>
        </p:spPr>
        <p:txBody>
          <a:bodyPr wrap="square" lIns="0" tIns="0" rIns="0" bIns="0" rtlCol="0" anchor="ctr"/>
          <a:lstStyle/>
          <a:p>
            <a:pPr algn="r" indent="0" marL="0">
              <a:buNone/>
            </a:pPr>
            <a:r>
              <a:rPr lang="en-US" sz="1000" dirty="0">
                <a:solidFill>
                  <a:srgbClr val="6B6D76"/>
                </a:solidFill>
                <a:latin typeface="Calibri" pitchFamily="34" charset="0"/>
                <a:ea typeface="Calibri" pitchFamily="34" charset="-122"/>
                <a:cs typeface="Calibri" pitchFamily="34" charset="-120"/>
              </a:rPr>
              <a:t>9</a:t>
            </a:r>
            <a:endParaRPr lang="en-US" sz="1000" dirty="0"/>
          </a:p>
        </p:txBody>
      </p:sp>
      <p:sp>
        <p:nvSpPr>
          <p:cNvPr id="32" name="Text 29"/>
          <p:cNvSpPr/>
          <p:nvPr/>
        </p:nvSpPr>
        <p:spPr>
          <a:xfrm>
            <a:off x="868680" y="4215384"/>
            <a:ext cx="3566160" cy="274320"/>
          </a:xfrm>
          <a:prstGeom prst="rect">
            <a:avLst/>
          </a:prstGeom>
          <a:noFill/>
          <a:ln/>
        </p:spPr>
        <p:txBody>
          <a:bodyPr wrap="square" lIns="0" tIns="0" rIns="0" bIns="0" rtlCol="0" anchor="ctr"/>
          <a:lstStyle/>
          <a:p>
            <a:pPr indent="0" marL="0">
              <a:buNone/>
            </a:pPr>
            <a:r>
              <a:rPr lang="en-US" sz="1150" b="1" dirty="0">
                <a:solidFill>
                  <a:srgbClr val="1F2024"/>
                </a:solidFill>
                <a:latin typeface="Calibri" pitchFamily="34" charset="0"/>
                <a:ea typeface="Calibri" pitchFamily="34" charset="-122"/>
                <a:cs typeface="Calibri" pitchFamily="34" charset="-120"/>
              </a:rPr>
              <a:t>Hosting &amp; network</a:t>
            </a:r>
            <a:endParaRPr lang="en-US" sz="1150" dirty="0"/>
          </a:p>
        </p:txBody>
      </p:sp>
      <p:sp>
        <p:nvSpPr>
          <p:cNvPr id="33" name="Text 30"/>
          <p:cNvSpPr/>
          <p:nvPr/>
        </p:nvSpPr>
        <p:spPr>
          <a:xfrm>
            <a:off x="4572000" y="4215384"/>
            <a:ext cx="5394960" cy="274320"/>
          </a:xfrm>
          <a:prstGeom prst="rect">
            <a:avLst/>
          </a:prstGeom>
          <a:noFill/>
          <a:ln/>
        </p:spPr>
        <p:txBody>
          <a:bodyPr wrap="square" lIns="0" tIns="0" rIns="0" bIns="0" rtlCol="0" anchor="ctr"/>
          <a:lstStyle/>
          <a:p>
            <a:pPr indent="0" marL="0">
              <a:buNone/>
            </a:pPr>
            <a:r>
              <a:rPr lang="en-US" sz="1100" dirty="0">
                <a:solidFill>
                  <a:srgbClr val="6B6D76"/>
                </a:solidFill>
                <a:latin typeface="Calibri" pitchFamily="34" charset="0"/>
                <a:ea typeface="Calibri" pitchFamily="34" charset="-122"/>
                <a:cs typeface="Calibri" pitchFamily="34" charset="-120"/>
              </a:rPr>
              <a:t>App Service Riyadh, WAF, private networking</a:t>
            </a:r>
            <a:endParaRPr lang="en-US" sz="1100" dirty="0"/>
          </a:p>
        </p:txBody>
      </p:sp>
      <p:sp>
        <p:nvSpPr>
          <p:cNvPr id="34" name="Text 31"/>
          <p:cNvSpPr/>
          <p:nvPr/>
        </p:nvSpPr>
        <p:spPr>
          <a:xfrm>
            <a:off x="548640" y="4530852"/>
            <a:ext cx="274320" cy="274320"/>
          </a:xfrm>
          <a:prstGeom prst="rect">
            <a:avLst/>
          </a:prstGeom>
          <a:noFill/>
          <a:ln/>
        </p:spPr>
        <p:txBody>
          <a:bodyPr wrap="square" lIns="0" tIns="0" rIns="0" bIns="0" rtlCol="0" anchor="ctr"/>
          <a:lstStyle/>
          <a:p>
            <a:pPr algn="r" indent="0" marL="0">
              <a:buNone/>
            </a:pPr>
            <a:r>
              <a:rPr lang="en-US" sz="1000" dirty="0">
                <a:solidFill>
                  <a:srgbClr val="6B6D76"/>
                </a:solidFill>
                <a:latin typeface="Calibri" pitchFamily="34" charset="0"/>
                <a:ea typeface="Calibri" pitchFamily="34" charset="-122"/>
                <a:cs typeface="Calibri" pitchFamily="34" charset="-120"/>
              </a:rPr>
              <a:t>10</a:t>
            </a:r>
            <a:endParaRPr lang="en-US" sz="1000" dirty="0"/>
          </a:p>
        </p:txBody>
      </p:sp>
      <p:sp>
        <p:nvSpPr>
          <p:cNvPr id="35" name="Text 32"/>
          <p:cNvSpPr/>
          <p:nvPr/>
        </p:nvSpPr>
        <p:spPr>
          <a:xfrm>
            <a:off x="868680" y="4530852"/>
            <a:ext cx="3566160" cy="274320"/>
          </a:xfrm>
          <a:prstGeom prst="rect">
            <a:avLst/>
          </a:prstGeom>
          <a:noFill/>
          <a:ln/>
        </p:spPr>
        <p:txBody>
          <a:bodyPr wrap="square" lIns="0" tIns="0" rIns="0" bIns="0" rtlCol="0" anchor="ctr"/>
          <a:lstStyle/>
          <a:p>
            <a:pPr indent="0" marL="0">
              <a:buNone/>
            </a:pPr>
            <a:r>
              <a:rPr lang="en-US" sz="1150" b="1" dirty="0">
                <a:solidFill>
                  <a:srgbClr val="1F2024"/>
                </a:solidFill>
                <a:latin typeface="Calibri" pitchFamily="34" charset="0"/>
                <a:ea typeface="Calibri" pitchFamily="34" charset="-122"/>
                <a:cs typeface="Calibri" pitchFamily="34" charset="-120"/>
              </a:rPr>
              <a:t>Deployment &amp; CI/CD</a:t>
            </a:r>
            <a:endParaRPr lang="en-US" sz="1150" dirty="0"/>
          </a:p>
        </p:txBody>
      </p:sp>
      <p:sp>
        <p:nvSpPr>
          <p:cNvPr id="36" name="Text 33"/>
          <p:cNvSpPr/>
          <p:nvPr/>
        </p:nvSpPr>
        <p:spPr>
          <a:xfrm>
            <a:off x="4572000" y="4530852"/>
            <a:ext cx="5394960" cy="274320"/>
          </a:xfrm>
          <a:prstGeom prst="rect">
            <a:avLst/>
          </a:prstGeom>
          <a:noFill/>
          <a:ln/>
        </p:spPr>
        <p:txBody>
          <a:bodyPr wrap="square" lIns="0" tIns="0" rIns="0" bIns="0" rtlCol="0" anchor="ctr"/>
          <a:lstStyle/>
          <a:p>
            <a:pPr indent="0" marL="0">
              <a:buNone/>
            </a:pPr>
            <a:r>
              <a:rPr lang="en-US" sz="1100" dirty="0">
                <a:solidFill>
                  <a:srgbClr val="6B6D76"/>
                </a:solidFill>
                <a:latin typeface="Calibri" pitchFamily="34" charset="0"/>
                <a:ea typeface="Calibri" pitchFamily="34" charset="-122"/>
                <a:cs typeface="Calibri" pitchFamily="34" charset="-120"/>
              </a:rPr>
              <a:t>Gated pipelines, no manual production access</a:t>
            </a:r>
            <a:endParaRPr lang="en-US" sz="1100" dirty="0"/>
          </a:p>
        </p:txBody>
      </p:sp>
      <p:sp>
        <p:nvSpPr>
          <p:cNvPr id="37" name="Text 34"/>
          <p:cNvSpPr/>
          <p:nvPr/>
        </p:nvSpPr>
        <p:spPr>
          <a:xfrm>
            <a:off x="548640" y="4846320"/>
            <a:ext cx="274320" cy="274320"/>
          </a:xfrm>
          <a:prstGeom prst="rect">
            <a:avLst/>
          </a:prstGeom>
          <a:noFill/>
          <a:ln/>
        </p:spPr>
        <p:txBody>
          <a:bodyPr wrap="square" lIns="0" tIns="0" rIns="0" bIns="0" rtlCol="0" anchor="ctr"/>
          <a:lstStyle/>
          <a:p>
            <a:pPr algn="r" indent="0" marL="0">
              <a:buNone/>
            </a:pPr>
            <a:r>
              <a:rPr lang="en-US" sz="1000" dirty="0">
                <a:solidFill>
                  <a:srgbClr val="6B6D76"/>
                </a:solidFill>
                <a:latin typeface="Calibri" pitchFamily="34" charset="0"/>
                <a:ea typeface="Calibri" pitchFamily="34" charset="-122"/>
                <a:cs typeface="Calibri" pitchFamily="34" charset="-120"/>
              </a:rPr>
              <a:t>11</a:t>
            </a:r>
            <a:endParaRPr lang="en-US" sz="1000" dirty="0"/>
          </a:p>
        </p:txBody>
      </p:sp>
      <p:sp>
        <p:nvSpPr>
          <p:cNvPr id="38" name="Text 35"/>
          <p:cNvSpPr/>
          <p:nvPr/>
        </p:nvSpPr>
        <p:spPr>
          <a:xfrm>
            <a:off x="868680" y="4846320"/>
            <a:ext cx="3566160" cy="274320"/>
          </a:xfrm>
          <a:prstGeom prst="rect">
            <a:avLst/>
          </a:prstGeom>
          <a:noFill/>
          <a:ln/>
        </p:spPr>
        <p:txBody>
          <a:bodyPr wrap="square" lIns="0" tIns="0" rIns="0" bIns="0" rtlCol="0" anchor="ctr"/>
          <a:lstStyle/>
          <a:p>
            <a:pPr indent="0" marL="0">
              <a:buNone/>
            </a:pPr>
            <a:r>
              <a:rPr lang="en-US" sz="1150" b="1" dirty="0">
                <a:solidFill>
                  <a:srgbClr val="1F2024"/>
                </a:solidFill>
                <a:latin typeface="Calibri" pitchFamily="34" charset="0"/>
                <a:ea typeface="Calibri" pitchFamily="34" charset="-122"/>
                <a:cs typeface="Calibri" pitchFamily="34" charset="-120"/>
              </a:rPr>
              <a:t>Logging, audit &amp; monitoring</a:t>
            </a:r>
            <a:endParaRPr lang="en-US" sz="1150" dirty="0"/>
          </a:p>
        </p:txBody>
      </p:sp>
      <p:sp>
        <p:nvSpPr>
          <p:cNvPr id="39" name="Text 36"/>
          <p:cNvSpPr/>
          <p:nvPr/>
        </p:nvSpPr>
        <p:spPr>
          <a:xfrm>
            <a:off x="4572000" y="4846320"/>
            <a:ext cx="5394960" cy="274320"/>
          </a:xfrm>
          <a:prstGeom prst="rect">
            <a:avLst/>
          </a:prstGeom>
          <a:noFill/>
          <a:ln/>
        </p:spPr>
        <p:txBody>
          <a:bodyPr wrap="square" lIns="0" tIns="0" rIns="0" bIns="0" rtlCol="0" anchor="ctr"/>
          <a:lstStyle/>
          <a:p>
            <a:pPr indent="0" marL="0">
              <a:buNone/>
            </a:pPr>
            <a:r>
              <a:rPr lang="en-US" sz="1100" dirty="0">
                <a:solidFill>
                  <a:srgbClr val="6B6D76"/>
                </a:solidFill>
                <a:latin typeface="Calibri" pitchFamily="34" charset="0"/>
                <a:ea typeface="Calibri" pitchFamily="34" charset="-122"/>
                <a:cs typeface="Calibri" pitchFamily="34" charset="-120"/>
              </a:rPr>
              <a:t>Immutable audit trail, events to your Azure Sentinel</a:t>
            </a:r>
            <a:endParaRPr lang="en-US" sz="1100" dirty="0"/>
          </a:p>
        </p:txBody>
      </p:sp>
      <p:sp>
        <p:nvSpPr>
          <p:cNvPr id="40" name="Text 37"/>
          <p:cNvSpPr/>
          <p:nvPr/>
        </p:nvSpPr>
        <p:spPr>
          <a:xfrm>
            <a:off x="548640" y="5161788"/>
            <a:ext cx="274320" cy="274320"/>
          </a:xfrm>
          <a:prstGeom prst="rect">
            <a:avLst/>
          </a:prstGeom>
          <a:noFill/>
          <a:ln/>
        </p:spPr>
        <p:txBody>
          <a:bodyPr wrap="square" lIns="0" tIns="0" rIns="0" bIns="0" rtlCol="0" anchor="ctr"/>
          <a:lstStyle/>
          <a:p>
            <a:pPr algn="r" indent="0" marL="0">
              <a:buNone/>
            </a:pPr>
            <a:r>
              <a:rPr lang="en-US" sz="1000" dirty="0">
                <a:solidFill>
                  <a:srgbClr val="6B6D76"/>
                </a:solidFill>
                <a:latin typeface="Calibri" pitchFamily="34" charset="0"/>
                <a:ea typeface="Calibri" pitchFamily="34" charset="-122"/>
                <a:cs typeface="Calibri" pitchFamily="34" charset="-120"/>
              </a:rPr>
              <a:t>12</a:t>
            </a:r>
            <a:endParaRPr lang="en-US" sz="1000" dirty="0"/>
          </a:p>
        </p:txBody>
      </p:sp>
      <p:sp>
        <p:nvSpPr>
          <p:cNvPr id="41" name="Text 38"/>
          <p:cNvSpPr/>
          <p:nvPr/>
        </p:nvSpPr>
        <p:spPr>
          <a:xfrm>
            <a:off x="868680" y="5161788"/>
            <a:ext cx="3566160" cy="274320"/>
          </a:xfrm>
          <a:prstGeom prst="rect">
            <a:avLst/>
          </a:prstGeom>
          <a:noFill/>
          <a:ln/>
        </p:spPr>
        <p:txBody>
          <a:bodyPr wrap="square" lIns="0" tIns="0" rIns="0" bIns="0" rtlCol="0" anchor="ctr"/>
          <a:lstStyle/>
          <a:p>
            <a:pPr indent="0" marL="0">
              <a:buNone/>
            </a:pPr>
            <a:r>
              <a:rPr lang="en-US" sz="1150" b="1" dirty="0">
                <a:solidFill>
                  <a:srgbClr val="1F2024"/>
                </a:solidFill>
                <a:latin typeface="Calibri" pitchFamily="34" charset="0"/>
                <a:ea typeface="Calibri" pitchFamily="34" charset="-122"/>
                <a:cs typeface="Calibri" pitchFamily="34" charset="-120"/>
              </a:rPr>
              <a:t>Scaling &amp; availability</a:t>
            </a:r>
            <a:endParaRPr lang="en-US" sz="1150" dirty="0"/>
          </a:p>
        </p:txBody>
      </p:sp>
      <p:sp>
        <p:nvSpPr>
          <p:cNvPr id="42" name="Text 39"/>
          <p:cNvSpPr/>
          <p:nvPr/>
        </p:nvSpPr>
        <p:spPr>
          <a:xfrm>
            <a:off x="4572000" y="5161788"/>
            <a:ext cx="5394960" cy="274320"/>
          </a:xfrm>
          <a:prstGeom prst="rect">
            <a:avLst/>
          </a:prstGeom>
          <a:noFill/>
          <a:ln/>
        </p:spPr>
        <p:txBody>
          <a:bodyPr wrap="square" lIns="0" tIns="0" rIns="0" bIns="0" rtlCol="0" anchor="ctr"/>
          <a:lstStyle/>
          <a:p>
            <a:pPr indent="0" marL="0">
              <a:buNone/>
            </a:pPr>
            <a:r>
              <a:rPr lang="en-US" sz="1100" dirty="0">
                <a:solidFill>
                  <a:srgbClr val="6B6D76"/>
                </a:solidFill>
                <a:latin typeface="Calibri" pitchFamily="34" charset="0"/>
                <a:ea typeface="Calibri" pitchFamily="34" charset="-122"/>
                <a:cs typeface="Calibri" pitchFamily="34" charset="-120"/>
              </a:rPr>
              <a:t>Autoscale, health probes, defined SLO</a:t>
            </a:r>
            <a:endParaRPr lang="en-US" sz="1100" dirty="0"/>
          </a:p>
        </p:txBody>
      </p:sp>
      <p:sp>
        <p:nvSpPr>
          <p:cNvPr id="43" name="Text 40"/>
          <p:cNvSpPr/>
          <p:nvPr/>
        </p:nvSpPr>
        <p:spPr>
          <a:xfrm>
            <a:off x="548640" y="5477256"/>
            <a:ext cx="274320" cy="274320"/>
          </a:xfrm>
          <a:prstGeom prst="rect">
            <a:avLst/>
          </a:prstGeom>
          <a:noFill/>
          <a:ln/>
        </p:spPr>
        <p:txBody>
          <a:bodyPr wrap="square" lIns="0" tIns="0" rIns="0" bIns="0" rtlCol="0" anchor="ctr"/>
          <a:lstStyle/>
          <a:p>
            <a:pPr algn="r" indent="0" marL="0">
              <a:buNone/>
            </a:pPr>
            <a:r>
              <a:rPr lang="en-US" sz="1000" dirty="0">
                <a:solidFill>
                  <a:srgbClr val="6B6D76"/>
                </a:solidFill>
                <a:latin typeface="Calibri" pitchFamily="34" charset="0"/>
                <a:ea typeface="Calibri" pitchFamily="34" charset="-122"/>
                <a:cs typeface="Calibri" pitchFamily="34" charset="-120"/>
              </a:rPr>
              <a:t>13</a:t>
            </a:r>
            <a:endParaRPr lang="en-US" sz="1000" dirty="0"/>
          </a:p>
        </p:txBody>
      </p:sp>
      <p:sp>
        <p:nvSpPr>
          <p:cNvPr id="44" name="Text 41"/>
          <p:cNvSpPr/>
          <p:nvPr/>
        </p:nvSpPr>
        <p:spPr>
          <a:xfrm>
            <a:off x="868680" y="5477256"/>
            <a:ext cx="3566160" cy="274320"/>
          </a:xfrm>
          <a:prstGeom prst="rect">
            <a:avLst/>
          </a:prstGeom>
          <a:noFill/>
          <a:ln/>
        </p:spPr>
        <p:txBody>
          <a:bodyPr wrap="square" lIns="0" tIns="0" rIns="0" bIns="0" rtlCol="0" anchor="ctr"/>
          <a:lstStyle/>
          <a:p>
            <a:pPr indent="0" marL="0">
              <a:buNone/>
            </a:pPr>
            <a:r>
              <a:rPr lang="en-US" sz="1150" b="1" dirty="0">
                <a:solidFill>
                  <a:srgbClr val="1F2024"/>
                </a:solidFill>
                <a:latin typeface="Calibri" pitchFamily="34" charset="0"/>
                <a:ea typeface="Calibri" pitchFamily="34" charset="-122"/>
                <a:cs typeface="Calibri" pitchFamily="34" charset="-120"/>
              </a:rPr>
              <a:t>Backup &amp; disaster recovery</a:t>
            </a:r>
            <a:endParaRPr lang="en-US" sz="1150" dirty="0"/>
          </a:p>
        </p:txBody>
      </p:sp>
      <p:sp>
        <p:nvSpPr>
          <p:cNvPr id="45" name="Text 42"/>
          <p:cNvSpPr/>
          <p:nvPr/>
        </p:nvSpPr>
        <p:spPr>
          <a:xfrm>
            <a:off x="4572000" y="5477256"/>
            <a:ext cx="5394960" cy="274320"/>
          </a:xfrm>
          <a:prstGeom prst="rect">
            <a:avLst/>
          </a:prstGeom>
          <a:noFill/>
          <a:ln/>
        </p:spPr>
        <p:txBody>
          <a:bodyPr wrap="square" lIns="0" tIns="0" rIns="0" bIns="0" rtlCol="0" anchor="ctr"/>
          <a:lstStyle/>
          <a:p>
            <a:pPr indent="0" marL="0">
              <a:buNone/>
            </a:pPr>
            <a:r>
              <a:rPr lang="en-US" sz="1100" dirty="0">
                <a:solidFill>
                  <a:srgbClr val="6B6D76"/>
                </a:solidFill>
                <a:latin typeface="Calibri" pitchFamily="34" charset="0"/>
                <a:ea typeface="Calibri" pitchFamily="34" charset="-122"/>
                <a:cs typeface="Calibri" pitchFamily="34" charset="-120"/>
              </a:rPr>
              <a:t>Point-in-time restore, RPO and RTO, restore drills</a:t>
            </a:r>
            <a:endParaRPr lang="en-US" sz="1100" dirty="0"/>
          </a:p>
        </p:txBody>
      </p:sp>
      <p:sp>
        <p:nvSpPr>
          <p:cNvPr id="46" name="Shape 43"/>
          <p:cNvSpPr/>
          <p:nvPr/>
        </p:nvSpPr>
        <p:spPr>
          <a:xfrm>
            <a:off x="10195560" y="1691640"/>
            <a:ext cx="1463040" cy="4160520"/>
          </a:xfrm>
          <a:prstGeom prst="roundRect">
            <a:avLst>
              <a:gd name="adj" fmla="val 5000"/>
            </a:avLst>
          </a:prstGeom>
          <a:solidFill>
            <a:srgbClr val="23242A"/>
          </a:solidFill>
          <a:ln w="9525">
            <a:solidFill>
              <a:srgbClr val="E3E1DA"/>
            </a:solidFill>
            <a:prstDash val="solid"/>
          </a:ln>
        </p:spPr>
      </p:sp>
      <p:sp>
        <p:nvSpPr>
          <p:cNvPr id="47" name="Text 44"/>
          <p:cNvSpPr/>
          <p:nvPr/>
        </p:nvSpPr>
        <p:spPr>
          <a:xfrm>
            <a:off x="10195560" y="1920240"/>
            <a:ext cx="1463040" cy="640080"/>
          </a:xfrm>
          <a:prstGeom prst="rect">
            <a:avLst/>
          </a:prstGeom>
          <a:noFill/>
          <a:ln/>
        </p:spPr>
        <p:txBody>
          <a:bodyPr wrap="square" lIns="0" tIns="0" rIns="0" bIns="0" rtlCol="0" anchor="ctr"/>
          <a:lstStyle/>
          <a:p>
            <a:pPr algn="ctr" indent="0" marL="0">
              <a:buNone/>
            </a:pPr>
            <a:r>
              <a:rPr lang="en-US" sz="4000" b="1" dirty="0">
                <a:solidFill>
                  <a:srgbClr val="C9A227"/>
                </a:solidFill>
                <a:latin typeface="Cambria" pitchFamily="34" charset="0"/>
                <a:ea typeface="Cambria" pitchFamily="34" charset="-122"/>
                <a:cs typeface="Cambria" pitchFamily="34" charset="-120"/>
              </a:rPr>
              <a:t>13</a:t>
            </a:r>
            <a:endParaRPr lang="en-US" sz="4000" dirty="0"/>
          </a:p>
        </p:txBody>
      </p:sp>
      <p:sp>
        <p:nvSpPr>
          <p:cNvPr id="48" name="Text 45"/>
          <p:cNvSpPr/>
          <p:nvPr/>
        </p:nvSpPr>
        <p:spPr>
          <a:xfrm>
            <a:off x="10378440" y="2697480"/>
            <a:ext cx="1143000" cy="2926080"/>
          </a:xfrm>
          <a:prstGeom prst="rect">
            <a:avLst/>
          </a:prstGeom>
          <a:noFill/>
          <a:ln/>
        </p:spPr>
        <p:txBody>
          <a:bodyPr wrap="square" lIns="0" tIns="0" rIns="0" bIns="0" rtlCol="0" anchor="ctr"/>
          <a:lstStyle/>
          <a:p>
            <a:pPr indent="0" marL="0">
              <a:lnSpc>
                <a:spcPts val="1400"/>
              </a:lnSpc>
              <a:buNone/>
            </a:pPr>
            <a:r>
              <a:rPr lang="en-US" sz="1000" dirty="0">
                <a:solidFill>
                  <a:srgbClr val="D8D8DC"/>
                </a:solidFill>
                <a:latin typeface="Calibri" pitchFamily="34" charset="0"/>
                <a:ea typeface="Calibri" pitchFamily="34" charset="-122"/>
                <a:cs typeface="Calibri" pitchFamily="34" charset="-120"/>
              </a:rPr>
              <a:t>layers, each mapped to the SoW clause it satisfies and the Azure service that delivers it.</a:t>
            </a:r>
            <a:endParaRPr lang="en-US" sz="1000" dirty="0"/>
          </a:p>
          <a:p>
            <a:pPr indent="0" marL="0">
              <a:lnSpc>
                <a:spcPts val="1400"/>
              </a:lnSpc>
              <a:buNone/>
            </a:pPr>
            <a:endParaRPr lang="en-US" sz="1000" dirty="0"/>
          </a:p>
          <a:p>
            <a:pPr indent="0" marL="0">
              <a:lnSpc>
                <a:spcPts val="1400"/>
              </a:lnSpc>
              <a:buNone/>
            </a:pPr>
            <a:r>
              <a:rPr lang="en-US" sz="1000" dirty="0">
                <a:solidFill>
                  <a:srgbClr val="D8D8DC"/>
                </a:solidFill>
                <a:latin typeface="Calibri" pitchFamily="34" charset="0"/>
                <a:ea typeface="Calibri" pitchFamily="34" charset="-122"/>
                <a:cs typeface="Calibri" pitchFamily="34" charset="-120"/>
              </a:rPr>
              <a:t>Detail in document 02.</a:t>
            </a:r>
            <a:endParaRPr lang="en-US" sz="1000" dirty="0"/>
          </a:p>
        </p:txBody>
      </p:sp>
      <p:sp>
        <p:nvSpPr>
          <p:cNvPr id="49" name="Text 46"/>
          <p:cNvSpPr/>
          <p:nvPr/>
        </p:nvSpPr>
        <p:spPr>
          <a:xfrm>
            <a:off x="548640" y="6327648"/>
            <a:ext cx="11064240" cy="274320"/>
          </a:xfrm>
          <a:prstGeom prst="rect">
            <a:avLst/>
          </a:prstGeom>
          <a:noFill/>
          <a:ln/>
        </p:spPr>
        <p:txBody>
          <a:bodyPr wrap="square" lIns="0" tIns="0" rIns="0" bIns="0" rtlCol="0" anchor="ctr"/>
          <a:lstStyle/>
          <a:p>
            <a:pPr indent="0" marL="0">
              <a:buNone/>
            </a:pPr>
            <a:r>
              <a:rPr lang="en-US" sz="900" dirty="0">
                <a:solidFill>
                  <a:srgbClr val="6B6D76"/>
                </a:solidFill>
                <a:latin typeface="Calibri" pitchFamily="34" charset="0"/>
                <a:ea typeface="Calibri" pitchFamily="34" charset="-122"/>
                <a:cs typeface="Calibri" pitchFamily="34" charset="-120"/>
              </a:rPr>
              <a:t>XD House   |   Ma'aden ARGP Security &amp; Assurance   |   15 July 2026</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9692640" cy="548640"/>
          </a:xfrm>
          <a:prstGeom prst="rect">
            <a:avLst/>
          </a:prstGeom>
          <a:noFill/>
          <a:ln/>
        </p:spPr>
        <p:txBody>
          <a:bodyPr wrap="square" lIns="0" tIns="0" rIns="0" bIns="0" rtlCol="0" anchor="ctr"/>
          <a:lstStyle/>
          <a:p>
            <a:pPr indent="0" marL="0">
              <a:buNone/>
            </a:pPr>
            <a:r>
              <a:rPr lang="en-US" sz="3000" b="1" dirty="0">
                <a:solidFill>
                  <a:srgbClr val="1F2024"/>
                </a:solidFill>
                <a:latin typeface="Cambria" pitchFamily="34" charset="0"/>
                <a:ea typeface="Cambria" pitchFamily="34" charset="-122"/>
                <a:cs typeface="Cambria" pitchFamily="34" charset="-120"/>
              </a:rPr>
              <a:t>Meeting Ma'aden's stated requirements</a:t>
            </a:r>
            <a:endParaRPr lang="en-US" sz="3000" dirty="0"/>
          </a:p>
        </p:txBody>
      </p:sp>
      <p:sp>
        <p:nvSpPr>
          <p:cNvPr id="3" name="Text 1"/>
          <p:cNvSpPr/>
          <p:nvPr/>
        </p:nvSpPr>
        <p:spPr>
          <a:xfrm>
            <a:off x="548640" y="914400"/>
            <a:ext cx="9692640" cy="292608"/>
          </a:xfrm>
          <a:prstGeom prst="rect">
            <a:avLst/>
          </a:prstGeom>
          <a:noFill/>
          <a:ln/>
        </p:spPr>
        <p:txBody>
          <a:bodyPr wrap="square" lIns="0" tIns="0" rIns="0" bIns="0" rtlCol="0" anchor="ctr"/>
          <a:lstStyle/>
          <a:p>
            <a:pPr indent="0" marL="0">
              <a:buNone/>
            </a:pPr>
            <a:r>
              <a:rPr lang="en-US" sz="1300" dirty="0">
                <a:solidFill>
                  <a:srgbClr val="6B6D76"/>
                </a:solidFill>
                <a:latin typeface="Calibri" pitchFamily="34" charset="0"/>
                <a:ea typeface="Calibri" pitchFamily="34" charset="-122"/>
                <a:cs typeface="Calibri" pitchFamily="34" charset="-120"/>
              </a:rPr>
              <a:t>Mapped to SoW ARGP-DIGI-APP-SOW-001 §3.4 and the Master Roadmap</a:t>
            </a:r>
            <a:endParaRPr lang="en-US" sz="1300" dirty="0"/>
          </a:p>
        </p:txBody>
      </p:sp>
      <p:pic>
        <p:nvPicPr>
          <p:cNvPr id="4" name="Image 0" descr="preencoded.png">    </p:cNvPr>
          <p:cNvPicPr>
            <a:picLocks noChangeAspect="1"/>
          </p:cNvPicPr>
          <p:nvPr/>
        </p:nvPicPr>
        <p:blipFill>
          <a:blip r:embed="rId1"/>
          <a:stretch>
            <a:fillRect/>
          </a:stretch>
        </p:blipFill>
        <p:spPr>
          <a:xfrm>
            <a:off x="11292840" y="384048"/>
            <a:ext cx="411480" cy="411480"/>
          </a:xfrm>
          <a:prstGeom prst="rect">
            <a:avLst/>
          </a:prstGeom>
        </p:spPr>
      </p:pic>
      <p:sp>
        <p:nvSpPr>
          <p:cNvPr id="5" name="Shape 2"/>
          <p:cNvSpPr/>
          <p:nvPr/>
        </p:nvSpPr>
        <p:spPr>
          <a:xfrm>
            <a:off x="566928" y="1572768"/>
            <a:ext cx="274320" cy="274320"/>
          </a:xfrm>
          <a:prstGeom prst="ellipse">
            <a:avLst/>
          </a:prstGeom>
          <a:solidFill>
            <a:srgbClr val="23242A"/>
          </a:solidFill>
          <a:ln w="12700">
            <a:solidFill>
              <a:srgbClr val="23242A"/>
            </a:solidFill>
            <a:prstDash val="solid"/>
          </a:ln>
        </p:spPr>
      </p:sp>
      <p:sp>
        <p:nvSpPr>
          <p:cNvPr id="6" name="Text 3"/>
          <p:cNvSpPr/>
          <p:nvPr/>
        </p:nvSpPr>
        <p:spPr>
          <a:xfrm>
            <a:off x="566928" y="1572768"/>
            <a:ext cx="274320" cy="274320"/>
          </a:xfrm>
          <a:prstGeom prst="rect">
            <a:avLst/>
          </a:prstGeom>
          <a:noFill/>
          <a:ln/>
        </p:spPr>
        <p:txBody>
          <a:bodyPr wrap="square" lIns="0" tIns="0" rIns="0" bIns="0" rtlCol="0" anchor="ctr"/>
          <a:lstStyle/>
          <a:p>
            <a:pPr algn="ctr" indent="0" marL="0">
              <a:buNone/>
            </a:pPr>
            <a:r>
              <a:rPr lang="en-US" sz="1080" b="1" dirty="0">
                <a:solidFill>
                  <a:srgbClr val="C9A227"/>
                </a:solidFill>
                <a:latin typeface="Calibri" pitchFamily="34" charset="0"/>
                <a:ea typeface="Calibri" pitchFamily="34" charset="-122"/>
                <a:cs typeface="Calibri" pitchFamily="34" charset="-120"/>
              </a:rPr>
              <a:t>✓</a:t>
            </a:r>
            <a:endParaRPr lang="en-US" sz="1080" dirty="0"/>
          </a:p>
        </p:txBody>
      </p:sp>
      <p:sp>
        <p:nvSpPr>
          <p:cNvPr id="7" name="Text 4"/>
          <p:cNvSpPr/>
          <p:nvPr/>
        </p:nvSpPr>
        <p:spPr>
          <a:xfrm>
            <a:off x="987552" y="1463040"/>
            <a:ext cx="4206240" cy="475488"/>
          </a:xfrm>
          <a:prstGeom prst="rect">
            <a:avLst/>
          </a:prstGeom>
          <a:noFill/>
          <a:ln/>
        </p:spPr>
        <p:txBody>
          <a:bodyPr wrap="square" lIns="0" tIns="0" rIns="0" bIns="0" rtlCol="0" anchor="ctr"/>
          <a:lstStyle/>
          <a:p>
            <a:pPr indent="0" marL="0">
              <a:buNone/>
            </a:pPr>
            <a:r>
              <a:rPr lang="en-US" sz="1300" b="1" dirty="0">
                <a:solidFill>
                  <a:srgbClr val="1F2024"/>
                </a:solidFill>
                <a:latin typeface="Calibri" pitchFamily="34" charset="0"/>
                <a:ea typeface="Calibri" pitchFamily="34" charset="-122"/>
                <a:cs typeface="Calibri" pitchFamily="34" charset="-120"/>
              </a:rPr>
              <a:t>Data residency: Kingdom of Saudi Arabia</a:t>
            </a:r>
            <a:endParaRPr lang="en-US" sz="1300" dirty="0"/>
          </a:p>
        </p:txBody>
      </p:sp>
      <p:sp>
        <p:nvSpPr>
          <p:cNvPr id="8" name="Text 5"/>
          <p:cNvSpPr/>
          <p:nvPr/>
        </p:nvSpPr>
        <p:spPr>
          <a:xfrm>
            <a:off x="5349240" y="1463040"/>
            <a:ext cx="6263640" cy="475488"/>
          </a:xfrm>
          <a:prstGeom prst="rect">
            <a:avLst/>
          </a:prstGeom>
          <a:noFill/>
          <a:ln/>
        </p:spPr>
        <p:txBody>
          <a:bodyPr wrap="square" lIns="0" tIns="0" rIns="0" bIns="0" rtlCol="0" anchor="ctr"/>
          <a:lstStyle/>
          <a:p>
            <a:pPr indent="0" marL="0">
              <a:buNone/>
            </a:pPr>
            <a:r>
              <a:rPr lang="en-US" sz="1150" dirty="0">
                <a:solidFill>
                  <a:srgbClr val="6B6D76"/>
                </a:solidFill>
                <a:latin typeface="Calibri" pitchFamily="34" charset="0"/>
                <a:ea typeface="Calibri" pitchFamily="34" charset="-122"/>
                <a:cs typeface="Calibri" pitchFamily="34" charset="-120"/>
              </a:rPr>
              <a:t>Azure App Service and Azure Database for PostgreSQL, Riyadh region. No Ma'aden production data offshore.</a:t>
            </a:r>
            <a:endParaRPr lang="en-US" sz="1150" dirty="0"/>
          </a:p>
        </p:txBody>
      </p:sp>
      <p:sp>
        <p:nvSpPr>
          <p:cNvPr id="9" name="Shape 6"/>
          <p:cNvSpPr/>
          <p:nvPr/>
        </p:nvSpPr>
        <p:spPr>
          <a:xfrm>
            <a:off x="566928" y="2194560"/>
            <a:ext cx="274320" cy="274320"/>
          </a:xfrm>
          <a:prstGeom prst="ellipse">
            <a:avLst/>
          </a:prstGeom>
          <a:solidFill>
            <a:srgbClr val="23242A"/>
          </a:solidFill>
          <a:ln w="12700">
            <a:solidFill>
              <a:srgbClr val="23242A"/>
            </a:solidFill>
            <a:prstDash val="solid"/>
          </a:ln>
        </p:spPr>
      </p:sp>
      <p:sp>
        <p:nvSpPr>
          <p:cNvPr id="10" name="Text 7"/>
          <p:cNvSpPr/>
          <p:nvPr/>
        </p:nvSpPr>
        <p:spPr>
          <a:xfrm>
            <a:off x="566928" y="2194560"/>
            <a:ext cx="274320" cy="274320"/>
          </a:xfrm>
          <a:prstGeom prst="rect">
            <a:avLst/>
          </a:prstGeom>
          <a:noFill/>
          <a:ln/>
        </p:spPr>
        <p:txBody>
          <a:bodyPr wrap="square" lIns="0" tIns="0" rIns="0" bIns="0" rtlCol="0" anchor="ctr"/>
          <a:lstStyle/>
          <a:p>
            <a:pPr algn="ctr" indent="0" marL="0">
              <a:buNone/>
            </a:pPr>
            <a:r>
              <a:rPr lang="en-US" sz="1080" b="1" dirty="0">
                <a:solidFill>
                  <a:srgbClr val="C9A227"/>
                </a:solidFill>
                <a:latin typeface="Calibri" pitchFamily="34" charset="0"/>
                <a:ea typeface="Calibri" pitchFamily="34" charset="-122"/>
                <a:cs typeface="Calibri" pitchFamily="34" charset="-120"/>
              </a:rPr>
              <a:t>✓</a:t>
            </a:r>
            <a:endParaRPr lang="en-US" sz="1080" dirty="0"/>
          </a:p>
        </p:txBody>
      </p:sp>
      <p:sp>
        <p:nvSpPr>
          <p:cNvPr id="11" name="Text 8"/>
          <p:cNvSpPr/>
          <p:nvPr/>
        </p:nvSpPr>
        <p:spPr>
          <a:xfrm>
            <a:off x="987552" y="2084832"/>
            <a:ext cx="4206240" cy="475488"/>
          </a:xfrm>
          <a:prstGeom prst="rect">
            <a:avLst/>
          </a:prstGeom>
          <a:noFill/>
          <a:ln/>
        </p:spPr>
        <p:txBody>
          <a:bodyPr wrap="square" lIns="0" tIns="0" rIns="0" bIns="0" rtlCol="0" anchor="ctr"/>
          <a:lstStyle/>
          <a:p>
            <a:pPr indent="0" marL="0">
              <a:buNone/>
            </a:pPr>
            <a:r>
              <a:rPr lang="en-US" sz="1300" b="1" dirty="0">
                <a:solidFill>
                  <a:srgbClr val="1F2024"/>
                </a:solidFill>
                <a:latin typeface="Calibri" pitchFamily="34" charset="0"/>
                <a:ea typeface="Calibri" pitchFamily="34" charset="-122"/>
                <a:cs typeface="Calibri" pitchFamily="34" charset="-120"/>
              </a:rPr>
              <a:t>Azure AD and ADFS SSO, SAML 2.0, MFA</a:t>
            </a:r>
            <a:endParaRPr lang="en-US" sz="1300" dirty="0"/>
          </a:p>
        </p:txBody>
      </p:sp>
      <p:sp>
        <p:nvSpPr>
          <p:cNvPr id="12" name="Text 9"/>
          <p:cNvSpPr/>
          <p:nvPr/>
        </p:nvSpPr>
        <p:spPr>
          <a:xfrm>
            <a:off x="5349240" y="2084832"/>
            <a:ext cx="6263640" cy="475488"/>
          </a:xfrm>
          <a:prstGeom prst="rect">
            <a:avLst/>
          </a:prstGeom>
          <a:noFill/>
          <a:ln/>
        </p:spPr>
        <p:txBody>
          <a:bodyPr wrap="square" lIns="0" tIns="0" rIns="0" bIns="0" rtlCol="0" anchor="ctr"/>
          <a:lstStyle/>
          <a:p>
            <a:pPr indent="0" marL="0">
              <a:buNone/>
            </a:pPr>
            <a:r>
              <a:rPr lang="en-US" sz="1150" dirty="0">
                <a:solidFill>
                  <a:srgbClr val="6B6D76"/>
                </a:solidFill>
                <a:latin typeface="Calibri" pitchFamily="34" charset="0"/>
                <a:ea typeface="Calibri" pitchFamily="34" charset="-122"/>
                <a:cs typeface="Calibri" pitchFamily="34" charset="-120"/>
              </a:rPr>
              <a:t>Your identity provider is the source of truth. MFA enforced. Four least-privilege roles. No local accounts.</a:t>
            </a:r>
            <a:endParaRPr lang="en-US" sz="1150" dirty="0"/>
          </a:p>
        </p:txBody>
      </p:sp>
      <p:sp>
        <p:nvSpPr>
          <p:cNvPr id="13" name="Shape 10"/>
          <p:cNvSpPr/>
          <p:nvPr/>
        </p:nvSpPr>
        <p:spPr>
          <a:xfrm>
            <a:off x="566928" y="2816352"/>
            <a:ext cx="274320" cy="274320"/>
          </a:xfrm>
          <a:prstGeom prst="ellipse">
            <a:avLst/>
          </a:prstGeom>
          <a:solidFill>
            <a:srgbClr val="23242A"/>
          </a:solidFill>
          <a:ln w="12700">
            <a:solidFill>
              <a:srgbClr val="23242A"/>
            </a:solidFill>
            <a:prstDash val="solid"/>
          </a:ln>
        </p:spPr>
      </p:sp>
      <p:sp>
        <p:nvSpPr>
          <p:cNvPr id="14" name="Text 11"/>
          <p:cNvSpPr/>
          <p:nvPr/>
        </p:nvSpPr>
        <p:spPr>
          <a:xfrm>
            <a:off x="566928" y="2816352"/>
            <a:ext cx="274320" cy="274320"/>
          </a:xfrm>
          <a:prstGeom prst="rect">
            <a:avLst/>
          </a:prstGeom>
          <a:noFill/>
          <a:ln/>
        </p:spPr>
        <p:txBody>
          <a:bodyPr wrap="square" lIns="0" tIns="0" rIns="0" bIns="0" rtlCol="0" anchor="ctr"/>
          <a:lstStyle/>
          <a:p>
            <a:pPr algn="ctr" indent="0" marL="0">
              <a:buNone/>
            </a:pPr>
            <a:r>
              <a:rPr lang="en-US" sz="1080" b="1" dirty="0">
                <a:solidFill>
                  <a:srgbClr val="C9A227"/>
                </a:solidFill>
                <a:latin typeface="Calibri" pitchFamily="34" charset="0"/>
                <a:ea typeface="Calibri" pitchFamily="34" charset="-122"/>
                <a:cs typeface="Calibri" pitchFamily="34" charset="-120"/>
              </a:rPr>
              <a:t>✓</a:t>
            </a:r>
            <a:endParaRPr lang="en-US" sz="1080" dirty="0"/>
          </a:p>
        </p:txBody>
      </p:sp>
      <p:sp>
        <p:nvSpPr>
          <p:cNvPr id="15" name="Text 12"/>
          <p:cNvSpPr/>
          <p:nvPr/>
        </p:nvSpPr>
        <p:spPr>
          <a:xfrm>
            <a:off x="987552" y="2706624"/>
            <a:ext cx="4206240" cy="475488"/>
          </a:xfrm>
          <a:prstGeom prst="rect">
            <a:avLst/>
          </a:prstGeom>
          <a:noFill/>
          <a:ln/>
        </p:spPr>
        <p:txBody>
          <a:bodyPr wrap="square" lIns="0" tIns="0" rIns="0" bIns="0" rtlCol="0" anchor="ctr"/>
          <a:lstStyle/>
          <a:p>
            <a:pPr indent="0" marL="0">
              <a:buNone/>
            </a:pPr>
            <a:r>
              <a:rPr lang="en-US" sz="1300" b="1" dirty="0">
                <a:solidFill>
                  <a:srgbClr val="1F2024"/>
                </a:solidFill>
                <a:latin typeface="Calibri" pitchFamily="34" charset="0"/>
                <a:ea typeface="Calibri" pitchFamily="34" charset="-122"/>
                <a:cs typeface="Calibri" pitchFamily="34" charset="-120"/>
              </a:rPr>
              <a:t>Encryption in transit and at rest</a:t>
            </a:r>
            <a:endParaRPr lang="en-US" sz="1300" dirty="0"/>
          </a:p>
        </p:txBody>
      </p:sp>
      <p:sp>
        <p:nvSpPr>
          <p:cNvPr id="16" name="Text 13"/>
          <p:cNvSpPr/>
          <p:nvPr/>
        </p:nvSpPr>
        <p:spPr>
          <a:xfrm>
            <a:off x="5349240" y="2706624"/>
            <a:ext cx="6263640" cy="475488"/>
          </a:xfrm>
          <a:prstGeom prst="rect">
            <a:avLst/>
          </a:prstGeom>
          <a:noFill/>
          <a:ln/>
        </p:spPr>
        <p:txBody>
          <a:bodyPr wrap="square" lIns="0" tIns="0" rIns="0" bIns="0" rtlCol="0" anchor="ctr"/>
          <a:lstStyle/>
          <a:p>
            <a:pPr indent="0" marL="0">
              <a:buNone/>
            </a:pPr>
            <a:r>
              <a:rPr lang="en-US" sz="1150" dirty="0">
                <a:solidFill>
                  <a:srgbClr val="6B6D76"/>
                </a:solidFill>
                <a:latin typeface="Calibri" pitchFamily="34" charset="0"/>
                <a:ea typeface="Calibri" pitchFamily="34" charset="-122"/>
                <a:cs typeface="Calibri" pitchFamily="34" charset="-120"/>
              </a:rPr>
              <a:t>TLS 1.2+ from browser to app to database, HSTS at the edge. Azure TDE at rest. Keys in Azure Key Vault.</a:t>
            </a:r>
            <a:endParaRPr lang="en-US" sz="1150" dirty="0"/>
          </a:p>
        </p:txBody>
      </p:sp>
      <p:sp>
        <p:nvSpPr>
          <p:cNvPr id="17" name="Shape 14"/>
          <p:cNvSpPr/>
          <p:nvPr/>
        </p:nvSpPr>
        <p:spPr>
          <a:xfrm>
            <a:off x="566928" y="3438144"/>
            <a:ext cx="274320" cy="274320"/>
          </a:xfrm>
          <a:prstGeom prst="ellipse">
            <a:avLst/>
          </a:prstGeom>
          <a:solidFill>
            <a:srgbClr val="23242A"/>
          </a:solidFill>
          <a:ln w="12700">
            <a:solidFill>
              <a:srgbClr val="23242A"/>
            </a:solidFill>
            <a:prstDash val="solid"/>
          </a:ln>
        </p:spPr>
      </p:sp>
      <p:sp>
        <p:nvSpPr>
          <p:cNvPr id="18" name="Text 15"/>
          <p:cNvSpPr/>
          <p:nvPr/>
        </p:nvSpPr>
        <p:spPr>
          <a:xfrm>
            <a:off x="566928" y="3438144"/>
            <a:ext cx="274320" cy="274320"/>
          </a:xfrm>
          <a:prstGeom prst="rect">
            <a:avLst/>
          </a:prstGeom>
          <a:noFill/>
          <a:ln/>
        </p:spPr>
        <p:txBody>
          <a:bodyPr wrap="square" lIns="0" tIns="0" rIns="0" bIns="0" rtlCol="0" anchor="ctr"/>
          <a:lstStyle/>
          <a:p>
            <a:pPr algn="ctr" indent="0" marL="0">
              <a:buNone/>
            </a:pPr>
            <a:r>
              <a:rPr lang="en-US" sz="1080" b="1" dirty="0">
                <a:solidFill>
                  <a:srgbClr val="C9A227"/>
                </a:solidFill>
                <a:latin typeface="Calibri" pitchFamily="34" charset="0"/>
                <a:ea typeface="Calibri" pitchFamily="34" charset="-122"/>
                <a:cs typeface="Calibri" pitchFamily="34" charset="-120"/>
              </a:rPr>
              <a:t>✓</a:t>
            </a:r>
            <a:endParaRPr lang="en-US" sz="1080" dirty="0"/>
          </a:p>
        </p:txBody>
      </p:sp>
      <p:sp>
        <p:nvSpPr>
          <p:cNvPr id="19" name="Text 16"/>
          <p:cNvSpPr/>
          <p:nvPr/>
        </p:nvSpPr>
        <p:spPr>
          <a:xfrm>
            <a:off x="987552" y="3328416"/>
            <a:ext cx="4206240" cy="475488"/>
          </a:xfrm>
          <a:prstGeom prst="rect">
            <a:avLst/>
          </a:prstGeom>
          <a:noFill/>
          <a:ln/>
        </p:spPr>
        <p:txBody>
          <a:bodyPr wrap="square" lIns="0" tIns="0" rIns="0" bIns="0" rtlCol="0" anchor="ctr"/>
          <a:lstStyle/>
          <a:p>
            <a:pPr indent="0" marL="0">
              <a:buNone/>
            </a:pPr>
            <a:r>
              <a:rPr lang="en-US" sz="1300" b="1" dirty="0">
                <a:solidFill>
                  <a:srgbClr val="1F2024"/>
                </a:solidFill>
                <a:latin typeface="Calibri" pitchFamily="34" charset="0"/>
                <a:ea typeface="Calibri" pitchFamily="34" charset="-122"/>
                <a:cs typeface="Calibri" pitchFamily="34" charset="-120"/>
              </a:rPr>
              <a:t>SIEM integration</a:t>
            </a:r>
            <a:endParaRPr lang="en-US" sz="1300" dirty="0"/>
          </a:p>
        </p:txBody>
      </p:sp>
      <p:sp>
        <p:nvSpPr>
          <p:cNvPr id="20" name="Text 17"/>
          <p:cNvSpPr/>
          <p:nvPr/>
        </p:nvSpPr>
        <p:spPr>
          <a:xfrm>
            <a:off x="5349240" y="3328416"/>
            <a:ext cx="6263640" cy="475488"/>
          </a:xfrm>
          <a:prstGeom prst="rect">
            <a:avLst/>
          </a:prstGeom>
          <a:noFill/>
          <a:ln/>
        </p:spPr>
        <p:txBody>
          <a:bodyPr wrap="square" lIns="0" tIns="0" rIns="0" bIns="0" rtlCol="0" anchor="ctr"/>
          <a:lstStyle/>
          <a:p>
            <a:pPr indent="0" marL="0">
              <a:buNone/>
            </a:pPr>
            <a:r>
              <a:rPr lang="en-US" sz="1150" dirty="0">
                <a:solidFill>
                  <a:srgbClr val="6B6D76"/>
                </a:solidFill>
                <a:latin typeface="Calibri" pitchFamily="34" charset="0"/>
                <a:ea typeface="Calibri" pitchFamily="34" charset="-122"/>
                <a:cs typeface="Calibri" pitchFamily="34" charset="-120"/>
              </a:rPr>
              <a:t>Production security events forwarded to Ma'aden's Azure Sentinel.</a:t>
            </a:r>
            <a:endParaRPr lang="en-US" sz="1150" dirty="0"/>
          </a:p>
        </p:txBody>
      </p:sp>
      <p:sp>
        <p:nvSpPr>
          <p:cNvPr id="21" name="Shape 18"/>
          <p:cNvSpPr/>
          <p:nvPr/>
        </p:nvSpPr>
        <p:spPr>
          <a:xfrm>
            <a:off x="566928" y="4059936"/>
            <a:ext cx="274320" cy="274320"/>
          </a:xfrm>
          <a:prstGeom prst="ellipse">
            <a:avLst/>
          </a:prstGeom>
          <a:solidFill>
            <a:srgbClr val="23242A"/>
          </a:solidFill>
          <a:ln w="12700">
            <a:solidFill>
              <a:srgbClr val="23242A"/>
            </a:solidFill>
            <a:prstDash val="solid"/>
          </a:ln>
        </p:spPr>
      </p:sp>
      <p:sp>
        <p:nvSpPr>
          <p:cNvPr id="22" name="Text 19"/>
          <p:cNvSpPr/>
          <p:nvPr/>
        </p:nvSpPr>
        <p:spPr>
          <a:xfrm>
            <a:off x="566928" y="4059936"/>
            <a:ext cx="274320" cy="274320"/>
          </a:xfrm>
          <a:prstGeom prst="rect">
            <a:avLst/>
          </a:prstGeom>
          <a:noFill/>
          <a:ln/>
        </p:spPr>
        <p:txBody>
          <a:bodyPr wrap="square" lIns="0" tIns="0" rIns="0" bIns="0" rtlCol="0" anchor="ctr"/>
          <a:lstStyle/>
          <a:p>
            <a:pPr algn="ctr" indent="0" marL="0">
              <a:buNone/>
            </a:pPr>
            <a:r>
              <a:rPr lang="en-US" sz="1080" b="1" dirty="0">
                <a:solidFill>
                  <a:srgbClr val="C9A227"/>
                </a:solidFill>
                <a:latin typeface="Calibri" pitchFamily="34" charset="0"/>
                <a:ea typeface="Calibri" pitchFamily="34" charset="-122"/>
                <a:cs typeface="Calibri" pitchFamily="34" charset="-120"/>
              </a:rPr>
              <a:t>✓</a:t>
            </a:r>
            <a:endParaRPr lang="en-US" sz="1080" dirty="0"/>
          </a:p>
        </p:txBody>
      </p:sp>
      <p:sp>
        <p:nvSpPr>
          <p:cNvPr id="23" name="Text 20"/>
          <p:cNvSpPr/>
          <p:nvPr/>
        </p:nvSpPr>
        <p:spPr>
          <a:xfrm>
            <a:off x="987552" y="3950208"/>
            <a:ext cx="4206240" cy="475488"/>
          </a:xfrm>
          <a:prstGeom prst="rect">
            <a:avLst/>
          </a:prstGeom>
          <a:noFill/>
          <a:ln/>
        </p:spPr>
        <p:txBody>
          <a:bodyPr wrap="square" lIns="0" tIns="0" rIns="0" bIns="0" rtlCol="0" anchor="ctr"/>
          <a:lstStyle/>
          <a:p>
            <a:pPr indent="0" marL="0">
              <a:buNone/>
            </a:pPr>
            <a:r>
              <a:rPr lang="en-US" sz="1300" b="1" dirty="0">
                <a:solidFill>
                  <a:srgbClr val="1F2024"/>
                </a:solidFill>
                <a:latin typeface="Calibri" pitchFamily="34" charset="0"/>
                <a:ea typeface="Calibri" pitchFamily="34" charset="-122"/>
                <a:cs typeface="Calibri" pitchFamily="34" charset="-120"/>
              </a:rPr>
              <a:t>Immutable audit trail (§3.1.4)</a:t>
            </a:r>
            <a:endParaRPr lang="en-US" sz="1300" dirty="0"/>
          </a:p>
        </p:txBody>
      </p:sp>
      <p:sp>
        <p:nvSpPr>
          <p:cNvPr id="24" name="Text 21"/>
          <p:cNvSpPr/>
          <p:nvPr/>
        </p:nvSpPr>
        <p:spPr>
          <a:xfrm>
            <a:off x="5349240" y="3950208"/>
            <a:ext cx="6263640" cy="475488"/>
          </a:xfrm>
          <a:prstGeom prst="rect">
            <a:avLst/>
          </a:prstGeom>
          <a:noFill/>
          <a:ln/>
        </p:spPr>
        <p:txBody>
          <a:bodyPr wrap="square" lIns="0" tIns="0" rIns="0" bIns="0" rtlCol="0" anchor="ctr"/>
          <a:lstStyle/>
          <a:p>
            <a:pPr indent="0" marL="0">
              <a:buNone/>
            </a:pPr>
            <a:r>
              <a:rPr lang="en-US" sz="1150" dirty="0">
                <a:solidFill>
                  <a:srgbClr val="6B6D76"/>
                </a:solidFill>
                <a:latin typeface="Calibri" pitchFamily="34" charset="0"/>
                <a:ea typeface="Calibri" pitchFamily="34" charset="-122"/>
                <a:cs typeface="Calibri" pitchFamily="34" charset="-120"/>
              </a:rPr>
              <a:t>Who, what, before and after, when. Enforced in the platform, not a convention.</a:t>
            </a:r>
            <a:endParaRPr lang="en-US" sz="1150" dirty="0"/>
          </a:p>
        </p:txBody>
      </p:sp>
      <p:sp>
        <p:nvSpPr>
          <p:cNvPr id="25" name="Shape 22"/>
          <p:cNvSpPr/>
          <p:nvPr/>
        </p:nvSpPr>
        <p:spPr>
          <a:xfrm>
            <a:off x="566928" y="4681728"/>
            <a:ext cx="274320" cy="274320"/>
          </a:xfrm>
          <a:prstGeom prst="ellipse">
            <a:avLst/>
          </a:prstGeom>
          <a:solidFill>
            <a:srgbClr val="23242A"/>
          </a:solidFill>
          <a:ln w="12700">
            <a:solidFill>
              <a:srgbClr val="23242A"/>
            </a:solidFill>
            <a:prstDash val="solid"/>
          </a:ln>
        </p:spPr>
      </p:sp>
      <p:sp>
        <p:nvSpPr>
          <p:cNvPr id="26" name="Text 23"/>
          <p:cNvSpPr/>
          <p:nvPr/>
        </p:nvSpPr>
        <p:spPr>
          <a:xfrm>
            <a:off x="566928" y="4681728"/>
            <a:ext cx="274320" cy="274320"/>
          </a:xfrm>
          <a:prstGeom prst="rect">
            <a:avLst/>
          </a:prstGeom>
          <a:noFill/>
          <a:ln/>
        </p:spPr>
        <p:txBody>
          <a:bodyPr wrap="square" lIns="0" tIns="0" rIns="0" bIns="0" rtlCol="0" anchor="ctr"/>
          <a:lstStyle/>
          <a:p>
            <a:pPr algn="ctr" indent="0" marL="0">
              <a:buNone/>
            </a:pPr>
            <a:r>
              <a:rPr lang="en-US" sz="1080" b="1" dirty="0">
                <a:solidFill>
                  <a:srgbClr val="C9A227"/>
                </a:solidFill>
                <a:latin typeface="Calibri" pitchFamily="34" charset="0"/>
                <a:ea typeface="Calibri" pitchFamily="34" charset="-122"/>
                <a:cs typeface="Calibri" pitchFamily="34" charset="-120"/>
              </a:rPr>
              <a:t>✓</a:t>
            </a:r>
            <a:endParaRPr lang="en-US" sz="1080" dirty="0"/>
          </a:p>
        </p:txBody>
      </p:sp>
      <p:sp>
        <p:nvSpPr>
          <p:cNvPr id="27" name="Text 24"/>
          <p:cNvSpPr/>
          <p:nvPr/>
        </p:nvSpPr>
        <p:spPr>
          <a:xfrm>
            <a:off x="987552" y="4572000"/>
            <a:ext cx="4206240" cy="475488"/>
          </a:xfrm>
          <a:prstGeom prst="rect">
            <a:avLst/>
          </a:prstGeom>
          <a:noFill/>
          <a:ln/>
        </p:spPr>
        <p:txBody>
          <a:bodyPr wrap="square" lIns="0" tIns="0" rIns="0" bIns="0" rtlCol="0" anchor="ctr"/>
          <a:lstStyle/>
          <a:p>
            <a:pPr indent="0" marL="0">
              <a:buNone/>
            </a:pPr>
            <a:r>
              <a:rPr lang="en-US" sz="1300" b="1" dirty="0">
                <a:solidFill>
                  <a:srgbClr val="1F2024"/>
                </a:solidFill>
                <a:latin typeface="Calibri" pitchFamily="34" charset="0"/>
                <a:ea typeface="Calibri" pitchFamily="34" charset="-122"/>
                <a:cs typeface="Calibri" pitchFamily="34" charset="-120"/>
              </a:rPr>
              <a:t>RESTful APIs with access control (§3.4.4)</a:t>
            </a:r>
            <a:endParaRPr lang="en-US" sz="1300" dirty="0"/>
          </a:p>
        </p:txBody>
      </p:sp>
      <p:sp>
        <p:nvSpPr>
          <p:cNvPr id="28" name="Text 25"/>
          <p:cNvSpPr/>
          <p:nvPr/>
        </p:nvSpPr>
        <p:spPr>
          <a:xfrm>
            <a:off x="5349240" y="4572000"/>
            <a:ext cx="6263640" cy="475488"/>
          </a:xfrm>
          <a:prstGeom prst="rect">
            <a:avLst/>
          </a:prstGeom>
          <a:noFill/>
          <a:ln/>
        </p:spPr>
        <p:txBody>
          <a:bodyPr wrap="square" lIns="0" tIns="0" rIns="0" bIns="0" rtlCol="0" anchor="ctr"/>
          <a:lstStyle/>
          <a:p>
            <a:pPr indent="0" marL="0">
              <a:buNone/>
            </a:pPr>
            <a:r>
              <a:rPr lang="en-US" sz="1150" dirty="0">
                <a:solidFill>
                  <a:srgbClr val="6B6D76"/>
                </a:solidFill>
                <a:latin typeface="Calibri" pitchFamily="34" charset="0"/>
                <a:ea typeface="Calibri" pitchFamily="34" charset="-122"/>
                <a:cs typeface="Calibri" pitchFamily="34" charset="-120"/>
              </a:rPr>
              <a:t>OpenAPI spec published. Every mutating route is role-gated server-side.</a:t>
            </a:r>
            <a:endParaRPr lang="en-US" sz="1150" dirty="0"/>
          </a:p>
        </p:txBody>
      </p:sp>
      <p:sp>
        <p:nvSpPr>
          <p:cNvPr id="29" name="Shape 26"/>
          <p:cNvSpPr/>
          <p:nvPr/>
        </p:nvSpPr>
        <p:spPr>
          <a:xfrm>
            <a:off x="548640" y="5349240"/>
            <a:ext cx="11064240" cy="777240"/>
          </a:xfrm>
          <a:prstGeom prst="roundRect">
            <a:avLst>
              <a:gd name="adj" fmla="val 9412"/>
            </a:avLst>
          </a:prstGeom>
          <a:solidFill>
            <a:srgbClr val="F4F3F0"/>
          </a:solidFill>
          <a:ln w="9525">
            <a:solidFill>
              <a:srgbClr val="E3E1DA"/>
            </a:solidFill>
            <a:prstDash val="solid"/>
          </a:ln>
        </p:spPr>
      </p:sp>
      <p:sp>
        <p:nvSpPr>
          <p:cNvPr id="30" name="Text 27"/>
          <p:cNvSpPr/>
          <p:nvPr/>
        </p:nvSpPr>
        <p:spPr>
          <a:xfrm>
            <a:off x="777240" y="5440680"/>
            <a:ext cx="10607040" cy="594360"/>
          </a:xfrm>
          <a:prstGeom prst="rect">
            <a:avLst/>
          </a:prstGeom>
          <a:noFill/>
          <a:ln/>
        </p:spPr>
        <p:txBody>
          <a:bodyPr wrap="square" lIns="0" tIns="0" rIns="0" bIns="0" rtlCol="0" anchor="ctr"/>
          <a:lstStyle/>
          <a:p>
            <a:pPr indent="0" marL="0">
              <a:buNone/>
            </a:pPr>
            <a:r>
              <a:rPr lang="en-US" sz="1150" dirty="0">
                <a:solidFill>
                  <a:srgbClr val="1F2024"/>
                </a:solidFill>
                <a:latin typeface="Calibri" pitchFamily="34" charset="0"/>
                <a:ea typeface="Calibri" pitchFamily="34" charset="-122"/>
                <a:cs typeface="Calibri" pitchFamily="34" charset="-120"/>
              </a:rPr>
              <a:t>Each of these is a requirement Ma'aden set in the Statement of Work. This pack states how we satisfy it, and document 03 states how it is proven before go-live.</a:t>
            </a:r>
            <a:endParaRPr lang="en-US" sz="1150" dirty="0"/>
          </a:p>
        </p:txBody>
      </p:sp>
      <p:sp>
        <p:nvSpPr>
          <p:cNvPr id="31" name="Text 28"/>
          <p:cNvSpPr/>
          <p:nvPr/>
        </p:nvSpPr>
        <p:spPr>
          <a:xfrm>
            <a:off x="548640" y="6327648"/>
            <a:ext cx="11064240" cy="274320"/>
          </a:xfrm>
          <a:prstGeom prst="rect">
            <a:avLst/>
          </a:prstGeom>
          <a:noFill/>
          <a:ln/>
        </p:spPr>
        <p:txBody>
          <a:bodyPr wrap="square" lIns="0" tIns="0" rIns="0" bIns="0" rtlCol="0" anchor="ctr"/>
          <a:lstStyle/>
          <a:p>
            <a:pPr indent="0" marL="0">
              <a:buNone/>
            </a:pPr>
            <a:r>
              <a:rPr lang="en-US" sz="900" dirty="0">
                <a:solidFill>
                  <a:srgbClr val="6B6D76"/>
                </a:solidFill>
                <a:latin typeface="Calibri" pitchFamily="34" charset="0"/>
                <a:ea typeface="Calibri" pitchFamily="34" charset="-122"/>
                <a:cs typeface="Calibri" pitchFamily="34" charset="-120"/>
              </a:rPr>
              <a:t>XD House   |   Ma'aden ARGP Security &amp; Assurance   |   15 July 2026</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9692640" cy="548640"/>
          </a:xfrm>
          <a:prstGeom prst="rect">
            <a:avLst/>
          </a:prstGeom>
          <a:noFill/>
          <a:ln/>
        </p:spPr>
        <p:txBody>
          <a:bodyPr wrap="square" lIns="0" tIns="0" rIns="0" bIns="0" rtlCol="0" anchor="ctr"/>
          <a:lstStyle/>
          <a:p>
            <a:pPr indent="0" marL="0">
              <a:buNone/>
            </a:pPr>
            <a:r>
              <a:rPr lang="en-US" sz="3000" b="1" dirty="0">
                <a:solidFill>
                  <a:srgbClr val="1F2024"/>
                </a:solidFill>
                <a:latin typeface="Cambria" pitchFamily="34" charset="0"/>
                <a:ea typeface="Cambria" pitchFamily="34" charset="-122"/>
                <a:cs typeface="Cambria" pitchFamily="34" charset="-120"/>
              </a:rPr>
              <a:t>Protecting the integrity of your data</a:t>
            </a:r>
            <a:endParaRPr lang="en-US" sz="3000" dirty="0"/>
          </a:p>
        </p:txBody>
      </p:sp>
      <p:sp>
        <p:nvSpPr>
          <p:cNvPr id="3" name="Text 1"/>
          <p:cNvSpPr/>
          <p:nvPr/>
        </p:nvSpPr>
        <p:spPr>
          <a:xfrm>
            <a:off x="548640" y="914400"/>
            <a:ext cx="9692640" cy="292608"/>
          </a:xfrm>
          <a:prstGeom prst="rect">
            <a:avLst/>
          </a:prstGeom>
          <a:noFill/>
          <a:ln/>
        </p:spPr>
        <p:txBody>
          <a:bodyPr wrap="square" lIns="0" tIns="0" rIns="0" bIns="0" rtlCol="0" anchor="ctr"/>
          <a:lstStyle/>
          <a:p>
            <a:pPr indent="0" marL="0">
              <a:buNone/>
            </a:pPr>
            <a:r>
              <a:rPr lang="en-US" sz="1300" dirty="0">
                <a:solidFill>
                  <a:srgbClr val="6B6D76"/>
                </a:solidFill>
                <a:latin typeface="Calibri" pitchFamily="34" charset="0"/>
                <a:ea typeface="Calibri" pitchFamily="34" charset="-122"/>
                <a:cs typeface="Calibri" pitchFamily="34" charset="-120"/>
              </a:rPr>
              <a:t>Beyond infrastructure: governed engineering data cannot be quietly altered</a:t>
            </a:r>
            <a:endParaRPr lang="en-US" sz="1300" dirty="0"/>
          </a:p>
        </p:txBody>
      </p:sp>
      <p:pic>
        <p:nvPicPr>
          <p:cNvPr id="4" name="Image 0" descr="preencoded.png">    </p:cNvPr>
          <p:cNvPicPr>
            <a:picLocks noChangeAspect="1"/>
          </p:cNvPicPr>
          <p:nvPr/>
        </p:nvPicPr>
        <p:blipFill>
          <a:blip r:embed="rId1"/>
          <a:stretch>
            <a:fillRect/>
          </a:stretch>
        </p:blipFill>
        <p:spPr>
          <a:xfrm>
            <a:off x="11292840" y="384048"/>
            <a:ext cx="411480" cy="411480"/>
          </a:xfrm>
          <a:prstGeom prst="rect">
            <a:avLst/>
          </a:prstGeom>
        </p:spPr>
      </p:pic>
      <p:sp>
        <p:nvSpPr>
          <p:cNvPr id="5" name="Shape 2"/>
          <p:cNvSpPr/>
          <p:nvPr/>
        </p:nvSpPr>
        <p:spPr>
          <a:xfrm>
            <a:off x="548640" y="1554480"/>
            <a:ext cx="11064240" cy="1005840"/>
          </a:xfrm>
          <a:prstGeom prst="roundRect">
            <a:avLst>
              <a:gd name="adj" fmla="val 7273"/>
            </a:avLst>
          </a:prstGeom>
          <a:solidFill>
            <a:srgbClr val="F4F3F0"/>
          </a:solidFill>
          <a:ln w="9525">
            <a:solidFill>
              <a:srgbClr val="E3E1DA"/>
            </a:solidFill>
            <a:prstDash val="solid"/>
          </a:ln>
        </p:spPr>
      </p:sp>
      <p:sp>
        <p:nvSpPr>
          <p:cNvPr id="6" name="Shape 3"/>
          <p:cNvSpPr/>
          <p:nvPr/>
        </p:nvSpPr>
        <p:spPr>
          <a:xfrm>
            <a:off x="777240" y="1865376"/>
            <a:ext cx="384048" cy="384048"/>
          </a:xfrm>
          <a:prstGeom prst="ellipse">
            <a:avLst/>
          </a:prstGeom>
          <a:solidFill>
            <a:srgbClr val="E5F2E6"/>
          </a:solidFill>
          <a:ln w="12700">
            <a:solidFill>
              <a:srgbClr val="E5F2E6"/>
            </a:solidFill>
            <a:prstDash val="solid"/>
          </a:ln>
        </p:spPr>
      </p:sp>
      <p:sp>
        <p:nvSpPr>
          <p:cNvPr id="7" name="Text 4"/>
          <p:cNvSpPr/>
          <p:nvPr/>
        </p:nvSpPr>
        <p:spPr>
          <a:xfrm>
            <a:off x="777240" y="1865376"/>
            <a:ext cx="384048" cy="384048"/>
          </a:xfrm>
          <a:prstGeom prst="rect">
            <a:avLst/>
          </a:prstGeom>
          <a:noFill/>
          <a:ln/>
        </p:spPr>
        <p:txBody>
          <a:bodyPr wrap="square" lIns="0" tIns="0" rIns="0" bIns="0" rtlCol="0" anchor="ctr"/>
          <a:lstStyle/>
          <a:p>
            <a:pPr algn="ctr" indent="0" marL="0">
              <a:buNone/>
            </a:pPr>
            <a:r>
              <a:rPr lang="en-US" sz="1512" b="1" dirty="0">
                <a:solidFill>
                  <a:srgbClr val="2E7D32"/>
                </a:solidFill>
                <a:latin typeface="Calibri" pitchFamily="34" charset="0"/>
                <a:ea typeface="Calibri" pitchFamily="34" charset="-122"/>
                <a:cs typeface="Calibri" pitchFamily="34" charset="-120"/>
              </a:rPr>
              <a:t>✓</a:t>
            </a:r>
            <a:endParaRPr lang="en-US" sz="1512" dirty="0"/>
          </a:p>
        </p:txBody>
      </p:sp>
      <p:sp>
        <p:nvSpPr>
          <p:cNvPr id="8" name="Text 5"/>
          <p:cNvSpPr/>
          <p:nvPr/>
        </p:nvSpPr>
        <p:spPr>
          <a:xfrm>
            <a:off x="1325880" y="1700784"/>
            <a:ext cx="3291840" cy="274320"/>
          </a:xfrm>
          <a:prstGeom prst="rect">
            <a:avLst/>
          </a:prstGeom>
          <a:noFill/>
          <a:ln/>
        </p:spPr>
        <p:txBody>
          <a:bodyPr wrap="square" lIns="0" tIns="0" rIns="0" bIns="0" rtlCol="0" anchor="ctr"/>
          <a:lstStyle/>
          <a:p>
            <a:pPr indent="0" marL="0">
              <a:buNone/>
            </a:pPr>
            <a:r>
              <a:rPr lang="en-US" sz="1350" b="1" dirty="0">
                <a:solidFill>
                  <a:srgbClr val="1F2024"/>
                </a:solidFill>
                <a:latin typeface="Calibri" pitchFamily="34" charset="0"/>
                <a:ea typeface="Calibri" pitchFamily="34" charset="-122"/>
                <a:cs typeface="Calibri" pitchFamily="34" charset="-120"/>
              </a:rPr>
              <a:t>Immutable audit trail</a:t>
            </a:r>
            <a:endParaRPr lang="en-US" sz="1350" dirty="0"/>
          </a:p>
        </p:txBody>
      </p:sp>
      <p:sp>
        <p:nvSpPr>
          <p:cNvPr id="9" name="Text 6"/>
          <p:cNvSpPr/>
          <p:nvPr/>
        </p:nvSpPr>
        <p:spPr>
          <a:xfrm>
            <a:off x="4754880" y="1682496"/>
            <a:ext cx="6675120" cy="731520"/>
          </a:xfrm>
          <a:prstGeom prst="rect">
            <a:avLst/>
          </a:prstGeom>
          <a:noFill/>
          <a:ln/>
        </p:spPr>
        <p:txBody>
          <a:bodyPr wrap="square" lIns="0" tIns="0" rIns="0" bIns="0" rtlCol="0" anchor="ctr"/>
          <a:lstStyle/>
          <a:p>
            <a:pPr indent="0" marL="0">
              <a:lnSpc>
                <a:spcPts val="1500"/>
              </a:lnSpc>
              <a:buNone/>
            </a:pPr>
            <a:r>
              <a:rPr lang="en-US" sz="1150" dirty="0">
                <a:solidFill>
                  <a:srgbClr val="6B6D76"/>
                </a:solidFill>
                <a:latin typeface="Calibri" pitchFamily="34" charset="0"/>
                <a:ea typeface="Calibri" pitchFamily="34" charset="-122"/>
                <a:cs typeface="Calibri" pitchFamily="34" charset="-120"/>
              </a:rPr>
              <a:t>Every change records who did it, what changed, the value before and after, and when. The trail cannot be edited from the application. This is the control SoW §3.1.4 requires.</a:t>
            </a:r>
            <a:endParaRPr lang="en-US" sz="1150" dirty="0"/>
          </a:p>
        </p:txBody>
      </p:sp>
      <p:sp>
        <p:nvSpPr>
          <p:cNvPr id="10" name="Shape 7"/>
          <p:cNvSpPr/>
          <p:nvPr/>
        </p:nvSpPr>
        <p:spPr>
          <a:xfrm>
            <a:off x="548640" y="2670048"/>
            <a:ext cx="11064240" cy="1005840"/>
          </a:xfrm>
          <a:prstGeom prst="roundRect">
            <a:avLst>
              <a:gd name="adj" fmla="val 7273"/>
            </a:avLst>
          </a:prstGeom>
          <a:solidFill>
            <a:srgbClr val="F4F3F0"/>
          </a:solidFill>
          <a:ln w="9525">
            <a:solidFill>
              <a:srgbClr val="E3E1DA"/>
            </a:solidFill>
            <a:prstDash val="solid"/>
          </a:ln>
        </p:spPr>
      </p:sp>
      <p:sp>
        <p:nvSpPr>
          <p:cNvPr id="11" name="Shape 8"/>
          <p:cNvSpPr/>
          <p:nvPr/>
        </p:nvSpPr>
        <p:spPr>
          <a:xfrm>
            <a:off x="777240" y="2980944"/>
            <a:ext cx="384048" cy="384048"/>
          </a:xfrm>
          <a:prstGeom prst="ellipse">
            <a:avLst/>
          </a:prstGeom>
          <a:solidFill>
            <a:srgbClr val="E5F2E6"/>
          </a:solidFill>
          <a:ln w="12700">
            <a:solidFill>
              <a:srgbClr val="E5F2E6"/>
            </a:solidFill>
            <a:prstDash val="solid"/>
          </a:ln>
        </p:spPr>
      </p:sp>
      <p:sp>
        <p:nvSpPr>
          <p:cNvPr id="12" name="Text 9"/>
          <p:cNvSpPr/>
          <p:nvPr/>
        </p:nvSpPr>
        <p:spPr>
          <a:xfrm>
            <a:off x="777240" y="2980944"/>
            <a:ext cx="384048" cy="384048"/>
          </a:xfrm>
          <a:prstGeom prst="rect">
            <a:avLst/>
          </a:prstGeom>
          <a:noFill/>
          <a:ln/>
        </p:spPr>
        <p:txBody>
          <a:bodyPr wrap="square" lIns="0" tIns="0" rIns="0" bIns="0" rtlCol="0" anchor="ctr"/>
          <a:lstStyle/>
          <a:p>
            <a:pPr algn="ctr" indent="0" marL="0">
              <a:buNone/>
            </a:pPr>
            <a:r>
              <a:rPr lang="en-US" sz="1512" b="1" dirty="0">
                <a:solidFill>
                  <a:srgbClr val="2E7D32"/>
                </a:solidFill>
                <a:latin typeface="Calibri" pitchFamily="34" charset="0"/>
                <a:ea typeface="Calibri" pitchFamily="34" charset="-122"/>
                <a:cs typeface="Calibri" pitchFamily="34" charset="-120"/>
              </a:rPr>
              <a:t>✓</a:t>
            </a:r>
            <a:endParaRPr lang="en-US" sz="1512" dirty="0"/>
          </a:p>
        </p:txBody>
      </p:sp>
      <p:sp>
        <p:nvSpPr>
          <p:cNvPr id="13" name="Text 10"/>
          <p:cNvSpPr/>
          <p:nvPr/>
        </p:nvSpPr>
        <p:spPr>
          <a:xfrm>
            <a:off x="1325880" y="2816352"/>
            <a:ext cx="3291840" cy="274320"/>
          </a:xfrm>
          <a:prstGeom prst="rect">
            <a:avLst/>
          </a:prstGeom>
          <a:noFill/>
          <a:ln/>
        </p:spPr>
        <p:txBody>
          <a:bodyPr wrap="square" lIns="0" tIns="0" rIns="0" bIns="0" rtlCol="0" anchor="ctr"/>
          <a:lstStyle/>
          <a:p>
            <a:pPr indent="0" marL="0">
              <a:buNone/>
            </a:pPr>
            <a:r>
              <a:rPr lang="en-US" sz="1350" b="1" dirty="0">
                <a:solidFill>
                  <a:srgbClr val="1F2024"/>
                </a:solidFill>
                <a:latin typeface="Calibri" pitchFamily="34" charset="0"/>
                <a:ea typeface="Calibri" pitchFamily="34" charset="-122"/>
                <a:cs typeface="Calibri" pitchFamily="34" charset="-120"/>
              </a:rPr>
              <a:t>Approved data is immutable</a:t>
            </a:r>
            <a:endParaRPr lang="en-US" sz="1350" dirty="0"/>
          </a:p>
        </p:txBody>
      </p:sp>
      <p:sp>
        <p:nvSpPr>
          <p:cNvPr id="14" name="Text 11"/>
          <p:cNvSpPr/>
          <p:nvPr/>
        </p:nvSpPr>
        <p:spPr>
          <a:xfrm>
            <a:off x="4754880" y="2798064"/>
            <a:ext cx="6675120" cy="731520"/>
          </a:xfrm>
          <a:prstGeom prst="rect">
            <a:avLst/>
          </a:prstGeom>
          <a:noFill/>
          <a:ln/>
        </p:spPr>
        <p:txBody>
          <a:bodyPr wrap="square" lIns="0" tIns="0" rIns="0" bIns="0" rtlCol="0" anchor="ctr"/>
          <a:lstStyle/>
          <a:p>
            <a:pPr indent="0" marL="0">
              <a:lnSpc>
                <a:spcPts val="1500"/>
              </a:lnSpc>
              <a:buNone/>
            </a:pPr>
            <a:r>
              <a:rPr lang="en-US" sz="1150" dirty="0">
                <a:solidFill>
                  <a:srgbClr val="6B6D76"/>
                </a:solidFill>
                <a:latin typeface="Calibri" pitchFamily="34" charset="0"/>
                <a:ea typeface="Calibri" pitchFamily="34" charset="-122"/>
                <a:cs typeface="Calibri" pitchFamily="34" charset="-120"/>
              </a:rPr>
              <a:t>A change to an Approved asset creates a new revision and forces re-validation. There is no path to silently overwrite approved engineering data.</a:t>
            </a:r>
            <a:endParaRPr lang="en-US" sz="1150" dirty="0"/>
          </a:p>
        </p:txBody>
      </p:sp>
      <p:sp>
        <p:nvSpPr>
          <p:cNvPr id="15" name="Shape 12"/>
          <p:cNvSpPr/>
          <p:nvPr/>
        </p:nvSpPr>
        <p:spPr>
          <a:xfrm>
            <a:off x="548640" y="3785616"/>
            <a:ext cx="11064240" cy="1005840"/>
          </a:xfrm>
          <a:prstGeom prst="roundRect">
            <a:avLst>
              <a:gd name="adj" fmla="val 7273"/>
            </a:avLst>
          </a:prstGeom>
          <a:solidFill>
            <a:srgbClr val="F4F3F0"/>
          </a:solidFill>
          <a:ln w="9525">
            <a:solidFill>
              <a:srgbClr val="E3E1DA"/>
            </a:solidFill>
            <a:prstDash val="solid"/>
          </a:ln>
        </p:spPr>
      </p:sp>
      <p:sp>
        <p:nvSpPr>
          <p:cNvPr id="16" name="Shape 13"/>
          <p:cNvSpPr/>
          <p:nvPr/>
        </p:nvSpPr>
        <p:spPr>
          <a:xfrm>
            <a:off x="777240" y="4096512"/>
            <a:ext cx="384048" cy="384048"/>
          </a:xfrm>
          <a:prstGeom prst="ellipse">
            <a:avLst/>
          </a:prstGeom>
          <a:solidFill>
            <a:srgbClr val="E5F2E6"/>
          </a:solidFill>
          <a:ln w="12700">
            <a:solidFill>
              <a:srgbClr val="E5F2E6"/>
            </a:solidFill>
            <a:prstDash val="solid"/>
          </a:ln>
        </p:spPr>
      </p:sp>
      <p:sp>
        <p:nvSpPr>
          <p:cNvPr id="17" name="Text 14"/>
          <p:cNvSpPr/>
          <p:nvPr/>
        </p:nvSpPr>
        <p:spPr>
          <a:xfrm>
            <a:off x="777240" y="4096512"/>
            <a:ext cx="384048" cy="384048"/>
          </a:xfrm>
          <a:prstGeom prst="rect">
            <a:avLst/>
          </a:prstGeom>
          <a:noFill/>
          <a:ln/>
        </p:spPr>
        <p:txBody>
          <a:bodyPr wrap="square" lIns="0" tIns="0" rIns="0" bIns="0" rtlCol="0" anchor="ctr"/>
          <a:lstStyle/>
          <a:p>
            <a:pPr algn="ctr" indent="0" marL="0">
              <a:buNone/>
            </a:pPr>
            <a:r>
              <a:rPr lang="en-US" sz="1512" b="1" dirty="0">
                <a:solidFill>
                  <a:srgbClr val="2E7D32"/>
                </a:solidFill>
                <a:latin typeface="Calibri" pitchFamily="34" charset="0"/>
                <a:ea typeface="Calibri" pitchFamily="34" charset="-122"/>
                <a:cs typeface="Calibri" pitchFamily="34" charset="-120"/>
              </a:rPr>
              <a:t>✓</a:t>
            </a:r>
            <a:endParaRPr lang="en-US" sz="1512" dirty="0"/>
          </a:p>
        </p:txBody>
      </p:sp>
      <p:sp>
        <p:nvSpPr>
          <p:cNvPr id="18" name="Text 15"/>
          <p:cNvSpPr/>
          <p:nvPr/>
        </p:nvSpPr>
        <p:spPr>
          <a:xfrm>
            <a:off x="1325880" y="3931920"/>
            <a:ext cx="3291840" cy="274320"/>
          </a:xfrm>
          <a:prstGeom prst="rect">
            <a:avLst/>
          </a:prstGeom>
          <a:noFill/>
          <a:ln/>
        </p:spPr>
        <p:txBody>
          <a:bodyPr wrap="square" lIns="0" tIns="0" rIns="0" bIns="0" rtlCol="0" anchor="ctr"/>
          <a:lstStyle/>
          <a:p>
            <a:pPr indent="0" marL="0">
              <a:buNone/>
            </a:pPr>
            <a:r>
              <a:rPr lang="en-US" sz="1350" b="1" dirty="0">
                <a:solidFill>
                  <a:srgbClr val="1F2024"/>
                </a:solidFill>
                <a:latin typeface="Calibri" pitchFamily="34" charset="0"/>
                <a:ea typeface="Calibri" pitchFamily="34" charset="-122"/>
                <a:cs typeface="Calibri" pitchFamily="34" charset="-120"/>
              </a:rPr>
              <a:t>Governed publishing</a:t>
            </a:r>
            <a:endParaRPr lang="en-US" sz="1350" dirty="0"/>
          </a:p>
        </p:txBody>
      </p:sp>
      <p:sp>
        <p:nvSpPr>
          <p:cNvPr id="19" name="Text 16"/>
          <p:cNvSpPr/>
          <p:nvPr/>
        </p:nvSpPr>
        <p:spPr>
          <a:xfrm>
            <a:off x="4754880" y="3913632"/>
            <a:ext cx="6675120" cy="731520"/>
          </a:xfrm>
          <a:prstGeom prst="rect">
            <a:avLst/>
          </a:prstGeom>
          <a:noFill/>
          <a:ln/>
        </p:spPr>
        <p:txBody>
          <a:bodyPr wrap="square" lIns="0" tIns="0" rIns="0" bIns="0" rtlCol="0" anchor="ctr"/>
          <a:lstStyle/>
          <a:p>
            <a:pPr indent="0" marL="0">
              <a:lnSpc>
                <a:spcPts val="1500"/>
              </a:lnSpc>
              <a:buNone/>
            </a:pPr>
            <a:r>
              <a:rPr lang="en-US" sz="1150" dirty="0">
                <a:solidFill>
                  <a:srgbClr val="6B6D76"/>
                </a:solidFill>
                <a:latin typeface="Calibri" pitchFamily="34" charset="0"/>
                <a:ea typeface="Calibri" pitchFamily="34" charset="-122"/>
                <a:cs typeface="Calibri" pitchFamily="34" charset="-120"/>
              </a:rPr>
              <a:t>An asset reaches your downstream systems only when it is Validated against an Approved data template. Non-compliant assets are blocked, and the block is recorded.</a:t>
            </a:r>
            <a:endParaRPr lang="en-US" sz="1150" dirty="0"/>
          </a:p>
        </p:txBody>
      </p:sp>
      <p:sp>
        <p:nvSpPr>
          <p:cNvPr id="20" name="Shape 17"/>
          <p:cNvSpPr/>
          <p:nvPr/>
        </p:nvSpPr>
        <p:spPr>
          <a:xfrm>
            <a:off x="548640" y="4901184"/>
            <a:ext cx="11064240" cy="1005840"/>
          </a:xfrm>
          <a:prstGeom prst="roundRect">
            <a:avLst>
              <a:gd name="adj" fmla="val 7273"/>
            </a:avLst>
          </a:prstGeom>
          <a:solidFill>
            <a:srgbClr val="F4F3F0"/>
          </a:solidFill>
          <a:ln w="9525">
            <a:solidFill>
              <a:srgbClr val="E3E1DA"/>
            </a:solidFill>
            <a:prstDash val="solid"/>
          </a:ln>
        </p:spPr>
      </p:sp>
      <p:sp>
        <p:nvSpPr>
          <p:cNvPr id="21" name="Shape 18"/>
          <p:cNvSpPr/>
          <p:nvPr/>
        </p:nvSpPr>
        <p:spPr>
          <a:xfrm>
            <a:off x="777240" y="5212080"/>
            <a:ext cx="384048" cy="384048"/>
          </a:xfrm>
          <a:prstGeom prst="ellipse">
            <a:avLst/>
          </a:prstGeom>
          <a:solidFill>
            <a:srgbClr val="E5F2E6"/>
          </a:solidFill>
          <a:ln w="12700">
            <a:solidFill>
              <a:srgbClr val="E5F2E6"/>
            </a:solidFill>
            <a:prstDash val="solid"/>
          </a:ln>
        </p:spPr>
      </p:sp>
      <p:sp>
        <p:nvSpPr>
          <p:cNvPr id="22" name="Text 19"/>
          <p:cNvSpPr/>
          <p:nvPr/>
        </p:nvSpPr>
        <p:spPr>
          <a:xfrm>
            <a:off x="777240" y="5212080"/>
            <a:ext cx="384048" cy="384048"/>
          </a:xfrm>
          <a:prstGeom prst="rect">
            <a:avLst/>
          </a:prstGeom>
          <a:noFill/>
          <a:ln/>
        </p:spPr>
        <p:txBody>
          <a:bodyPr wrap="square" lIns="0" tIns="0" rIns="0" bIns="0" rtlCol="0" anchor="ctr"/>
          <a:lstStyle/>
          <a:p>
            <a:pPr algn="ctr" indent="0" marL="0">
              <a:buNone/>
            </a:pPr>
            <a:r>
              <a:rPr lang="en-US" sz="1512" b="1" dirty="0">
                <a:solidFill>
                  <a:srgbClr val="2E7D32"/>
                </a:solidFill>
                <a:latin typeface="Calibri" pitchFamily="34" charset="0"/>
                <a:ea typeface="Calibri" pitchFamily="34" charset="-122"/>
                <a:cs typeface="Calibri" pitchFamily="34" charset="-120"/>
              </a:rPr>
              <a:t>✓</a:t>
            </a:r>
            <a:endParaRPr lang="en-US" sz="1512" dirty="0"/>
          </a:p>
        </p:txBody>
      </p:sp>
      <p:sp>
        <p:nvSpPr>
          <p:cNvPr id="23" name="Text 20"/>
          <p:cNvSpPr/>
          <p:nvPr/>
        </p:nvSpPr>
        <p:spPr>
          <a:xfrm>
            <a:off x="1325880" y="5047488"/>
            <a:ext cx="3291840" cy="274320"/>
          </a:xfrm>
          <a:prstGeom prst="rect">
            <a:avLst/>
          </a:prstGeom>
          <a:noFill/>
          <a:ln/>
        </p:spPr>
        <p:txBody>
          <a:bodyPr wrap="square" lIns="0" tIns="0" rIns="0" bIns="0" rtlCol="0" anchor="ctr"/>
          <a:lstStyle/>
          <a:p>
            <a:pPr indent="0" marL="0">
              <a:buNone/>
            </a:pPr>
            <a:r>
              <a:rPr lang="en-US" sz="1350" b="1" dirty="0">
                <a:solidFill>
                  <a:srgbClr val="1F2024"/>
                </a:solidFill>
                <a:latin typeface="Calibri" pitchFamily="34" charset="0"/>
                <a:ea typeface="Calibri" pitchFamily="34" charset="-122"/>
                <a:cs typeface="Calibri" pitchFamily="34" charset="-120"/>
              </a:rPr>
              <a:t>Provable payloads</a:t>
            </a:r>
            <a:endParaRPr lang="en-US" sz="1350" dirty="0"/>
          </a:p>
        </p:txBody>
      </p:sp>
      <p:sp>
        <p:nvSpPr>
          <p:cNvPr id="24" name="Text 21"/>
          <p:cNvSpPr/>
          <p:nvPr/>
        </p:nvSpPr>
        <p:spPr>
          <a:xfrm>
            <a:off x="4754880" y="5029200"/>
            <a:ext cx="6675120" cy="731520"/>
          </a:xfrm>
          <a:prstGeom prst="rect">
            <a:avLst/>
          </a:prstGeom>
          <a:noFill/>
          <a:ln/>
        </p:spPr>
        <p:txBody>
          <a:bodyPr wrap="square" lIns="0" tIns="0" rIns="0" bIns="0" rtlCol="0" anchor="ctr"/>
          <a:lstStyle/>
          <a:p>
            <a:pPr indent="0" marL="0">
              <a:lnSpc>
                <a:spcPts val="1500"/>
              </a:lnSpc>
              <a:buNone/>
            </a:pPr>
            <a:r>
              <a:rPr lang="en-US" sz="1150" dirty="0">
                <a:solidFill>
                  <a:srgbClr val="6B6D76"/>
                </a:solidFill>
                <a:latin typeface="Calibri" pitchFamily="34" charset="0"/>
                <a:ea typeface="Calibri" pitchFamily="34" charset="-122"/>
                <a:cs typeface="Calibri" pitchFamily="34" charset="-120"/>
              </a:rPr>
              <a:t>Every publish stores the full payload and a sha256 hash, so what was sent to Aconex, P6 or SAP can be proven later.</a:t>
            </a:r>
            <a:endParaRPr lang="en-US" sz="1150" dirty="0"/>
          </a:p>
        </p:txBody>
      </p:sp>
      <p:sp>
        <p:nvSpPr>
          <p:cNvPr id="25" name="Text 22"/>
          <p:cNvSpPr/>
          <p:nvPr/>
        </p:nvSpPr>
        <p:spPr>
          <a:xfrm>
            <a:off x="548640" y="5870448"/>
            <a:ext cx="11064240" cy="292608"/>
          </a:xfrm>
          <a:prstGeom prst="rect">
            <a:avLst/>
          </a:prstGeom>
          <a:noFill/>
          <a:ln/>
        </p:spPr>
        <p:txBody>
          <a:bodyPr wrap="square" lIns="0" tIns="0" rIns="0" bIns="0" rtlCol="0" anchor="ctr"/>
          <a:lstStyle/>
          <a:p>
            <a:pPr indent="0" marL="0">
              <a:buNone/>
            </a:pPr>
            <a:r>
              <a:rPr lang="en-US" sz="1200" i="1" dirty="0">
                <a:solidFill>
                  <a:srgbClr val="6B6D76"/>
                </a:solidFill>
                <a:latin typeface="Calibri" pitchFamily="34" charset="0"/>
                <a:ea typeface="Calibri" pitchFamily="34" charset="-122"/>
                <a:cs typeface="Calibri" pitchFamily="34" charset="-120"/>
              </a:rPr>
              <a:t>These controls are built into the platform architecture and are demonstrable today in the CDE prototype.</a:t>
            </a:r>
            <a:endParaRPr lang="en-US" sz="1200" dirty="0"/>
          </a:p>
        </p:txBody>
      </p:sp>
      <p:sp>
        <p:nvSpPr>
          <p:cNvPr id="26" name="Text 23"/>
          <p:cNvSpPr/>
          <p:nvPr/>
        </p:nvSpPr>
        <p:spPr>
          <a:xfrm>
            <a:off x="548640" y="6327648"/>
            <a:ext cx="11064240" cy="274320"/>
          </a:xfrm>
          <a:prstGeom prst="rect">
            <a:avLst/>
          </a:prstGeom>
          <a:noFill/>
          <a:ln/>
        </p:spPr>
        <p:txBody>
          <a:bodyPr wrap="square" lIns="0" tIns="0" rIns="0" bIns="0" rtlCol="0" anchor="ctr"/>
          <a:lstStyle/>
          <a:p>
            <a:pPr indent="0" marL="0">
              <a:buNone/>
            </a:pPr>
            <a:r>
              <a:rPr lang="en-US" sz="900" dirty="0">
                <a:solidFill>
                  <a:srgbClr val="6B6D76"/>
                </a:solidFill>
                <a:latin typeface="Calibri" pitchFamily="34" charset="0"/>
                <a:ea typeface="Calibri" pitchFamily="34" charset="-122"/>
                <a:cs typeface="Calibri" pitchFamily="34" charset="-120"/>
              </a:rPr>
              <a:t>XD House   |   Ma'aden ARGP Security &amp; Assurance   |   15 July 2026</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9692640" cy="548640"/>
          </a:xfrm>
          <a:prstGeom prst="rect">
            <a:avLst/>
          </a:prstGeom>
          <a:noFill/>
          <a:ln/>
        </p:spPr>
        <p:txBody>
          <a:bodyPr wrap="square" lIns="0" tIns="0" rIns="0" bIns="0" rtlCol="0" anchor="ctr"/>
          <a:lstStyle/>
          <a:p>
            <a:pPr indent="0" marL="0">
              <a:buNone/>
            </a:pPr>
            <a:r>
              <a:rPr lang="en-US" sz="3000" b="1" dirty="0">
                <a:solidFill>
                  <a:srgbClr val="1F2024"/>
                </a:solidFill>
                <a:latin typeface="Cambria" pitchFamily="34" charset="0"/>
                <a:ea typeface="Cambria" pitchFamily="34" charset="-122"/>
                <a:cs typeface="Cambria" pitchFamily="34" charset="-120"/>
              </a:rPr>
              <a:t>How the controls are proven</a:t>
            </a:r>
            <a:endParaRPr lang="en-US" sz="3000" dirty="0"/>
          </a:p>
        </p:txBody>
      </p:sp>
      <p:sp>
        <p:nvSpPr>
          <p:cNvPr id="3" name="Text 1"/>
          <p:cNvSpPr/>
          <p:nvPr/>
        </p:nvSpPr>
        <p:spPr>
          <a:xfrm>
            <a:off x="548640" y="914400"/>
            <a:ext cx="9692640" cy="292608"/>
          </a:xfrm>
          <a:prstGeom prst="rect">
            <a:avLst/>
          </a:prstGeom>
          <a:noFill/>
          <a:ln/>
        </p:spPr>
        <p:txBody>
          <a:bodyPr wrap="square" lIns="0" tIns="0" rIns="0" bIns="0" rtlCol="0" anchor="ctr"/>
          <a:lstStyle/>
          <a:p>
            <a:pPr indent="0" marL="0">
              <a:buNone/>
            </a:pPr>
            <a:r>
              <a:rPr lang="en-US" sz="1300" dirty="0">
                <a:solidFill>
                  <a:srgbClr val="6B6D76"/>
                </a:solidFill>
                <a:latin typeface="Calibri" pitchFamily="34" charset="0"/>
                <a:ea typeface="Calibri" pitchFamily="34" charset="-122"/>
                <a:cs typeface="Calibri" pitchFamily="34" charset="-120"/>
              </a:rPr>
              <a:t>Controls that are never tested are claims, not controls</a:t>
            </a:r>
            <a:endParaRPr lang="en-US" sz="1300" dirty="0"/>
          </a:p>
        </p:txBody>
      </p:sp>
      <p:pic>
        <p:nvPicPr>
          <p:cNvPr id="4" name="Image 0" descr="preencoded.png">    </p:cNvPr>
          <p:cNvPicPr>
            <a:picLocks noChangeAspect="1"/>
          </p:cNvPicPr>
          <p:nvPr/>
        </p:nvPicPr>
        <p:blipFill>
          <a:blip r:embed="rId1"/>
          <a:stretch>
            <a:fillRect/>
          </a:stretch>
        </p:blipFill>
        <p:spPr>
          <a:xfrm>
            <a:off x="11292840" y="384048"/>
            <a:ext cx="411480" cy="411480"/>
          </a:xfrm>
          <a:prstGeom prst="rect">
            <a:avLst/>
          </a:prstGeom>
        </p:spPr>
      </p:pic>
      <p:sp>
        <p:nvSpPr>
          <p:cNvPr id="5" name="Shape 2"/>
          <p:cNvSpPr/>
          <p:nvPr/>
        </p:nvSpPr>
        <p:spPr>
          <a:xfrm>
            <a:off x="548640" y="1600200"/>
            <a:ext cx="2606040" cy="2651760"/>
          </a:xfrm>
          <a:prstGeom prst="roundRect">
            <a:avLst>
              <a:gd name="adj" fmla="val 2807"/>
            </a:avLst>
          </a:prstGeom>
          <a:solidFill>
            <a:srgbClr val="F4F3F0"/>
          </a:solidFill>
          <a:ln w="9525">
            <a:solidFill>
              <a:srgbClr val="E3E1DA"/>
            </a:solidFill>
            <a:prstDash val="solid"/>
          </a:ln>
        </p:spPr>
      </p:sp>
      <p:sp>
        <p:nvSpPr>
          <p:cNvPr id="6" name="Shape 3"/>
          <p:cNvSpPr/>
          <p:nvPr/>
        </p:nvSpPr>
        <p:spPr>
          <a:xfrm>
            <a:off x="777240" y="1828800"/>
            <a:ext cx="566928" cy="566928"/>
          </a:xfrm>
          <a:prstGeom prst="ellipse">
            <a:avLst/>
          </a:prstGeom>
          <a:solidFill>
            <a:srgbClr val="23242A"/>
          </a:solidFill>
          <a:ln w="19050">
            <a:solidFill>
              <a:srgbClr val="C9A227"/>
            </a:solidFill>
            <a:prstDash val="solid"/>
          </a:ln>
        </p:spPr>
      </p:sp>
      <p:sp>
        <p:nvSpPr>
          <p:cNvPr id="7" name="Text 4"/>
          <p:cNvSpPr/>
          <p:nvPr/>
        </p:nvSpPr>
        <p:spPr>
          <a:xfrm>
            <a:off x="777240" y="1828800"/>
            <a:ext cx="566928" cy="566928"/>
          </a:xfrm>
          <a:prstGeom prst="rect">
            <a:avLst/>
          </a:prstGeom>
          <a:noFill/>
          <a:ln/>
        </p:spPr>
        <p:txBody>
          <a:bodyPr wrap="square" lIns="0" tIns="0" rIns="0" bIns="0" rtlCol="0" anchor="ctr"/>
          <a:lstStyle/>
          <a:p>
            <a:pPr algn="ctr" indent="0" marL="0">
              <a:buNone/>
            </a:pPr>
            <a:r>
              <a:rPr lang="en-US" sz="1500" b="1" dirty="0">
                <a:solidFill>
                  <a:srgbClr val="C9A227"/>
                </a:solidFill>
                <a:latin typeface="Calibri" pitchFamily="34" charset="0"/>
                <a:ea typeface="Calibri" pitchFamily="34" charset="-122"/>
                <a:cs typeface="Calibri" pitchFamily="34" charset="-120"/>
              </a:rPr>
              <a:t>01</a:t>
            </a:r>
            <a:endParaRPr lang="en-US" sz="1500" dirty="0"/>
          </a:p>
        </p:txBody>
      </p:sp>
      <p:sp>
        <p:nvSpPr>
          <p:cNvPr id="8" name="Text 5"/>
          <p:cNvSpPr/>
          <p:nvPr/>
        </p:nvSpPr>
        <p:spPr>
          <a:xfrm>
            <a:off x="777240" y="2542032"/>
            <a:ext cx="2148840" cy="292608"/>
          </a:xfrm>
          <a:prstGeom prst="rect">
            <a:avLst/>
          </a:prstGeom>
          <a:noFill/>
          <a:ln/>
        </p:spPr>
        <p:txBody>
          <a:bodyPr wrap="square" lIns="0" tIns="0" rIns="0" bIns="0" rtlCol="0" anchor="ctr"/>
          <a:lstStyle/>
          <a:p>
            <a:pPr indent="0" marL="0">
              <a:buNone/>
            </a:pPr>
            <a:r>
              <a:rPr lang="en-US" sz="1400" b="1" dirty="0">
                <a:solidFill>
                  <a:srgbClr val="1F2024"/>
                </a:solidFill>
                <a:latin typeface="Calibri" pitchFamily="34" charset="0"/>
                <a:ea typeface="Calibri" pitchFamily="34" charset="-122"/>
                <a:cs typeface="Calibri" pitchFamily="34" charset="-120"/>
              </a:rPr>
              <a:t>AUDIT</a:t>
            </a:r>
            <a:endParaRPr lang="en-US" sz="1400" dirty="0"/>
          </a:p>
        </p:txBody>
      </p:sp>
      <p:sp>
        <p:nvSpPr>
          <p:cNvPr id="9" name="Text 6"/>
          <p:cNvSpPr/>
          <p:nvPr/>
        </p:nvSpPr>
        <p:spPr>
          <a:xfrm>
            <a:off x="777240" y="2889504"/>
            <a:ext cx="2148840" cy="685800"/>
          </a:xfrm>
          <a:prstGeom prst="rect">
            <a:avLst/>
          </a:prstGeom>
          <a:noFill/>
          <a:ln/>
        </p:spPr>
        <p:txBody>
          <a:bodyPr wrap="square" lIns="0" tIns="0" rIns="0" bIns="0" rtlCol="0" anchor="ctr"/>
          <a:lstStyle/>
          <a:p>
            <a:pPr indent="0" marL="0">
              <a:lnSpc>
                <a:spcPts val="1600"/>
              </a:lnSpc>
              <a:buNone/>
            </a:pPr>
            <a:r>
              <a:rPr lang="en-US" sz="1200" dirty="0">
                <a:solidFill>
                  <a:srgbClr val="6B6D76"/>
                </a:solidFill>
                <a:latin typeface="Calibri" pitchFamily="34" charset="0"/>
                <a:ea typeface="Calibri" pitchFamily="34" charset="-122"/>
                <a:cs typeface="Calibri" pitchFamily="34" charset="-120"/>
              </a:rPr>
              <a:t>13-layer internal review</a:t>
            </a:r>
            <a:endParaRPr lang="en-US" sz="1200" dirty="0"/>
          </a:p>
          <a:p>
            <a:pPr indent="0" marL="0">
              <a:lnSpc>
                <a:spcPts val="1600"/>
              </a:lnSpc>
              <a:buNone/>
            </a:pPr>
            <a:r>
              <a:rPr lang="en-US" sz="1200" dirty="0">
                <a:solidFill>
                  <a:srgbClr val="6B6D76"/>
                </a:solidFill>
                <a:latin typeface="Calibri" pitchFamily="34" charset="0"/>
                <a:ea typeface="Calibri" pitchFamily="34" charset="-122"/>
                <a:cs typeface="Calibri" pitchFamily="34" charset="-120"/>
              </a:rPr>
              <a:t>before each gate</a:t>
            </a:r>
            <a:endParaRPr lang="en-US" sz="1200" dirty="0"/>
          </a:p>
        </p:txBody>
      </p:sp>
      <p:sp>
        <p:nvSpPr>
          <p:cNvPr id="10" name="Shape 7"/>
          <p:cNvSpPr/>
          <p:nvPr/>
        </p:nvSpPr>
        <p:spPr>
          <a:xfrm>
            <a:off x="777240" y="3703320"/>
            <a:ext cx="1325880" cy="237744"/>
          </a:xfrm>
          <a:prstGeom prst="roundRect">
            <a:avLst>
              <a:gd name="adj" fmla="val 50000"/>
            </a:avLst>
          </a:prstGeom>
          <a:solidFill>
            <a:srgbClr val="E8E8EC"/>
          </a:solidFill>
          <a:ln w="12700">
            <a:solidFill>
              <a:srgbClr val="E8E8EC"/>
            </a:solidFill>
            <a:prstDash val="solid"/>
          </a:ln>
        </p:spPr>
      </p:sp>
      <p:sp>
        <p:nvSpPr>
          <p:cNvPr id="11" name="Text 8"/>
          <p:cNvSpPr/>
          <p:nvPr/>
        </p:nvSpPr>
        <p:spPr>
          <a:xfrm>
            <a:off x="777240" y="3703320"/>
            <a:ext cx="1325880" cy="237744"/>
          </a:xfrm>
          <a:prstGeom prst="rect">
            <a:avLst/>
          </a:prstGeom>
          <a:noFill/>
          <a:ln/>
        </p:spPr>
        <p:txBody>
          <a:bodyPr wrap="square" lIns="0" tIns="0" rIns="0" bIns="0" rtlCol="0" anchor="ctr"/>
          <a:lstStyle/>
          <a:p>
            <a:pPr algn="ctr" indent="0" marL="0">
              <a:buNone/>
            </a:pPr>
            <a:r>
              <a:rPr lang="en-US" sz="950" b="1" dirty="0">
                <a:solidFill>
                  <a:srgbClr val="555555"/>
                </a:solidFill>
                <a:latin typeface="Calibri" pitchFamily="34" charset="0"/>
                <a:ea typeface="Calibri" pitchFamily="34" charset="-122"/>
                <a:cs typeface="Calibri" pitchFamily="34" charset="-120"/>
              </a:rPr>
              <a:t>Each gate</a:t>
            </a:r>
            <a:endParaRPr lang="en-US" sz="950" dirty="0"/>
          </a:p>
        </p:txBody>
      </p:sp>
      <p:sp>
        <p:nvSpPr>
          <p:cNvPr id="12" name="Shape 9"/>
          <p:cNvSpPr/>
          <p:nvPr/>
        </p:nvSpPr>
        <p:spPr>
          <a:xfrm>
            <a:off x="3383280" y="1600200"/>
            <a:ext cx="2606040" cy="2651760"/>
          </a:xfrm>
          <a:prstGeom prst="roundRect">
            <a:avLst>
              <a:gd name="adj" fmla="val 2807"/>
            </a:avLst>
          </a:prstGeom>
          <a:solidFill>
            <a:srgbClr val="F4F3F0"/>
          </a:solidFill>
          <a:ln w="9525">
            <a:solidFill>
              <a:srgbClr val="E3E1DA"/>
            </a:solidFill>
            <a:prstDash val="solid"/>
          </a:ln>
        </p:spPr>
      </p:sp>
      <p:sp>
        <p:nvSpPr>
          <p:cNvPr id="13" name="Shape 10"/>
          <p:cNvSpPr/>
          <p:nvPr/>
        </p:nvSpPr>
        <p:spPr>
          <a:xfrm>
            <a:off x="3611880" y="1828800"/>
            <a:ext cx="566928" cy="566928"/>
          </a:xfrm>
          <a:prstGeom prst="ellipse">
            <a:avLst/>
          </a:prstGeom>
          <a:solidFill>
            <a:srgbClr val="23242A"/>
          </a:solidFill>
          <a:ln w="19050">
            <a:solidFill>
              <a:srgbClr val="C9A227"/>
            </a:solidFill>
            <a:prstDash val="solid"/>
          </a:ln>
        </p:spPr>
      </p:sp>
      <p:sp>
        <p:nvSpPr>
          <p:cNvPr id="14" name="Text 11"/>
          <p:cNvSpPr/>
          <p:nvPr/>
        </p:nvSpPr>
        <p:spPr>
          <a:xfrm>
            <a:off x="3611880" y="1828800"/>
            <a:ext cx="566928" cy="566928"/>
          </a:xfrm>
          <a:prstGeom prst="rect">
            <a:avLst/>
          </a:prstGeom>
          <a:noFill/>
          <a:ln/>
        </p:spPr>
        <p:txBody>
          <a:bodyPr wrap="square" lIns="0" tIns="0" rIns="0" bIns="0" rtlCol="0" anchor="ctr"/>
          <a:lstStyle/>
          <a:p>
            <a:pPr algn="ctr" indent="0" marL="0">
              <a:buNone/>
            </a:pPr>
            <a:r>
              <a:rPr lang="en-US" sz="1500" b="1" dirty="0">
                <a:solidFill>
                  <a:srgbClr val="C9A227"/>
                </a:solidFill>
                <a:latin typeface="Calibri" pitchFamily="34" charset="0"/>
                <a:ea typeface="Calibri" pitchFamily="34" charset="-122"/>
                <a:cs typeface="Calibri" pitchFamily="34" charset="-120"/>
              </a:rPr>
              <a:t>02</a:t>
            </a:r>
            <a:endParaRPr lang="en-US" sz="1500" dirty="0"/>
          </a:p>
        </p:txBody>
      </p:sp>
      <p:sp>
        <p:nvSpPr>
          <p:cNvPr id="15" name="Text 12"/>
          <p:cNvSpPr/>
          <p:nvPr/>
        </p:nvSpPr>
        <p:spPr>
          <a:xfrm>
            <a:off x="3611880" y="2542032"/>
            <a:ext cx="2148840" cy="292608"/>
          </a:xfrm>
          <a:prstGeom prst="rect">
            <a:avLst/>
          </a:prstGeom>
          <a:noFill/>
          <a:ln/>
        </p:spPr>
        <p:txBody>
          <a:bodyPr wrap="square" lIns="0" tIns="0" rIns="0" bIns="0" rtlCol="0" anchor="ctr"/>
          <a:lstStyle/>
          <a:p>
            <a:pPr indent="0" marL="0">
              <a:buNone/>
            </a:pPr>
            <a:r>
              <a:rPr lang="en-US" sz="1400" b="1" dirty="0">
                <a:solidFill>
                  <a:srgbClr val="1F2024"/>
                </a:solidFill>
                <a:latin typeface="Calibri" pitchFamily="34" charset="0"/>
                <a:ea typeface="Calibri" pitchFamily="34" charset="-122"/>
                <a:cs typeface="Calibri" pitchFamily="34" charset="-120"/>
              </a:rPr>
              <a:t>REMEDIATE</a:t>
            </a:r>
            <a:endParaRPr lang="en-US" sz="1400" dirty="0"/>
          </a:p>
        </p:txBody>
      </p:sp>
      <p:sp>
        <p:nvSpPr>
          <p:cNvPr id="16" name="Text 13"/>
          <p:cNvSpPr/>
          <p:nvPr/>
        </p:nvSpPr>
        <p:spPr>
          <a:xfrm>
            <a:off x="3611880" y="2889504"/>
            <a:ext cx="2148840" cy="685800"/>
          </a:xfrm>
          <a:prstGeom prst="rect">
            <a:avLst/>
          </a:prstGeom>
          <a:noFill/>
          <a:ln/>
        </p:spPr>
        <p:txBody>
          <a:bodyPr wrap="square" lIns="0" tIns="0" rIns="0" bIns="0" rtlCol="0" anchor="ctr"/>
          <a:lstStyle/>
          <a:p>
            <a:pPr indent="0" marL="0">
              <a:lnSpc>
                <a:spcPts val="1600"/>
              </a:lnSpc>
              <a:buNone/>
            </a:pPr>
            <a:r>
              <a:rPr lang="en-US" sz="1200" dirty="0">
                <a:solidFill>
                  <a:srgbClr val="6B6D76"/>
                </a:solidFill>
                <a:latin typeface="Calibri" pitchFamily="34" charset="0"/>
                <a:ea typeface="Calibri" pitchFamily="34" charset="-122"/>
                <a:cs typeface="Calibri" pitchFamily="34" charset="-120"/>
              </a:rPr>
              <a:t>Close what the audit</a:t>
            </a:r>
            <a:endParaRPr lang="en-US" sz="1200" dirty="0"/>
          </a:p>
          <a:p>
            <a:pPr indent="0" marL="0">
              <a:lnSpc>
                <a:spcPts val="1600"/>
              </a:lnSpc>
              <a:buNone/>
            </a:pPr>
            <a:r>
              <a:rPr lang="en-US" sz="1200" dirty="0">
                <a:solidFill>
                  <a:srgbClr val="6B6D76"/>
                </a:solidFill>
                <a:latin typeface="Calibri" pitchFamily="34" charset="0"/>
                <a:ea typeface="Calibri" pitchFamily="34" charset="-122"/>
                <a:cs typeface="Calibri" pitchFamily="34" charset="-120"/>
              </a:rPr>
              <a:t>surfaced</a:t>
            </a:r>
            <a:endParaRPr lang="en-US" sz="1200" dirty="0"/>
          </a:p>
        </p:txBody>
      </p:sp>
      <p:sp>
        <p:nvSpPr>
          <p:cNvPr id="17" name="Shape 14"/>
          <p:cNvSpPr/>
          <p:nvPr/>
        </p:nvSpPr>
        <p:spPr>
          <a:xfrm>
            <a:off x="3611880" y="3703320"/>
            <a:ext cx="2871216" cy="237744"/>
          </a:xfrm>
          <a:prstGeom prst="roundRect">
            <a:avLst>
              <a:gd name="adj" fmla="val 50000"/>
            </a:avLst>
          </a:prstGeom>
          <a:solidFill>
            <a:srgbClr val="E8E8EC"/>
          </a:solidFill>
          <a:ln w="12700">
            <a:solidFill>
              <a:srgbClr val="E8E8EC"/>
            </a:solidFill>
            <a:prstDash val="solid"/>
          </a:ln>
        </p:spPr>
      </p:sp>
      <p:sp>
        <p:nvSpPr>
          <p:cNvPr id="18" name="Text 15"/>
          <p:cNvSpPr/>
          <p:nvPr/>
        </p:nvSpPr>
        <p:spPr>
          <a:xfrm>
            <a:off x="3611880" y="3703320"/>
            <a:ext cx="2871216" cy="237744"/>
          </a:xfrm>
          <a:prstGeom prst="rect">
            <a:avLst/>
          </a:prstGeom>
          <a:noFill/>
          <a:ln/>
        </p:spPr>
        <p:txBody>
          <a:bodyPr wrap="square" lIns="0" tIns="0" rIns="0" bIns="0" rtlCol="0" anchor="ctr"/>
          <a:lstStyle/>
          <a:p>
            <a:pPr algn="ctr" indent="0" marL="0">
              <a:buNone/>
            </a:pPr>
            <a:r>
              <a:rPr lang="en-US" sz="950" b="1" dirty="0">
                <a:solidFill>
                  <a:srgbClr val="555555"/>
                </a:solidFill>
                <a:latin typeface="Calibri" pitchFamily="34" charset="0"/>
                <a:ea typeface="Calibri" pitchFamily="34" charset="-122"/>
                <a:cs typeface="Calibri" pitchFamily="34" charset="-120"/>
              </a:rPr>
              <a:t>Before the gate closes</a:t>
            </a:r>
            <a:endParaRPr lang="en-US" sz="950" dirty="0"/>
          </a:p>
        </p:txBody>
      </p:sp>
      <p:sp>
        <p:nvSpPr>
          <p:cNvPr id="19" name="Shape 16"/>
          <p:cNvSpPr/>
          <p:nvPr/>
        </p:nvSpPr>
        <p:spPr>
          <a:xfrm>
            <a:off x="6217920" y="1600200"/>
            <a:ext cx="2606040" cy="2651760"/>
          </a:xfrm>
          <a:prstGeom prst="roundRect">
            <a:avLst>
              <a:gd name="adj" fmla="val 2807"/>
            </a:avLst>
          </a:prstGeom>
          <a:solidFill>
            <a:srgbClr val="F4F3F0"/>
          </a:solidFill>
          <a:ln w="9525">
            <a:solidFill>
              <a:srgbClr val="E3E1DA"/>
            </a:solidFill>
            <a:prstDash val="solid"/>
          </a:ln>
        </p:spPr>
      </p:sp>
      <p:sp>
        <p:nvSpPr>
          <p:cNvPr id="20" name="Shape 17"/>
          <p:cNvSpPr/>
          <p:nvPr/>
        </p:nvSpPr>
        <p:spPr>
          <a:xfrm>
            <a:off x="6446520" y="1828800"/>
            <a:ext cx="566928" cy="566928"/>
          </a:xfrm>
          <a:prstGeom prst="ellipse">
            <a:avLst/>
          </a:prstGeom>
          <a:solidFill>
            <a:srgbClr val="23242A"/>
          </a:solidFill>
          <a:ln w="19050">
            <a:solidFill>
              <a:srgbClr val="C9A227"/>
            </a:solidFill>
            <a:prstDash val="solid"/>
          </a:ln>
        </p:spPr>
      </p:sp>
      <p:sp>
        <p:nvSpPr>
          <p:cNvPr id="21" name="Text 18"/>
          <p:cNvSpPr/>
          <p:nvPr/>
        </p:nvSpPr>
        <p:spPr>
          <a:xfrm>
            <a:off x="6446520" y="1828800"/>
            <a:ext cx="566928" cy="566928"/>
          </a:xfrm>
          <a:prstGeom prst="rect">
            <a:avLst/>
          </a:prstGeom>
          <a:noFill/>
          <a:ln/>
        </p:spPr>
        <p:txBody>
          <a:bodyPr wrap="square" lIns="0" tIns="0" rIns="0" bIns="0" rtlCol="0" anchor="ctr"/>
          <a:lstStyle/>
          <a:p>
            <a:pPr algn="ctr" indent="0" marL="0">
              <a:buNone/>
            </a:pPr>
            <a:r>
              <a:rPr lang="en-US" sz="1500" b="1" dirty="0">
                <a:solidFill>
                  <a:srgbClr val="C9A227"/>
                </a:solidFill>
                <a:latin typeface="Calibri" pitchFamily="34" charset="0"/>
                <a:ea typeface="Calibri" pitchFamily="34" charset="-122"/>
                <a:cs typeface="Calibri" pitchFamily="34" charset="-120"/>
              </a:rPr>
              <a:t>03</a:t>
            </a:r>
            <a:endParaRPr lang="en-US" sz="1500" dirty="0"/>
          </a:p>
        </p:txBody>
      </p:sp>
      <p:sp>
        <p:nvSpPr>
          <p:cNvPr id="22" name="Text 19"/>
          <p:cNvSpPr/>
          <p:nvPr/>
        </p:nvSpPr>
        <p:spPr>
          <a:xfrm>
            <a:off x="6446520" y="2542032"/>
            <a:ext cx="2148840" cy="292608"/>
          </a:xfrm>
          <a:prstGeom prst="rect">
            <a:avLst/>
          </a:prstGeom>
          <a:noFill/>
          <a:ln/>
        </p:spPr>
        <p:txBody>
          <a:bodyPr wrap="square" lIns="0" tIns="0" rIns="0" bIns="0" rtlCol="0" anchor="ctr"/>
          <a:lstStyle/>
          <a:p>
            <a:pPr indent="0" marL="0">
              <a:buNone/>
            </a:pPr>
            <a:r>
              <a:rPr lang="en-US" sz="1400" b="1" dirty="0">
                <a:solidFill>
                  <a:srgbClr val="1F2024"/>
                </a:solidFill>
                <a:latin typeface="Calibri" pitchFamily="34" charset="0"/>
                <a:ea typeface="Calibri" pitchFamily="34" charset="-122"/>
                <a:cs typeface="Calibri" pitchFamily="34" charset="-120"/>
              </a:rPr>
              <a:t>PEN TEST</a:t>
            </a:r>
            <a:endParaRPr lang="en-US" sz="1400" dirty="0"/>
          </a:p>
        </p:txBody>
      </p:sp>
      <p:sp>
        <p:nvSpPr>
          <p:cNvPr id="23" name="Text 20"/>
          <p:cNvSpPr/>
          <p:nvPr/>
        </p:nvSpPr>
        <p:spPr>
          <a:xfrm>
            <a:off x="6446520" y="2889504"/>
            <a:ext cx="2148840" cy="685800"/>
          </a:xfrm>
          <a:prstGeom prst="rect">
            <a:avLst/>
          </a:prstGeom>
          <a:noFill/>
          <a:ln/>
        </p:spPr>
        <p:txBody>
          <a:bodyPr wrap="square" lIns="0" tIns="0" rIns="0" bIns="0" rtlCol="0" anchor="ctr"/>
          <a:lstStyle/>
          <a:p>
            <a:pPr indent="0" marL="0">
              <a:lnSpc>
                <a:spcPts val="1600"/>
              </a:lnSpc>
              <a:buNone/>
            </a:pPr>
            <a:r>
              <a:rPr lang="en-US" sz="1200" dirty="0">
                <a:solidFill>
                  <a:srgbClr val="6B6D76"/>
                </a:solidFill>
                <a:latin typeface="Calibri" pitchFamily="34" charset="0"/>
                <a:ea typeface="Calibri" pitchFamily="34" charset="-122"/>
                <a:cs typeface="Calibri" pitchFamily="34" charset="-120"/>
              </a:rPr>
              <a:t>Independent firm</a:t>
            </a:r>
            <a:endParaRPr lang="en-US" sz="1200" dirty="0"/>
          </a:p>
          <a:p>
            <a:pPr indent="0" marL="0">
              <a:lnSpc>
                <a:spcPts val="1600"/>
              </a:lnSpc>
              <a:buNone/>
            </a:pPr>
            <a:r>
              <a:rPr lang="en-US" sz="1200" dirty="0">
                <a:solidFill>
                  <a:srgbClr val="6B6D76"/>
                </a:solidFill>
                <a:latin typeface="Calibri" pitchFamily="34" charset="0"/>
                <a:ea typeface="Calibri" pitchFamily="34" charset="-122"/>
                <a:cs typeface="Calibri" pitchFamily="34" charset="-120"/>
              </a:rPr>
              <a:t>attempts to break in</a:t>
            </a:r>
            <a:endParaRPr lang="en-US" sz="1200" dirty="0"/>
          </a:p>
        </p:txBody>
      </p:sp>
      <p:sp>
        <p:nvSpPr>
          <p:cNvPr id="24" name="Shape 21"/>
          <p:cNvSpPr/>
          <p:nvPr/>
        </p:nvSpPr>
        <p:spPr>
          <a:xfrm>
            <a:off x="6446520" y="3703320"/>
            <a:ext cx="1920240" cy="237744"/>
          </a:xfrm>
          <a:prstGeom prst="roundRect">
            <a:avLst>
              <a:gd name="adj" fmla="val 50000"/>
            </a:avLst>
          </a:prstGeom>
          <a:solidFill>
            <a:srgbClr val="E8E8EC"/>
          </a:solidFill>
          <a:ln w="12700">
            <a:solidFill>
              <a:srgbClr val="E8E8EC"/>
            </a:solidFill>
            <a:prstDash val="solid"/>
          </a:ln>
        </p:spPr>
      </p:sp>
      <p:sp>
        <p:nvSpPr>
          <p:cNvPr id="25" name="Text 22"/>
          <p:cNvSpPr/>
          <p:nvPr/>
        </p:nvSpPr>
        <p:spPr>
          <a:xfrm>
            <a:off x="6446520" y="3703320"/>
            <a:ext cx="1920240" cy="237744"/>
          </a:xfrm>
          <a:prstGeom prst="rect">
            <a:avLst/>
          </a:prstGeom>
          <a:noFill/>
          <a:ln/>
        </p:spPr>
        <p:txBody>
          <a:bodyPr wrap="square" lIns="0" tIns="0" rIns="0" bIns="0" rtlCol="0" anchor="ctr"/>
          <a:lstStyle/>
          <a:p>
            <a:pPr algn="ctr" indent="0" marL="0">
              <a:buNone/>
            </a:pPr>
            <a:r>
              <a:rPr lang="en-US" sz="950" b="1" dirty="0">
                <a:solidFill>
                  <a:srgbClr val="555555"/>
                </a:solidFill>
                <a:latin typeface="Calibri" pitchFamily="34" charset="0"/>
                <a:ea typeface="Calibri" pitchFamily="34" charset="-122"/>
                <a:cs typeface="Calibri" pitchFamily="34" charset="-120"/>
              </a:rPr>
              <a:t>Before go-live</a:t>
            </a:r>
            <a:endParaRPr lang="en-US" sz="950" dirty="0"/>
          </a:p>
        </p:txBody>
      </p:sp>
      <p:sp>
        <p:nvSpPr>
          <p:cNvPr id="26" name="Shape 23"/>
          <p:cNvSpPr/>
          <p:nvPr/>
        </p:nvSpPr>
        <p:spPr>
          <a:xfrm>
            <a:off x="9052560" y="1600200"/>
            <a:ext cx="2606040" cy="2651760"/>
          </a:xfrm>
          <a:prstGeom prst="roundRect">
            <a:avLst>
              <a:gd name="adj" fmla="val 2807"/>
            </a:avLst>
          </a:prstGeom>
          <a:solidFill>
            <a:srgbClr val="F4F3F0"/>
          </a:solidFill>
          <a:ln w="9525">
            <a:solidFill>
              <a:srgbClr val="E3E1DA"/>
            </a:solidFill>
            <a:prstDash val="solid"/>
          </a:ln>
        </p:spPr>
      </p:sp>
      <p:sp>
        <p:nvSpPr>
          <p:cNvPr id="27" name="Shape 24"/>
          <p:cNvSpPr/>
          <p:nvPr/>
        </p:nvSpPr>
        <p:spPr>
          <a:xfrm>
            <a:off x="9281160" y="1828800"/>
            <a:ext cx="566928" cy="566928"/>
          </a:xfrm>
          <a:prstGeom prst="ellipse">
            <a:avLst/>
          </a:prstGeom>
          <a:solidFill>
            <a:srgbClr val="23242A"/>
          </a:solidFill>
          <a:ln w="19050">
            <a:solidFill>
              <a:srgbClr val="C9A227"/>
            </a:solidFill>
            <a:prstDash val="solid"/>
          </a:ln>
        </p:spPr>
      </p:sp>
      <p:sp>
        <p:nvSpPr>
          <p:cNvPr id="28" name="Text 25"/>
          <p:cNvSpPr/>
          <p:nvPr/>
        </p:nvSpPr>
        <p:spPr>
          <a:xfrm>
            <a:off x="9281160" y="1828800"/>
            <a:ext cx="566928" cy="566928"/>
          </a:xfrm>
          <a:prstGeom prst="rect">
            <a:avLst/>
          </a:prstGeom>
          <a:noFill/>
          <a:ln/>
        </p:spPr>
        <p:txBody>
          <a:bodyPr wrap="square" lIns="0" tIns="0" rIns="0" bIns="0" rtlCol="0" anchor="ctr"/>
          <a:lstStyle/>
          <a:p>
            <a:pPr algn="ctr" indent="0" marL="0">
              <a:buNone/>
            </a:pPr>
            <a:r>
              <a:rPr lang="en-US" sz="1500" b="1" dirty="0">
                <a:solidFill>
                  <a:srgbClr val="C9A227"/>
                </a:solidFill>
                <a:latin typeface="Calibri" pitchFamily="34" charset="0"/>
                <a:ea typeface="Calibri" pitchFamily="34" charset="-122"/>
                <a:cs typeface="Calibri" pitchFamily="34" charset="-120"/>
              </a:rPr>
              <a:t>04</a:t>
            </a:r>
            <a:endParaRPr lang="en-US" sz="1500" dirty="0"/>
          </a:p>
        </p:txBody>
      </p:sp>
      <p:sp>
        <p:nvSpPr>
          <p:cNvPr id="29" name="Text 26"/>
          <p:cNvSpPr/>
          <p:nvPr/>
        </p:nvSpPr>
        <p:spPr>
          <a:xfrm>
            <a:off x="9281160" y="2542032"/>
            <a:ext cx="2148840" cy="292608"/>
          </a:xfrm>
          <a:prstGeom prst="rect">
            <a:avLst/>
          </a:prstGeom>
          <a:noFill/>
          <a:ln/>
        </p:spPr>
        <p:txBody>
          <a:bodyPr wrap="square" lIns="0" tIns="0" rIns="0" bIns="0" rtlCol="0" anchor="ctr"/>
          <a:lstStyle/>
          <a:p>
            <a:pPr indent="0" marL="0">
              <a:buNone/>
            </a:pPr>
            <a:r>
              <a:rPr lang="en-US" sz="1400" b="1" dirty="0">
                <a:solidFill>
                  <a:srgbClr val="1F2024"/>
                </a:solidFill>
                <a:latin typeface="Calibri" pitchFamily="34" charset="0"/>
                <a:ea typeface="Calibri" pitchFamily="34" charset="-122"/>
                <a:cs typeface="Calibri" pitchFamily="34" charset="-120"/>
              </a:rPr>
              <a:t>RE-AUDIT</a:t>
            </a:r>
            <a:endParaRPr lang="en-US" sz="1400" dirty="0"/>
          </a:p>
        </p:txBody>
      </p:sp>
      <p:sp>
        <p:nvSpPr>
          <p:cNvPr id="30" name="Text 27"/>
          <p:cNvSpPr/>
          <p:nvPr/>
        </p:nvSpPr>
        <p:spPr>
          <a:xfrm>
            <a:off x="9281160" y="2889504"/>
            <a:ext cx="2148840" cy="685800"/>
          </a:xfrm>
          <a:prstGeom prst="rect">
            <a:avLst/>
          </a:prstGeom>
          <a:noFill/>
          <a:ln/>
        </p:spPr>
        <p:txBody>
          <a:bodyPr wrap="square" lIns="0" tIns="0" rIns="0" bIns="0" rtlCol="0" anchor="ctr"/>
          <a:lstStyle/>
          <a:p>
            <a:pPr indent="0" marL="0">
              <a:lnSpc>
                <a:spcPts val="1600"/>
              </a:lnSpc>
              <a:buNone/>
            </a:pPr>
            <a:r>
              <a:rPr lang="en-US" sz="1200" dirty="0">
                <a:solidFill>
                  <a:srgbClr val="6B6D76"/>
                </a:solidFill>
                <a:latin typeface="Calibri" pitchFamily="34" charset="0"/>
                <a:ea typeface="Calibri" pitchFamily="34" charset="-122"/>
                <a:cs typeface="Calibri" pitchFamily="34" charset="-120"/>
              </a:rPr>
              <a:t>Confirm the fixes held,</a:t>
            </a:r>
            <a:endParaRPr lang="en-US" sz="1200" dirty="0"/>
          </a:p>
          <a:p>
            <a:pPr indent="0" marL="0">
              <a:lnSpc>
                <a:spcPts val="1600"/>
              </a:lnSpc>
              <a:buNone/>
            </a:pPr>
            <a:r>
              <a:rPr lang="en-US" sz="1200" dirty="0">
                <a:solidFill>
                  <a:srgbClr val="6B6D76"/>
                </a:solidFill>
                <a:latin typeface="Calibri" pitchFamily="34" charset="0"/>
                <a:ea typeface="Calibri" pitchFamily="34" charset="-122"/>
                <a:cs typeface="Calibri" pitchFamily="34" charset="-120"/>
              </a:rPr>
              <a:t>nothing regressed</a:t>
            </a:r>
            <a:endParaRPr lang="en-US" sz="1200" dirty="0"/>
          </a:p>
        </p:txBody>
      </p:sp>
      <p:sp>
        <p:nvSpPr>
          <p:cNvPr id="31" name="Shape 28"/>
          <p:cNvSpPr/>
          <p:nvPr/>
        </p:nvSpPr>
        <p:spPr>
          <a:xfrm>
            <a:off x="9281160" y="3703320"/>
            <a:ext cx="2039112" cy="237744"/>
          </a:xfrm>
          <a:prstGeom prst="roundRect">
            <a:avLst>
              <a:gd name="adj" fmla="val 50000"/>
            </a:avLst>
          </a:prstGeom>
          <a:solidFill>
            <a:srgbClr val="E8E8EC"/>
          </a:solidFill>
          <a:ln w="12700">
            <a:solidFill>
              <a:srgbClr val="E8E8EC"/>
            </a:solidFill>
            <a:prstDash val="solid"/>
          </a:ln>
        </p:spPr>
      </p:sp>
      <p:sp>
        <p:nvSpPr>
          <p:cNvPr id="32" name="Text 29"/>
          <p:cNvSpPr/>
          <p:nvPr/>
        </p:nvSpPr>
        <p:spPr>
          <a:xfrm>
            <a:off x="9281160" y="3703320"/>
            <a:ext cx="2039112" cy="237744"/>
          </a:xfrm>
          <a:prstGeom prst="rect">
            <a:avLst/>
          </a:prstGeom>
          <a:noFill/>
          <a:ln/>
        </p:spPr>
        <p:txBody>
          <a:bodyPr wrap="square" lIns="0" tIns="0" rIns="0" bIns="0" rtlCol="0" anchor="ctr"/>
          <a:lstStyle/>
          <a:p>
            <a:pPr algn="ctr" indent="0" marL="0">
              <a:buNone/>
            </a:pPr>
            <a:r>
              <a:rPr lang="en-US" sz="950" b="1" dirty="0">
                <a:solidFill>
                  <a:srgbClr val="555555"/>
                </a:solidFill>
                <a:latin typeface="Calibri" pitchFamily="34" charset="0"/>
                <a:ea typeface="Calibri" pitchFamily="34" charset="-122"/>
                <a:cs typeface="Calibri" pitchFamily="34" charset="-120"/>
              </a:rPr>
              <a:t>After each test</a:t>
            </a:r>
            <a:endParaRPr lang="en-US" sz="950" dirty="0"/>
          </a:p>
        </p:txBody>
      </p:sp>
      <p:sp>
        <p:nvSpPr>
          <p:cNvPr id="33" name="Shape 30"/>
          <p:cNvSpPr/>
          <p:nvPr/>
        </p:nvSpPr>
        <p:spPr>
          <a:xfrm>
            <a:off x="548640" y="4526280"/>
            <a:ext cx="11064240" cy="1143000"/>
          </a:xfrm>
          <a:prstGeom prst="roundRect">
            <a:avLst>
              <a:gd name="adj" fmla="val 6400"/>
            </a:avLst>
          </a:prstGeom>
          <a:solidFill>
            <a:srgbClr val="FDF3D7"/>
          </a:solidFill>
          <a:ln w="9525">
            <a:solidFill>
              <a:srgbClr val="E3E1DA"/>
            </a:solidFill>
            <a:prstDash val="solid"/>
          </a:ln>
        </p:spPr>
      </p:sp>
      <p:sp>
        <p:nvSpPr>
          <p:cNvPr id="34" name="Text 31"/>
          <p:cNvSpPr/>
          <p:nvPr/>
        </p:nvSpPr>
        <p:spPr>
          <a:xfrm>
            <a:off x="777240" y="4663440"/>
            <a:ext cx="10607040" cy="868680"/>
          </a:xfrm>
          <a:prstGeom prst="rect">
            <a:avLst/>
          </a:prstGeom>
          <a:noFill/>
          <a:ln/>
        </p:spPr>
        <p:txBody>
          <a:bodyPr wrap="square" lIns="0" tIns="0" rIns="0" bIns="0" rtlCol="0" anchor="ctr"/>
          <a:lstStyle/>
          <a:p>
            <a:pPr indent="0" marL="0">
              <a:lnSpc>
                <a:spcPts val="1900"/>
              </a:lnSpc>
              <a:buNone/>
            </a:pPr>
            <a:r>
              <a:rPr lang="en-US" sz="1300" b="1" dirty="0">
                <a:solidFill>
                  <a:srgbClr val="1F2024"/>
                </a:solidFill>
                <a:latin typeface="Calibri" pitchFamily="34" charset="0"/>
                <a:ea typeface="Calibri" pitchFamily="34" charset="-122"/>
                <a:cs typeface="Calibri" pitchFamily="34" charset="-120"/>
              </a:rPr>
              <a:t>Why this order.  </a:t>
            </a:r>
            <a:pPr indent="0" marL="0">
              <a:lnSpc>
                <a:spcPts val="1900"/>
              </a:lnSpc>
              <a:buNone/>
            </a:pPr>
            <a:r>
              <a:rPr lang="en-US" sz="1300" dirty="0">
                <a:solidFill>
                  <a:srgbClr val="1F2024"/>
                </a:solidFill>
                <a:latin typeface="Calibri" pitchFamily="34" charset="0"/>
                <a:ea typeface="Calibri" pitchFamily="34" charset="-122"/>
                <a:cs typeface="Calibri" pitchFamily="34" charset="-120"/>
              </a:rPr>
              <a:t>An internal audit finds the known gaps cheaply, so we close those first. Only then do we pay an external firm, and the engagement is spent finding what we missed rather than rediscovering what we already documented. You receive the audit scorecard, the penetration test report, and the retest letter confirming findings were closed.</a:t>
            </a:r>
            <a:endParaRPr lang="en-US" sz="1300" dirty="0"/>
          </a:p>
        </p:txBody>
      </p:sp>
      <p:sp>
        <p:nvSpPr>
          <p:cNvPr id="35" name="Text 32"/>
          <p:cNvSpPr/>
          <p:nvPr/>
        </p:nvSpPr>
        <p:spPr>
          <a:xfrm>
            <a:off x="548640" y="6327648"/>
            <a:ext cx="11064240" cy="274320"/>
          </a:xfrm>
          <a:prstGeom prst="rect">
            <a:avLst/>
          </a:prstGeom>
          <a:noFill/>
          <a:ln/>
        </p:spPr>
        <p:txBody>
          <a:bodyPr wrap="square" lIns="0" tIns="0" rIns="0" bIns="0" rtlCol="0" anchor="ctr"/>
          <a:lstStyle/>
          <a:p>
            <a:pPr indent="0" marL="0">
              <a:buNone/>
            </a:pPr>
            <a:r>
              <a:rPr lang="en-US" sz="900" dirty="0">
                <a:solidFill>
                  <a:srgbClr val="6B6D76"/>
                </a:solidFill>
                <a:latin typeface="Calibri" pitchFamily="34" charset="0"/>
                <a:ea typeface="Calibri" pitchFamily="34" charset="-122"/>
                <a:cs typeface="Calibri" pitchFamily="34" charset="-120"/>
              </a:rPr>
              <a:t>XD House   |   Ma'aden ARGP Security &amp; Assurance   |   15 July 2026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9692640" cy="548640"/>
          </a:xfrm>
          <a:prstGeom prst="rect">
            <a:avLst/>
          </a:prstGeom>
          <a:noFill/>
          <a:ln/>
        </p:spPr>
        <p:txBody>
          <a:bodyPr wrap="square" lIns="0" tIns="0" rIns="0" bIns="0" rtlCol="0" anchor="ctr"/>
          <a:lstStyle/>
          <a:p>
            <a:pPr indent="0" marL="0">
              <a:buNone/>
            </a:pPr>
            <a:r>
              <a:rPr lang="en-US" sz="3000" b="1" dirty="0">
                <a:solidFill>
                  <a:srgbClr val="1F2024"/>
                </a:solidFill>
                <a:latin typeface="Cambria" pitchFamily="34" charset="0"/>
                <a:ea typeface="Cambria" pitchFamily="34" charset="-122"/>
                <a:cs typeface="Cambria" pitchFamily="34" charset="-120"/>
              </a:rPr>
              <a:t>Independent certification</a:t>
            </a:r>
            <a:endParaRPr lang="en-US" sz="3000" dirty="0"/>
          </a:p>
        </p:txBody>
      </p:sp>
      <p:sp>
        <p:nvSpPr>
          <p:cNvPr id="3" name="Text 1"/>
          <p:cNvSpPr/>
          <p:nvPr/>
        </p:nvSpPr>
        <p:spPr>
          <a:xfrm>
            <a:off x="548640" y="914400"/>
            <a:ext cx="9692640" cy="292608"/>
          </a:xfrm>
          <a:prstGeom prst="rect">
            <a:avLst/>
          </a:prstGeom>
          <a:noFill/>
          <a:ln/>
        </p:spPr>
        <p:txBody>
          <a:bodyPr wrap="square" lIns="0" tIns="0" rIns="0" bIns="0" rtlCol="0" anchor="ctr"/>
          <a:lstStyle/>
          <a:p>
            <a:pPr indent="0" marL="0">
              <a:buNone/>
            </a:pPr>
            <a:r>
              <a:rPr lang="en-US" sz="1300" dirty="0">
                <a:solidFill>
                  <a:srgbClr val="6B6D76"/>
                </a:solidFill>
                <a:latin typeface="Calibri" pitchFamily="34" charset="0"/>
                <a:ea typeface="Calibri" pitchFamily="34" charset="-122"/>
                <a:cs typeface="Calibri" pitchFamily="34" charset="-120"/>
              </a:rPr>
              <a:t>Third-party assessed, not self-declared</a:t>
            </a:r>
            <a:endParaRPr lang="en-US" sz="1300" dirty="0"/>
          </a:p>
        </p:txBody>
      </p:sp>
      <p:pic>
        <p:nvPicPr>
          <p:cNvPr id="4" name="Image 0" descr="preencoded.png">    </p:cNvPr>
          <p:cNvPicPr>
            <a:picLocks noChangeAspect="1"/>
          </p:cNvPicPr>
          <p:nvPr/>
        </p:nvPicPr>
        <p:blipFill>
          <a:blip r:embed="rId1"/>
          <a:stretch>
            <a:fillRect/>
          </a:stretch>
        </p:blipFill>
        <p:spPr>
          <a:xfrm>
            <a:off x="11292840" y="384048"/>
            <a:ext cx="411480" cy="411480"/>
          </a:xfrm>
          <a:prstGeom prst="rect">
            <a:avLst/>
          </a:prstGeom>
        </p:spPr>
      </p:pic>
      <p:sp>
        <p:nvSpPr>
          <p:cNvPr id="5" name="Shape 2"/>
          <p:cNvSpPr/>
          <p:nvPr/>
        </p:nvSpPr>
        <p:spPr>
          <a:xfrm>
            <a:off x="548640" y="1600200"/>
            <a:ext cx="5486400" cy="3200400"/>
          </a:xfrm>
          <a:prstGeom prst="roundRect">
            <a:avLst>
              <a:gd name="adj" fmla="val 2286"/>
            </a:avLst>
          </a:prstGeom>
          <a:solidFill>
            <a:srgbClr val="F4F3F0"/>
          </a:solidFill>
          <a:ln w="9525">
            <a:solidFill>
              <a:srgbClr val="E3E1DA"/>
            </a:solidFill>
            <a:prstDash val="solid"/>
          </a:ln>
        </p:spPr>
      </p:sp>
      <p:pic>
        <p:nvPicPr>
          <p:cNvPr id="6" name="Image 1" descr="preencoded.png">    </p:cNvPr>
          <p:cNvPicPr>
            <a:picLocks noChangeAspect="1"/>
          </p:cNvPicPr>
          <p:nvPr/>
        </p:nvPicPr>
        <p:blipFill>
          <a:blip r:embed="rId2"/>
          <a:stretch>
            <a:fillRect/>
          </a:stretch>
        </p:blipFill>
        <p:spPr>
          <a:xfrm>
            <a:off x="868680" y="1965960"/>
            <a:ext cx="4846320" cy="1600200"/>
          </a:xfrm>
          <a:prstGeom prst="rect">
            <a:avLst/>
          </a:prstGeom>
        </p:spPr>
      </p:pic>
      <p:sp>
        <p:nvSpPr>
          <p:cNvPr id="7" name="Text 3"/>
          <p:cNvSpPr/>
          <p:nvPr/>
        </p:nvSpPr>
        <p:spPr>
          <a:xfrm>
            <a:off x="868680" y="3749040"/>
            <a:ext cx="4846320" cy="548640"/>
          </a:xfrm>
          <a:prstGeom prst="rect">
            <a:avLst/>
          </a:prstGeom>
          <a:noFill/>
          <a:ln/>
        </p:spPr>
        <p:txBody>
          <a:bodyPr wrap="square" lIns="0" tIns="0" rIns="0" bIns="0" rtlCol="0" anchor="ctr"/>
          <a:lstStyle/>
          <a:p>
            <a:pPr indent="0" marL="0">
              <a:buNone/>
            </a:pPr>
            <a:r>
              <a:rPr lang="en-US" sz="1350" b="1" dirty="0">
                <a:solidFill>
                  <a:srgbClr val="1F2024"/>
                </a:solidFill>
                <a:latin typeface="Calibri" pitchFamily="34" charset="0"/>
                <a:ea typeface="Calibri" pitchFamily="34" charset="-122"/>
                <a:cs typeface="Calibri" pitchFamily="34" charset="-120"/>
              </a:rPr>
              <a:t>BSI Kitemark for BIM Design and Construction, and for BIM Security</a:t>
            </a:r>
            <a:endParaRPr lang="en-US" sz="1350" dirty="0"/>
          </a:p>
        </p:txBody>
      </p:sp>
      <p:sp>
        <p:nvSpPr>
          <p:cNvPr id="8" name="Text 4"/>
          <p:cNvSpPr/>
          <p:nvPr/>
        </p:nvSpPr>
        <p:spPr>
          <a:xfrm>
            <a:off x="868680" y="4224528"/>
            <a:ext cx="4846320" cy="457200"/>
          </a:xfrm>
          <a:prstGeom prst="rect">
            <a:avLst/>
          </a:prstGeom>
          <a:noFill/>
          <a:ln/>
        </p:spPr>
        <p:txBody>
          <a:bodyPr wrap="square" lIns="0" tIns="0" rIns="0" bIns="0" rtlCol="0" anchor="ctr"/>
          <a:lstStyle/>
          <a:p>
            <a:pPr indent="0" marL="0">
              <a:lnSpc>
                <a:spcPts val="1400"/>
              </a:lnSpc>
              <a:buNone/>
            </a:pPr>
            <a:r>
              <a:rPr lang="en-US" sz="1100" dirty="0">
                <a:solidFill>
                  <a:srgbClr val="6B6D76"/>
                </a:solidFill>
                <a:latin typeface="Calibri" pitchFamily="34" charset="0"/>
                <a:ea typeface="Calibri" pitchFamily="34" charset="-122"/>
                <a:cs typeface="Calibri" pitchFamily="34" charset="-120"/>
              </a:rPr>
              <a:t>BIM Security addresses security-minded information management for built assets, which is directly relevant to a Common Data Environment.</a:t>
            </a:r>
            <a:endParaRPr lang="en-US" sz="1100" dirty="0"/>
          </a:p>
        </p:txBody>
      </p:sp>
      <p:sp>
        <p:nvSpPr>
          <p:cNvPr id="9" name="Shape 5"/>
          <p:cNvSpPr/>
          <p:nvPr/>
        </p:nvSpPr>
        <p:spPr>
          <a:xfrm>
            <a:off x="6309360" y="1600200"/>
            <a:ext cx="5303520" cy="3200400"/>
          </a:xfrm>
          <a:prstGeom prst="roundRect">
            <a:avLst>
              <a:gd name="adj" fmla="val 2286"/>
            </a:avLst>
          </a:prstGeom>
          <a:solidFill>
            <a:srgbClr val="23242A"/>
          </a:solidFill>
          <a:ln w="9525">
            <a:solidFill>
              <a:srgbClr val="E3E1DA"/>
            </a:solidFill>
            <a:prstDash val="solid"/>
          </a:ln>
        </p:spPr>
      </p:sp>
      <p:sp>
        <p:nvSpPr>
          <p:cNvPr id="10" name="Text 6"/>
          <p:cNvSpPr/>
          <p:nvPr/>
        </p:nvSpPr>
        <p:spPr>
          <a:xfrm>
            <a:off x="6583680" y="1874520"/>
            <a:ext cx="4754880" cy="320040"/>
          </a:xfrm>
          <a:prstGeom prst="rect">
            <a:avLst/>
          </a:prstGeom>
          <a:noFill/>
          <a:ln/>
        </p:spPr>
        <p:txBody>
          <a:bodyPr wrap="square" lIns="0" tIns="0" rIns="0" bIns="0" rtlCol="0" anchor="ctr"/>
          <a:lstStyle/>
          <a:p>
            <a:pPr indent="0" marL="0">
              <a:buNone/>
            </a:pPr>
            <a:r>
              <a:rPr lang="en-US" sz="1900" b="1" dirty="0">
                <a:solidFill>
                  <a:srgbClr val="C9A227"/>
                </a:solidFill>
                <a:latin typeface="Cambria" pitchFamily="34" charset="0"/>
                <a:ea typeface="Cambria" pitchFamily="34" charset="-122"/>
                <a:cs typeface="Cambria" pitchFamily="34" charset="-120"/>
              </a:rPr>
              <a:t>What we will not claim</a:t>
            </a:r>
            <a:endParaRPr lang="en-US" sz="1900" dirty="0"/>
          </a:p>
        </p:txBody>
      </p:sp>
      <p:sp>
        <p:nvSpPr>
          <p:cNvPr id="11" name="Text 7"/>
          <p:cNvSpPr/>
          <p:nvPr/>
        </p:nvSpPr>
        <p:spPr>
          <a:xfrm>
            <a:off x="6583680" y="2331720"/>
            <a:ext cx="4754880" cy="2286000"/>
          </a:xfrm>
          <a:prstGeom prst="rect">
            <a:avLst/>
          </a:prstGeom>
          <a:noFill/>
          <a:ln/>
        </p:spPr>
        <p:txBody>
          <a:bodyPr wrap="square" lIns="0" tIns="0" rIns="0" bIns="0" rtlCol="0" anchor="ctr"/>
          <a:lstStyle/>
          <a:p>
            <a:pPr indent="0" marL="0">
              <a:lnSpc>
                <a:spcPts val="2100"/>
              </a:lnSpc>
              <a:buNone/>
            </a:pPr>
            <a:r>
              <a:rPr lang="en-US" sz="1350" b="1" dirty="0">
                <a:solidFill>
                  <a:srgbClr val="D8D8DC"/>
                </a:solidFill>
                <a:latin typeface="Calibri" pitchFamily="34" charset="0"/>
                <a:ea typeface="Calibri" pitchFamily="34" charset="-122"/>
                <a:cs typeface="Calibri" pitchFamily="34" charset="-120"/>
              </a:rPr>
              <a:t>We state only what we hold and can evidence on request.</a:t>
            </a:r>
            <a:endParaRPr lang="en-US" sz="1350" dirty="0"/>
          </a:p>
          <a:p>
            <a:pPr indent="0" marL="0">
              <a:lnSpc>
                <a:spcPts val="2100"/>
              </a:lnSpc>
              <a:buNone/>
            </a:pPr>
            <a:endParaRPr lang="en-US" sz="1350" dirty="0"/>
          </a:p>
          <a:p>
            <a:pPr indent="0" marL="0">
              <a:lnSpc>
                <a:spcPts val="2100"/>
              </a:lnSpc>
              <a:buNone/>
            </a:pPr>
            <a:r>
              <a:rPr lang="en-US" sz="1350" dirty="0">
                <a:solidFill>
                  <a:srgbClr val="D8D8DC"/>
                </a:solidFill>
                <a:latin typeface="Calibri" pitchFamily="34" charset="0"/>
                <a:ea typeface="Calibri" pitchFamily="34" charset="-122"/>
                <a:cs typeface="Calibri" pitchFamily="34" charset="-120"/>
              </a:rPr>
              <a:t>A certification claim is the first thing a security reviewer verifies. An unsupportable one ends the review, and the relationship.</a:t>
            </a:r>
            <a:endParaRPr lang="en-US" sz="1350" dirty="0"/>
          </a:p>
          <a:p>
            <a:pPr indent="0" marL="0">
              <a:lnSpc>
                <a:spcPts val="2100"/>
              </a:lnSpc>
              <a:buNone/>
            </a:pPr>
            <a:endParaRPr lang="en-US" sz="1350" dirty="0"/>
          </a:p>
          <a:p>
            <a:pPr indent="0" marL="0">
              <a:lnSpc>
                <a:spcPts val="2100"/>
              </a:lnSpc>
              <a:buNone/>
            </a:pPr>
            <a:r>
              <a:rPr lang="en-US" sz="1350" dirty="0">
                <a:solidFill>
                  <a:srgbClr val="D8D8DC"/>
                </a:solidFill>
                <a:latin typeface="Calibri" pitchFamily="34" charset="0"/>
                <a:ea typeface="Calibri" pitchFamily="34" charset="-122"/>
                <a:cs typeface="Calibri" pitchFamily="34" charset="-120"/>
              </a:rPr>
              <a:t>Where we are aligned to a standard but not certified against it, we say exactly that.</a:t>
            </a:r>
            <a:endParaRPr lang="en-US" sz="1350" dirty="0"/>
          </a:p>
        </p:txBody>
      </p:sp>
      <p:sp>
        <p:nvSpPr>
          <p:cNvPr id="12" name="Text 8"/>
          <p:cNvSpPr/>
          <p:nvPr/>
        </p:nvSpPr>
        <p:spPr>
          <a:xfrm>
            <a:off x="548640" y="6327648"/>
            <a:ext cx="11064240" cy="274320"/>
          </a:xfrm>
          <a:prstGeom prst="rect">
            <a:avLst/>
          </a:prstGeom>
          <a:noFill/>
          <a:ln/>
        </p:spPr>
        <p:txBody>
          <a:bodyPr wrap="square" lIns="0" tIns="0" rIns="0" bIns="0" rtlCol="0" anchor="ctr"/>
          <a:lstStyle/>
          <a:p>
            <a:pPr indent="0" marL="0">
              <a:buNone/>
            </a:pPr>
            <a:r>
              <a:rPr lang="en-US" sz="900" dirty="0">
                <a:solidFill>
                  <a:srgbClr val="6B6D76"/>
                </a:solidFill>
                <a:latin typeface="Calibri" pitchFamily="34" charset="0"/>
                <a:ea typeface="Calibri" pitchFamily="34" charset="-122"/>
                <a:cs typeface="Calibri" pitchFamily="34" charset="-120"/>
              </a:rPr>
              <a:t>Certificate numbers and scope available on request.</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9692640" cy="548640"/>
          </a:xfrm>
          <a:prstGeom prst="rect">
            <a:avLst/>
          </a:prstGeom>
          <a:noFill/>
          <a:ln/>
        </p:spPr>
        <p:txBody>
          <a:bodyPr wrap="square" lIns="0" tIns="0" rIns="0" bIns="0" rtlCol="0" anchor="ctr"/>
          <a:lstStyle/>
          <a:p>
            <a:pPr indent="0" marL="0">
              <a:buNone/>
            </a:pPr>
            <a:r>
              <a:rPr lang="en-US" sz="3000" b="1" dirty="0">
                <a:solidFill>
                  <a:srgbClr val="1F2024"/>
                </a:solidFill>
                <a:latin typeface="Cambria" pitchFamily="34" charset="0"/>
                <a:ea typeface="Cambria" pitchFamily="34" charset="-122"/>
                <a:cs typeface="Cambria" pitchFamily="34" charset="-120"/>
              </a:rPr>
              <a:t>The assurance pack</a:t>
            </a:r>
            <a:endParaRPr lang="en-US" sz="3000" dirty="0"/>
          </a:p>
        </p:txBody>
      </p:sp>
      <p:sp>
        <p:nvSpPr>
          <p:cNvPr id="3" name="Text 1"/>
          <p:cNvSpPr/>
          <p:nvPr/>
        </p:nvSpPr>
        <p:spPr>
          <a:xfrm>
            <a:off x="548640" y="914400"/>
            <a:ext cx="9692640" cy="292608"/>
          </a:xfrm>
          <a:prstGeom prst="rect">
            <a:avLst/>
          </a:prstGeom>
          <a:noFill/>
          <a:ln/>
        </p:spPr>
        <p:txBody>
          <a:bodyPr wrap="square" lIns="0" tIns="0" rIns="0" bIns="0" rtlCol="0" anchor="ctr"/>
          <a:lstStyle/>
          <a:p>
            <a:pPr indent="0" marL="0">
              <a:buNone/>
            </a:pPr>
            <a:r>
              <a:rPr lang="en-US" sz="1300" dirty="0">
                <a:solidFill>
                  <a:srgbClr val="6B6D76"/>
                </a:solidFill>
                <a:latin typeface="Calibri" pitchFamily="34" charset="0"/>
                <a:ea typeface="Calibri" pitchFamily="34" charset="-122"/>
                <a:cs typeface="Calibri" pitchFamily="34" charset="-120"/>
              </a:rPr>
              <a:t>Five documents, available to your reviewers today</a:t>
            </a:r>
            <a:endParaRPr lang="en-US" sz="1300" dirty="0"/>
          </a:p>
        </p:txBody>
      </p:sp>
      <p:pic>
        <p:nvPicPr>
          <p:cNvPr id="4" name="Image 0" descr="preencoded.png">    </p:cNvPr>
          <p:cNvPicPr>
            <a:picLocks noChangeAspect="1"/>
          </p:cNvPicPr>
          <p:nvPr/>
        </p:nvPicPr>
        <p:blipFill>
          <a:blip r:embed="rId1"/>
          <a:stretch>
            <a:fillRect/>
          </a:stretch>
        </p:blipFill>
        <p:spPr>
          <a:xfrm>
            <a:off x="11292840" y="384048"/>
            <a:ext cx="411480" cy="411480"/>
          </a:xfrm>
          <a:prstGeom prst="rect">
            <a:avLst/>
          </a:prstGeom>
        </p:spPr>
      </p:pic>
      <p:sp>
        <p:nvSpPr>
          <p:cNvPr id="5" name="Shape 2"/>
          <p:cNvSpPr/>
          <p:nvPr/>
        </p:nvSpPr>
        <p:spPr>
          <a:xfrm>
            <a:off x="548640" y="1554480"/>
            <a:ext cx="11064240" cy="822960"/>
          </a:xfrm>
          <a:prstGeom prst="roundRect">
            <a:avLst>
              <a:gd name="adj" fmla="val 8889"/>
            </a:avLst>
          </a:prstGeom>
          <a:solidFill>
            <a:srgbClr val="F4F3F0"/>
          </a:solidFill>
          <a:ln w="9525">
            <a:solidFill>
              <a:srgbClr val="E3E1DA"/>
            </a:solidFill>
            <a:prstDash val="solid"/>
          </a:ln>
        </p:spPr>
      </p:sp>
      <p:sp>
        <p:nvSpPr>
          <p:cNvPr id="6" name="Text 3"/>
          <p:cNvSpPr/>
          <p:nvPr/>
        </p:nvSpPr>
        <p:spPr>
          <a:xfrm>
            <a:off x="731520" y="1554480"/>
            <a:ext cx="457200" cy="822960"/>
          </a:xfrm>
          <a:prstGeom prst="rect">
            <a:avLst/>
          </a:prstGeom>
          <a:noFill/>
          <a:ln/>
        </p:spPr>
        <p:txBody>
          <a:bodyPr wrap="square" lIns="0" tIns="0" rIns="0" bIns="0" rtlCol="0" anchor="ctr"/>
          <a:lstStyle/>
          <a:p>
            <a:pPr indent="0" marL="0">
              <a:buNone/>
            </a:pPr>
            <a:r>
              <a:rPr lang="en-US" sz="2000" b="1" dirty="0">
                <a:solidFill>
                  <a:srgbClr val="C9A227"/>
                </a:solidFill>
                <a:latin typeface="Cambria" pitchFamily="34" charset="0"/>
                <a:ea typeface="Cambria" pitchFamily="34" charset="-122"/>
                <a:cs typeface="Cambria" pitchFamily="34" charset="-120"/>
              </a:rPr>
              <a:t>01</a:t>
            </a:r>
            <a:endParaRPr lang="en-US" sz="2000" dirty="0"/>
          </a:p>
        </p:txBody>
      </p:sp>
      <p:sp>
        <p:nvSpPr>
          <p:cNvPr id="7" name="Text 4"/>
          <p:cNvSpPr/>
          <p:nvPr/>
        </p:nvSpPr>
        <p:spPr>
          <a:xfrm>
            <a:off x="1280160" y="1682496"/>
            <a:ext cx="5120640" cy="274320"/>
          </a:xfrm>
          <a:prstGeom prst="rect">
            <a:avLst/>
          </a:prstGeom>
          <a:noFill/>
          <a:ln/>
        </p:spPr>
        <p:txBody>
          <a:bodyPr wrap="square" lIns="0" tIns="0" rIns="0" bIns="0" rtlCol="0" anchor="ctr"/>
          <a:lstStyle/>
          <a:p>
            <a:pPr indent="0" marL="0">
              <a:buNone/>
            </a:pPr>
            <a:r>
              <a:rPr lang="en-US" sz="1350" b="1" dirty="0">
                <a:solidFill>
                  <a:srgbClr val="1F2024"/>
                </a:solidFill>
                <a:latin typeface="Calibri" pitchFamily="34" charset="0"/>
                <a:ea typeface="Calibri" pitchFamily="34" charset="-122"/>
                <a:cs typeface="Calibri" pitchFamily="34" charset="-120"/>
              </a:rPr>
              <a:t>Security Overview</a:t>
            </a:r>
            <a:endParaRPr lang="en-US" sz="1350" dirty="0"/>
          </a:p>
        </p:txBody>
      </p:sp>
      <p:sp>
        <p:nvSpPr>
          <p:cNvPr id="8" name="Text 5"/>
          <p:cNvSpPr/>
          <p:nvPr/>
        </p:nvSpPr>
        <p:spPr>
          <a:xfrm>
            <a:off x="1280160" y="1965960"/>
            <a:ext cx="9692640" cy="274320"/>
          </a:xfrm>
          <a:prstGeom prst="rect">
            <a:avLst/>
          </a:prstGeom>
          <a:noFill/>
          <a:ln/>
        </p:spPr>
        <p:txBody>
          <a:bodyPr wrap="square" lIns="0" tIns="0" rIns="0" bIns="0" rtlCol="0" anchor="ctr"/>
          <a:lstStyle/>
          <a:p>
            <a:pPr indent="0" marL="0">
              <a:buNone/>
            </a:pPr>
            <a:r>
              <a:rPr lang="en-US" sz="1100" dirty="0">
                <a:solidFill>
                  <a:srgbClr val="6B6D76"/>
                </a:solidFill>
                <a:latin typeface="Calibri" pitchFamily="34" charset="0"/>
                <a:ea typeface="Calibri" pitchFamily="34" charset="-122"/>
                <a:cs typeface="Calibri" pitchFamily="34" charset="-120"/>
              </a:rPr>
              <a:t>Encryption, residency, access control, assurance, vulnerability reporting</a:t>
            </a:r>
            <a:endParaRPr lang="en-US" sz="1100" dirty="0"/>
          </a:p>
        </p:txBody>
      </p:sp>
      <p:sp>
        <p:nvSpPr>
          <p:cNvPr id="9" name="Shape 6"/>
          <p:cNvSpPr/>
          <p:nvPr/>
        </p:nvSpPr>
        <p:spPr>
          <a:xfrm>
            <a:off x="548640" y="2468880"/>
            <a:ext cx="11064240" cy="822960"/>
          </a:xfrm>
          <a:prstGeom prst="roundRect">
            <a:avLst>
              <a:gd name="adj" fmla="val 8889"/>
            </a:avLst>
          </a:prstGeom>
          <a:solidFill>
            <a:srgbClr val="F4F3F0"/>
          </a:solidFill>
          <a:ln w="9525">
            <a:solidFill>
              <a:srgbClr val="E3E1DA"/>
            </a:solidFill>
            <a:prstDash val="solid"/>
          </a:ln>
        </p:spPr>
      </p:sp>
      <p:sp>
        <p:nvSpPr>
          <p:cNvPr id="10" name="Text 7"/>
          <p:cNvSpPr/>
          <p:nvPr/>
        </p:nvSpPr>
        <p:spPr>
          <a:xfrm>
            <a:off x="731520" y="2468880"/>
            <a:ext cx="457200" cy="822960"/>
          </a:xfrm>
          <a:prstGeom prst="rect">
            <a:avLst/>
          </a:prstGeom>
          <a:noFill/>
          <a:ln/>
        </p:spPr>
        <p:txBody>
          <a:bodyPr wrap="square" lIns="0" tIns="0" rIns="0" bIns="0" rtlCol="0" anchor="ctr"/>
          <a:lstStyle/>
          <a:p>
            <a:pPr indent="0" marL="0">
              <a:buNone/>
            </a:pPr>
            <a:r>
              <a:rPr lang="en-US" sz="2000" b="1" dirty="0">
                <a:solidFill>
                  <a:srgbClr val="C9A227"/>
                </a:solidFill>
                <a:latin typeface="Cambria" pitchFamily="34" charset="0"/>
                <a:ea typeface="Cambria" pitchFamily="34" charset="-122"/>
                <a:cs typeface="Cambria" pitchFamily="34" charset="-120"/>
              </a:rPr>
              <a:t>02</a:t>
            </a:r>
            <a:endParaRPr lang="en-US" sz="2000" dirty="0"/>
          </a:p>
        </p:txBody>
      </p:sp>
      <p:sp>
        <p:nvSpPr>
          <p:cNvPr id="11" name="Text 8"/>
          <p:cNvSpPr/>
          <p:nvPr/>
        </p:nvSpPr>
        <p:spPr>
          <a:xfrm>
            <a:off x="1280160" y="2596896"/>
            <a:ext cx="5120640" cy="274320"/>
          </a:xfrm>
          <a:prstGeom prst="rect">
            <a:avLst/>
          </a:prstGeom>
          <a:noFill/>
          <a:ln/>
        </p:spPr>
        <p:txBody>
          <a:bodyPr wrap="square" lIns="0" tIns="0" rIns="0" bIns="0" rtlCol="0" anchor="ctr"/>
          <a:lstStyle/>
          <a:p>
            <a:pPr indent="0" marL="0">
              <a:buNone/>
            </a:pPr>
            <a:r>
              <a:rPr lang="en-US" sz="1350" b="1" dirty="0">
                <a:solidFill>
                  <a:srgbClr val="1F2024"/>
                </a:solidFill>
                <a:latin typeface="Calibri" pitchFamily="34" charset="0"/>
                <a:ea typeface="Calibri" pitchFamily="34" charset="-122"/>
                <a:cs typeface="Calibri" pitchFamily="34" charset="-120"/>
              </a:rPr>
              <a:t>Security Implementation Plan</a:t>
            </a:r>
            <a:endParaRPr lang="en-US" sz="1350" dirty="0"/>
          </a:p>
        </p:txBody>
      </p:sp>
      <p:sp>
        <p:nvSpPr>
          <p:cNvPr id="12" name="Text 9"/>
          <p:cNvSpPr/>
          <p:nvPr/>
        </p:nvSpPr>
        <p:spPr>
          <a:xfrm>
            <a:off x="1280160" y="2880360"/>
            <a:ext cx="9692640" cy="274320"/>
          </a:xfrm>
          <a:prstGeom prst="rect">
            <a:avLst/>
          </a:prstGeom>
          <a:noFill/>
          <a:ln/>
        </p:spPr>
        <p:txBody>
          <a:bodyPr wrap="square" lIns="0" tIns="0" rIns="0" bIns="0" rtlCol="0" anchor="ctr"/>
          <a:lstStyle/>
          <a:p>
            <a:pPr indent="0" marL="0">
              <a:buNone/>
            </a:pPr>
            <a:r>
              <a:rPr lang="en-US" sz="1100" dirty="0">
                <a:solidFill>
                  <a:srgbClr val="6B6D76"/>
                </a:solidFill>
                <a:latin typeface="Calibri" pitchFamily="34" charset="0"/>
                <a:ea typeface="Calibri" pitchFamily="34" charset="-122"/>
                <a:cs typeface="Calibri" pitchFamily="34" charset="-120"/>
              </a:rPr>
              <a:t>The 13 control layers, each mapped to its SoW clause and Azure service</a:t>
            </a:r>
            <a:endParaRPr lang="en-US" sz="1100" dirty="0"/>
          </a:p>
        </p:txBody>
      </p:sp>
      <p:sp>
        <p:nvSpPr>
          <p:cNvPr id="13" name="Shape 10"/>
          <p:cNvSpPr/>
          <p:nvPr/>
        </p:nvSpPr>
        <p:spPr>
          <a:xfrm>
            <a:off x="548640" y="3383280"/>
            <a:ext cx="11064240" cy="822960"/>
          </a:xfrm>
          <a:prstGeom prst="roundRect">
            <a:avLst>
              <a:gd name="adj" fmla="val 8889"/>
            </a:avLst>
          </a:prstGeom>
          <a:solidFill>
            <a:srgbClr val="F4F3F0"/>
          </a:solidFill>
          <a:ln w="9525">
            <a:solidFill>
              <a:srgbClr val="E3E1DA"/>
            </a:solidFill>
            <a:prstDash val="solid"/>
          </a:ln>
        </p:spPr>
      </p:sp>
      <p:sp>
        <p:nvSpPr>
          <p:cNvPr id="14" name="Text 11"/>
          <p:cNvSpPr/>
          <p:nvPr/>
        </p:nvSpPr>
        <p:spPr>
          <a:xfrm>
            <a:off x="731520" y="3383280"/>
            <a:ext cx="457200" cy="822960"/>
          </a:xfrm>
          <a:prstGeom prst="rect">
            <a:avLst/>
          </a:prstGeom>
          <a:noFill/>
          <a:ln/>
        </p:spPr>
        <p:txBody>
          <a:bodyPr wrap="square" lIns="0" tIns="0" rIns="0" bIns="0" rtlCol="0" anchor="ctr"/>
          <a:lstStyle/>
          <a:p>
            <a:pPr indent="0" marL="0">
              <a:buNone/>
            </a:pPr>
            <a:r>
              <a:rPr lang="en-US" sz="2000" b="1" dirty="0">
                <a:solidFill>
                  <a:srgbClr val="C9A227"/>
                </a:solidFill>
                <a:latin typeface="Cambria" pitchFamily="34" charset="0"/>
                <a:ea typeface="Cambria" pitchFamily="34" charset="-122"/>
                <a:cs typeface="Cambria" pitchFamily="34" charset="-120"/>
              </a:rPr>
              <a:t>03</a:t>
            </a:r>
            <a:endParaRPr lang="en-US" sz="2000" dirty="0"/>
          </a:p>
        </p:txBody>
      </p:sp>
      <p:sp>
        <p:nvSpPr>
          <p:cNvPr id="15" name="Text 12"/>
          <p:cNvSpPr/>
          <p:nvPr/>
        </p:nvSpPr>
        <p:spPr>
          <a:xfrm>
            <a:off x="1280160" y="3511296"/>
            <a:ext cx="5120640" cy="274320"/>
          </a:xfrm>
          <a:prstGeom prst="rect">
            <a:avLst/>
          </a:prstGeom>
          <a:noFill/>
          <a:ln/>
        </p:spPr>
        <p:txBody>
          <a:bodyPr wrap="square" lIns="0" tIns="0" rIns="0" bIns="0" rtlCol="0" anchor="ctr"/>
          <a:lstStyle/>
          <a:p>
            <a:pPr indent="0" marL="0">
              <a:buNone/>
            </a:pPr>
            <a:r>
              <a:rPr lang="en-US" sz="1350" b="1" dirty="0">
                <a:solidFill>
                  <a:srgbClr val="1F2024"/>
                </a:solidFill>
                <a:latin typeface="Calibri" pitchFamily="34" charset="0"/>
                <a:ea typeface="Calibri" pitchFamily="34" charset="-122"/>
                <a:cs typeface="Calibri" pitchFamily="34" charset="-120"/>
              </a:rPr>
              <a:t>Security Assurance &amp; Testing Plan</a:t>
            </a:r>
            <a:endParaRPr lang="en-US" sz="1350" dirty="0"/>
          </a:p>
        </p:txBody>
      </p:sp>
      <p:sp>
        <p:nvSpPr>
          <p:cNvPr id="16" name="Text 13"/>
          <p:cNvSpPr/>
          <p:nvPr/>
        </p:nvSpPr>
        <p:spPr>
          <a:xfrm>
            <a:off x="1280160" y="3794760"/>
            <a:ext cx="9692640" cy="274320"/>
          </a:xfrm>
          <a:prstGeom prst="rect">
            <a:avLst/>
          </a:prstGeom>
          <a:noFill/>
          <a:ln/>
        </p:spPr>
        <p:txBody>
          <a:bodyPr wrap="square" lIns="0" tIns="0" rIns="0" bIns="0" rtlCol="0" anchor="ctr"/>
          <a:lstStyle/>
          <a:p>
            <a:pPr indent="0" marL="0">
              <a:buNone/>
            </a:pPr>
            <a:r>
              <a:rPr lang="en-US" sz="1100" dirty="0">
                <a:solidFill>
                  <a:srgbClr val="6B6D76"/>
                </a:solidFill>
                <a:latin typeface="Calibri" pitchFamily="34" charset="0"/>
                <a:ea typeface="Calibri" pitchFamily="34" charset="-122"/>
                <a:cs typeface="Calibri" pitchFamily="34" charset="-120"/>
              </a:rPr>
              <a:t>Audit, independent penetration test, re-audit, and the cadence for each</a:t>
            </a:r>
            <a:endParaRPr lang="en-US" sz="1100" dirty="0"/>
          </a:p>
        </p:txBody>
      </p:sp>
      <p:sp>
        <p:nvSpPr>
          <p:cNvPr id="17" name="Shape 14"/>
          <p:cNvSpPr/>
          <p:nvPr/>
        </p:nvSpPr>
        <p:spPr>
          <a:xfrm>
            <a:off x="548640" y="4297680"/>
            <a:ext cx="11064240" cy="822960"/>
          </a:xfrm>
          <a:prstGeom prst="roundRect">
            <a:avLst>
              <a:gd name="adj" fmla="val 8889"/>
            </a:avLst>
          </a:prstGeom>
          <a:solidFill>
            <a:srgbClr val="F4F3F0"/>
          </a:solidFill>
          <a:ln w="9525">
            <a:solidFill>
              <a:srgbClr val="E3E1DA"/>
            </a:solidFill>
            <a:prstDash val="solid"/>
          </a:ln>
        </p:spPr>
      </p:sp>
      <p:sp>
        <p:nvSpPr>
          <p:cNvPr id="18" name="Text 15"/>
          <p:cNvSpPr/>
          <p:nvPr/>
        </p:nvSpPr>
        <p:spPr>
          <a:xfrm>
            <a:off x="731520" y="4297680"/>
            <a:ext cx="457200" cy="822960"/>
          </a:xfrm>
          <a:prstGeom prst="rect">
            <a:avLst/>
          </a:prstGeom>
          <a:noFill/>
          <a:ln/>
        </p:spPr>
        <p:txBody>
          <a:bodyPr wrap="square" lIns="0" tIns="0" rIns="0" bIns="0" rtlCol="0" anchor="ctr"/>
          <a:lstStyle/>
          <a:p>
            <a:pPr indent="0" marL="0">
              <a:buNone/>
            </a:pPr>
            <a:r>
              <a:rPr lang="en-US" sz="2000" b="1" dirty="0">
                <a:solidFill>
                  <a:srgbClr val="C9A227"/>
                </a:solidFill>
                <a:latin typeface="Cambria" pitchFamily="34" charset="0"/>
                <a:ea typeface="Cambria" pitchFamily="34" charset="-122"/>
                <a:cs typeface="Cambria" pitchFamily="34" charset="-120"/>
              </a:rPr>
              <a:t>04</a:t>
            </a:r>
            <a:endParaRPr lang="en-US" sz="2000" dirty="0"/>
          </a:p>
        </p:txBody>
      </p:sp>
      <p:sp>
        <p:nvSpPr>
          <p:cNvPr id="19" name="Text 16"/>
          <p:cNvSpPr/>
          <p:nvPr/>
        </p:nvSpPr>
        <p:spPr>
          <a:xfrm>
            <a:off x="1280160" y="4425696"/>
            <a:ext cx="5120640" cy="274320"/>
          </a:xfrm>
          <a:prstGeom prst="rect">
            <a:avLst/>
          </a:prstGeom>
          <a:noFill/>
          <a:ln/>
        </p:spPr>
        <p:txBody>
          <a:bodyPr wrap="square" lIns="0" tIns="0" rIns="0" bIns="0" rtlCol="0" anchor="ctr"/>
          <a:lstStyle/>
          <a:p>
            <a:pPr indent="0" marL="0">
              <a:buNone/>
            </a:pPr>
            <a:r>
              <a:rPr lang="en-US" sz="1350" b="1" dirty="0">
                <a:solidFill>
                  <a:srgbClr val="1F2024"/>
                </a:solidFill>
                <a:latin typeface="Calibri" pitchFamily="34" charset="0"/>
                <a:ea typeface="Calibri" pitchFamily="34" charset="-122"/>
                <a:cs typeface="Calibri" pitchFamily="34" charset="-120"/>
              </a:rPr>
              <a:t>Incident Response Plan</a:t>
            </a:r>
            <a:endParaRPr lang="en-US" sz="1350" dirty="0"/>
          </a:p>
        </p:txBody>
      </p:sp>
      <p:sp>
        <p:nvSpPr>
          <p:cNvPr id="20" name="Text 17"/>
          <p:cNvSpPr/>
          <p:nvPr/>
        </p:nvSpPr>
        <p:spPr>
          <a:xfrm>
            <a:off x="1280160" y="4709160"/>
            <a:ext cx="9692640" cy="274320"/>
          </a:xfrm>
          <a:prstGeom prst="rect">
            <a:avLst/>
          </a:prstGeom>
          <a:noFill/>
          <a:ln/>
        </p:spPr>
        <p:txBody>
          <a:bodyPr wrap="square" lIns="0" tIns="0" rIns="0" bIns="0" rtlCol="0" anchor="ctr"/>
          <a:lstStyle/>
          <a:p>
            <a:pPr indent="0" marL="0">
              <a:buNone/>
            </a:pPr>
            <a:r>
              <a:rPr lang="en-US" sz="1100" dirty="0">
                <a:solidFill>
                  <a:srgbClr val="6B6D76"/>
                </a:solidFill>
                <a:latin typeface="Calibri" pitchFamily="34" charset="0"/>
                <a:ea typeface="Calibri" pitchFamily="34" charset="-122"/>
                <a:cs typeface="Calibri" pitchFamily="34" charset="-120"/>
              </a:rPr>
              <a:t>Severity levels, roles, containment, notification timelines, post-incident review</a:t>
            </a:r>
            <a:endParaRPr lang="en-US" sz="1100" dirty="0"/>
          </a:p>
        </p:txBody>
      </p:sp>
      <p:sp>
        <p:nvSpPr>
          <p:cNvPr id="21" name="Shape 18"/>
          <p:cNvSpPr/>
          <p:nvPr/>
        </p:nvSpPr>
        <p:spPr>
          <a:xfrm>
            <a:off x="548640" y="5212080"/>
            <a:ext cx="11064240" cy="822960"/>
          </a:xfrm>
          <a:prstGeom prst="roundRect">
            <a:avLst>
              <a:gd name="adj" fmla="val 8889"/>
            </a:avLst>
          </a:prstGeom>
          <a:solidFill>
            <a:srgbClr val="F4F3F0"/>
          </a:solidFill>
          <a:ln w="9525">
            <a:solidFill>
              <a:srgbClr val="E3E1DA"/>
            </a:solidFill>
            <a:prstDash val="solid"/>
          </a:ln>
        </p:spPr>
      </p:sp>
      <p:sp>
        <p:nvSpPr>
          <p:cNvPr id="22" name="Text 19"/>
          <p:cNvSpPr/>
          <p:nvPr/>
        </p:nvSpPr>
        <p:spPr>
          <a:xfrm>
            <a:off x="731520" y="5212080"/>
            <a:ext cx="457200" cy="822960"/>
          </a:xfrm>
          <a:prstGeom prst="rect">
            <a:avLst/>
          </a:prstGeom>
          <a:noFill/>
          <a:ln/>
        </p:spPr>
        <p:txBody>
          <a:bodyPr wrap="square" lIns="0" tIns="0" rIns="0" bIns="0" rtlCol="0" anchor="ctr"/>
          <a:lstStyle/>
          <a:p>
            <a:pPr indent="0" marL="0">
              <a:buNone/>
            </a:pPr>
            <a:r>
              <a:rPr lang="en-US" sz="2000" b="1" dirty="0">
                <a:solidFill>
                  <a:srgbClr val="C9A227"/>
                </a:solidFill>
                <a:latin typeface="Cambria" pitchFamily="34" charset="0"/>
                <a:ea typeface="Cambria" pitchFamily="34" charset="-122"/>
                <a:cs typeface="Cambria" pitchFamily="34" charset="-120"/>
              </a:rPr>
              <a:t>05</a:t>
            </a:r>
            <a:endParaRPr lang="en-US" sz="2000" dirty="0"/>
          </a:p>
        </p:txBody>
      </p:sp>
      <p:sp>
        <p:nvSpPr>
          <p:cNvPr id="23" name="Text 20"/>
          <p:cNvSpPr/>
          <p:nvPr/>
        </p:nvSpPr>
        <p:spPr>
          <a:xfrm>
            <a:off x="1280160" y="5340096"/>
            <a:ext cx="5120640" cy="274320"/>
          </a:xfrm>
          <a:prstGeom prst="rect">
            <a:avLst/>
          </a:prstGeom>
          <a:noFill/>
          <a:ln/>
        </p:spPr>
        <p:txBody>
          <a:bodyPr wrap="square" lIns="0" tIns="0" rIns="0" bIns="0" rtlCol="0" anchor="ctr"/>
          <a:lstStyle/>
          <a:p>
            <a:pPr indent="0" marL="0">
              <a:buNone/>
            </a:pPr>
            <a:r>
              <a:rPr lang="en-US" sz="1350" b="1" dirty="0">
                <a:solidFill>
                  <a:srgbClr val="1F2024"/>
                </a:solidFill>
                <a:latin typeface="Calibri" pitchFamily="34" charset="0"/>
                <a:ea typeface="Calibri" pitchFamily="34" charset="-122"/>
                <a:cs typeface="Calibri" pitchFamily="34" charset="-120"/>
              </a:rPr>
              <a:t>Security Questionnaire, Pre-Answers</a:t>
            </a:r>
            <a:endParaRPr lang="en-US" sz="1350" dirty="0"/>
          </a:p>
        </p:txBody>
      </p:sp>
      <p:sp>
        <p:nvSpPr>
          <p:cNvPr id="24" name="Text 21"/>
          <p:cNvSpPr/>
          <p:nvPr/>
        </p:nvSpPr>
        <p:spPr>
          <a:xfrm>
            <a:off x="1280160" y="5623560"/>
            <a:ext cx="9692640" cy="274320"/>
          </a:xfrm>
          <a:prstGeom prst="rect">
            <a:avLst/>
          </a:prstGeom>
          <a:noFill/>
          <a:ln/>
        </p:spPr>
        <p:txBody>
          <a:bodyPr wrap="square" lIns="0" tIns="0" rIns="0" bIns="0" rtlCol="0" anchor="ctr"/>
          <a:lstStyle/>
          <a:p>
            <a:pPr indent="0" marL="0">
              <a:buNone/>
            </a:pPr>
            <a:r>
              <a:rPr lang="en-US" sz="1100" dirty="0">
                <a:solidFill>
                  <a:srgbClr val="6B6D76"/>
                </a:solidFill>
                <a:latin typeface="Calibri" pitchFamily="34" charset="0"/>
                <a:ea typeface="Calibri" pitchFamily="34" charset="-122"/>
                <a:cs typeface="Calibri" pitchFamily="34" charset="-120"/>
              </a:rPr>
              <a:t>Your likely questions, answered</a:t>
            </a:r>
            <a:endParaRPr lang="en-US" sz="1100" dirty="0"/>
          </a:p>
        </p:txBody>
      </p:sp>
      <p:sp>
        <p:nvSpPr>
          <p:cNvPr id="25" name="Text 22"/>
          <p:cNvSpPr/>
          <p:nvPr/>
        </p:nvSpPr>
        <p:spPr>
          <a:xfrm>
            <a:off x="548640" y="5870448"/>
            <a:ext cx="11064240" cy="292608"/>
          </a:xfrm>
          <a:prstGeom prst="rect">
            <a:avLst/>
          </a:prstGeom>
          <a:noFill/>
          <a:ln/>
        </p:spPr>
        <p:txBody>
          <a:bodyPr wrap="square" lIns="0" tIns="0" rIns="0" bIns="0" rtlCol="0" anchor="ctr"/>
          <a:lstStyle/>
          <a:p>
            <a:pPr indent="0" marL="0">
              <a:buNone/>
            </a:pPr>
            <a:r>
              <a:rPr lang="en-US" sz="1200" i="1" dirty="0">
                <a:solidFill>
                  <a:srgbClr val="6B6D76"/>
                </a:solidFill>
                <a:latin typeface="Calibri" pitchFamily="34" charset="0"/>
                <a:ea typeface="Calibri" pitchFamily="34" charset="-122"/>
                <a:cs typeface="Calibri" pitchFamily="34" charset="-120"/>
              </a:rPr>
              <a:t>Two documents answer more procurement questions than any sales deck: an audit scorecard, and an independent penetration test. Both are committed before go-live.</a:t>
            </a:r>
            <a:endParaRPr lang="en-US" sz="1200" dirty="0"/>
          </a:p>
        </p:txBody>
      </p:sp>
      <p:sp>
        <p:nvSpPr>
          <p:cNvPr id="26" name="Text 23"/>
          <p:cNvSpPr/>
          <p:nvPr/>
        </p:nvSpPr>
        <p:spPr>
          <a:xfrm>
            <a:off x="548640" y="6327648"/>
            <a:ext cx="11064240" cy="274320"/>
          </a:xfrm>
          <a:prstGeom prst="rect">
            <a:avLst/>
          </a:prstGeom>
          <a:noFill/>
          <a:ln/>
        </p:spPr>
        <p:txBody>
          <a:bodyPr wrap="square" lIns="0" tIns="0" rIns="0" bIns="0" rtlCol="0" anchor="ctr"/>
          <a:lstStyle/>
          <a:p>
            <a:pPr indent="0" marL="0">
              <a:buNone/>
            </a:pPr>
            <a:r>
              <a:rPr lang="en-US" sz="900" dirty="0">
                <a:solidFill>
                  <a:srgbClr val="6B6D76"/>
                </a:solidFill>
                <a:latin typeface="Calibri" pitchFamily="34" charset="0"/>
                <a:ea typeface="Calibri" pitchFamily="34" charset="-122"/>
                <a:cs typeface="Calibri" pitchFamily="34" charset="-120"/>
              </a:rPr>
              <a:t>XD House   |   Ma'aden ARGP Security &amp; Assurance   |   15 July 2026</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23242A"/>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58368" y="566928"/>
            <a:ext cx="1051560" cy="868680"/>
          </a:xfrm>
          <a:prstGeom prst="rect">
            <a:avLst/>
          </a:prstGeom>
        </p:spPr>
      </p:pic>
      <p:sp>
        <p:nvSpPr>
          <p:cNvPr id="3" name="Text 0"/>
          <p:cNvSpPr/>
          <p:nvPr/>
        </p:nvSpPr>
        <p:spPr>
          <a:xfrm>
            <a:off x="658368" y="1874520"/>
            <a:ext cx="7680960" cy="594360"/>
          </a:xfrm>
          <a:prstGeom prst="rect">
            <a:avLst/>
          </a:prstGeom>
          <a:noFill/>
          <a:ln/>
        </p:spPr>
        <p:txBody>
          <a:bodyPr wrap="square" lIns="0" tIns="0" rIns="0" bIns="0" rtlCol="0" anchor="ctr"/>
          <a:lstStyle/>
          <a:p>
            <a:pPr indent="0" marL="0">
              <a:buNone/>
            </a:pPr>
            <a:r>
              <a:rPr lang="en-US" sz="3100" b="1" dirty="0">
                <a:solidFill>
                  <a:srgbClr val="FFFFFF"/>
                </a:solidFill>
                <a:latin typeface="Cambria" pitchFamily="34" charset="0"/>
                <a:ea typeface="Cambria" pitchFamily="34" charset="-122"/>
                <a:cs typeface="Cambria" pitchFamily="34" charset="-120"/>
              </a:rPr>
              <a:t>What we are asking you to take from this</a:t>
            </a:r>
            <a:endParaRPr lang="en-US" sz="3100" dirty="0"/>
          </a:p>
        </p:txBody>
      </p:sp>
      <p:sp>
        <p:nvSpPr>
          <p:cNvPr id="4" name="Shape 1"/>
          <p:cNvSpPr/>
          <p:nvPr/>
        </p:nvSpPr>
        <p:spPr>
          <a:xfrm>
            <a:off x="658368" y="2752344"/>
            <a:ext cx="310896" cy="310896"/>
          </a:xfrm>
          <a:prstGeom prst="ellipse">
            <a:avLst/>
          </a:prstGeom>
          <a:solidFill>
            <a:srgbClr val="C9A227"/>
          </a:solidFill>
          <a:ln w="12700">
            <a:solidFill>
              <a:srgbClr val="C9A227"/>
            </a:solidFill>
            <a:prstDash val="solid"/>
          </a:ln>
        </p:spPr>
      </p:sp>
      <p:sp>
        <p:nvSpPr>
          <p:cNvPr id="5" name="Text 2"/>
          <p:cNvSpPr/>
          <p:nvPr/>
        </p:nvSpPr>
        <p:spPr>
          <a:xfrm>
            <a:off x="658368" y="2752344"/>
            <a:ext cx="310896" cy="310896"/>
          </a:xfrm>
          <a:prstGeom prst="rect">
            <a:avLst/>
          </a:prstGeom>
          <a:noFill/>
          <a:ln/>
        </p:spPr>
        <p:txBody>
          <a:bodyPr wrap="square" lIns="0" tIns="0" rIns="0" bIns="0" rtlCol="0" anchor="ctr"/>
          <a:lstStyle/>
          <a:p>
            <a:pPr algn="ctr" indent="0" marL="0">
              <a:buNone/>
            </a:pPr>
            <a:r>
              <a:rPr lang="en-US" sz="1224" b="1" dirty="0">
                <a:solidFill>
                  <a:srgbClr val="23242A"/>
                </a:solidFill>
                <a:latin typeface="Calibri" pitchFamily="34" charset="0"/>
                <a:ea typeface="Calibri" pitchFamily="34" charset="-122"/>
                <a:cs typeface="Calibri" pitchFamily="34" charset="-120"/>
              </a:rPr>
              <a:t>✓</a:t>
            </a:r>
            <a:endParaRPr lang="en-US" sz="1224" dirty="0"/>
          </a:p>
        </p:txBody>
      </p:sp>
      <p:sp>
        <p:nvSpPr>
          <p:cNvPr id="6" name="Text 3"/>
          <p:cNvSpPr/>
          <p:nvPr/>
        </p:nvSpPr>
        <p:spPr>
          <a:xfrm>
            <a:off x="1115568" y="2697480"/>
            <a:ext cx="3200400" cy="384048"/>
          </a:xfrm>
          <a:prstGeom prst="rect">
            <a:avLst/>
          </a:prstGeom>
          <a:noFill/>
          <a:ln/>
        </p:spPr>
        <p:txBody>
          <a:bodyPr wrap="square" lIns="0" tIns="0" rIns="0" bIns="0" rtlCol="0" anchor="ctr"/>
          <a:lstStyle/>
          <a:p>
            <a:pPr indent="0" marL="0">
              <a:buNone/>
            </a:pPr>
            <a:r>
              <a:rPr lang="en-US" sz="1500" b="1" dirty="0">
                <a:solidFill>
                  <a:srgbClr val="C9A227"/>
                </a:solidFill>
                <a:latin typeface="Calibri" pitchFamily="34" charset="0"/>
                <a:ea typeface="Calibri" pitchFamily="34" charset="-122"/>
                <a:cs typeface="Calibri" pitchFamily="34" charset="-120"/>
              </a:rPr>
              <a:t>Security is designed in</a:t>
            </a:r>
            <a:endParaRPr lang="en-US" sz="1500" dirty="0"/>
          </a:p>
        </p:txBody>
      </p:sp>
      <p:sp>
        <p:nvSpPr>
          <p:cNvPr id="7" name="Text 4"/>
          <p:cNvSpPr/>
          <p:nvPr/>
        </p:nvSpPr>
        <p:spPr>
          <a:xfrm>
            <a:off x="4389120" y="2697480"/>
            <a:ext cx="7040880" cy="438912"/>
          </a:xfrm>
          <a:prstGeom prst="rect">
            <a:avLst/>
          </a:prstGeom>
          <a:noFill/>
          <a:ln/>
        </p:spPr>
        <p:txBody>
          <a:bodyPr wrap="square" lIns="0" tIns="0" rIns="0" bIns="0" rtlCol="0" anchor="ctr"/>
          <a:lstStyle/>
          <a:p>
            <a:pPr indent="0" marL="0">
              <a:buNone/>
            </a:pPr>
            <a:r>
              <a:rPr lang="en-US" sz="1250" dirty="0">
                <a:solidFill>
                  <a:srgbClr val="C4C5CC"/>
                </a:solidFill>
                <a:latin typeface="Calibri" pitchFamily="34" charset="0"/>
                <a:ea typeface="Calibri" pitchFamily="34" charset="-122"/>
                <a:cs typeface="Calibri" pitchFamily="34" charset="-120"/>
              </a:rPr>
              <a:t>Thirteen control layers, each mapped to a requirement you set, built to a gate rather than bolted on.</a:t>
            </a:r>
            <a:endParaRPr lang="en-US" sz="1250" dirty="0"/>
          </a:p>
        </p:txBody>
      </p:sp>
      <p:sp>
        <p:nvSpPr>
          <p:cNvPr id="8" name="Shape 5"/>
          <p:cNvSpPr/>
          <p:nvPr/>
        </p:nvSpPr>
        <p:spPr>
          <a:xfrm>
            <a:off x="658368" y="3465576"/>
            <a:ext cx="310896" cy="310896"/>
          </a:xfrm>
          <a:prstGeom prst="ellipse">
            <a:avLst/>
          </a:prstGeom>
          <a:solidFill>
            <a:srgbClr val="C9A227"/>
          </a:solidFill>
          <a:ln w="12700">
            <a:solidFill>
              <a:srgbClr val="C9A227"/>
            </a:solidFill>
            <a:prstDash val="solid"/>
          </a:ln>
        </p:spPr>
      </p:sp>
      <p:sp>
        <p:nvSpPr>
          <p:cNvPr id="9" name="Text 6"/>
          <p:cNvSpPr/>
          <p:nvPr/>
        </p:nvSpPr>
        <p:spPr>
          <a:xfrm>
            <a:off x="658368" y="3465576"/>
            <a:ext cx="310896" cy="310896"/>
          </a:xfrm>
          <a:prstGeom prst="rect">
            <a:avLst/>
          </a:prstGeom>
          <a:noFill/>
          <a:ln/>
        </p:spPr>
        <p:txBody>
          <a:bodyPr wrap="square" lIns="0" tIns="0" rIns="0" bIns="0" rtlCol="0" anchor="ctr"/>
          <a:lstStyle/>
          <a:p>
            <a:pPr algn="ctr" indent="0" marL="0">
              <a:buNone/>
            </a:pPr>
            <a:r>
              <a:rPr lang="en-US" sz="1224" b="1" dirty="0">
                <a:solidFill>
                  <a:srgbClr val="23242A"/>
                </a:solidFill>
                <a:latin typeface="Calibri" pitchFamily="34" charset="0"/>
                <a:ea typeface="Calibri" pitchFamily="34" charset="-122"/>
                <a:cs typeface="Calibri" pitchFamily="34" charset="-120"/>
              </a:rPr>
              <a:t>✓</a:t>
            </a:r>
            <a:endParaRPr lang="en-US" sz="1224" dirty="0"/>
          </a:p>
        </p:txBody>
      </p:sp>
      <p:sp>
        <p:nvSpPr>
          <p:cNvPr id="10" name="Text 7"/>
          <p:cNvSpPr/>
          <p:nvPr/>
        </p:nvSpPr>
        <p:spPr>
          <a:xfrm>
            <a:off x="1115568" y="3410712"/>
            <a:ext cx="3200400" cy="384048"/>
          </a:xfrm>
          <a:prstGeom prst="rect">
            <a:avLst/>
          </a:prstGeom>
          <a:noFill/>
          <a:ln/>
        </p:spPr>
        <p:txBody>
          <a:bodyPr wrap="square" lIns="0" tIns="0" rIns="0" bIns="0" rtlCol="0" anchor="ctr"/>
          <a:lstStyle/>
          <a:p>
            <a:pPr indent="0" marL="0">
              <a:buNone/>
            </a:pPr>
            <a:r>
              <a:rPr lang="en-US" sz="1500" b="1" dirty="0">
                <a:solidFill>
                  <a:srgbClr val="C9A227"/>
                </a:solidFill>
                <a:latin typeface="Calibri" pitchFamily="34" charset="0"/>
                <a:ea typeface="Calibri" pitchFamily="34" charset="-122"/>
                <a:cs typeface="Calibri" pitchFamily="34" charset="-120"/>
              </a:rPr>
              <a:t>We prove it, and you see the proof</a:t>
            </a:r>
            <a:endParaRPr lang="en-US" sz="1500" dirty="0"/>
          </a:p>
        </p:txBody>
      </p:sp>
      <p:sp>
        <p:nvSpPr>
          <p:cNvPr id="11" name="Text 8"/>
          <p:cNvSpPr/>
          <p:nvPr/>
        </p:nvSpPr>
        <p:spPr>
          <a:xfrm>
            <a:off x="4389120" y="3410712"/>
            <a:ext cx="7040880" cy="438912"/>
          </a:xfrm>
          <a:prstGeom prst="rect">
            <a:avLst/>
          </a:prstGeom>
          <a:noFill/>
          <a:ln/>
        </p:spPr>
        <p:txBody>
          <a:bodyPr wrap="square" lIns="0" tIns="0" rIns="0" bIns="0" rtlCol="0" anchor="ctr"/>
          <a:lstStyle/>
          <a:p>
            <a:pPr indent="0" marL="0">
              <a:buNone/>
            </a:pPr>
            <a:r>
              <a:rPr lang="en-US" sz="1250" dirty="0">
                <a:solidFill>
                  <a:srgbClr val="C4C5CC"/>
                </a:solidFill>
                <a:latin typeface="Calibri" pitchFamily="34" charset="0"/>
                <a:ea typeface="Calibri" pitchFamily="34" charset="-122"/>
                <a:cs typeface="Calibri" pitchFamily="34" charset="-120"/>
              </a:rPr>
              <a:t>Internal audit, independent penetration test, re-audit. You receive the scorecard, the report and the retest letter.</a:t>
            </a:r>
            <a:endParaRPr lang="en-US" sz="1250" dirty="0"/>
          </a:p>
        </p:txBody>
      </p:sp>
      <p:sp>
        <p:nvSpPr>
          <p:cNvPr id="12" name="Shape 9"/>
          <p:cNvSpPr/>
          <p:nvPr/>
        </p:nvSpPr>
        <p:spPr>
          <a:xfrm>
            <a:off x="658368" y="4178808"/>
            <a:ext cx="310896" cy="310896"/>
          </a:xfrm>
          <a:prstGeom prst="ellipse">
            <a:avLst/>
          </a:prstGeom>
          <a:solidFill>
            <a:srgbClr val="C9A227"/>
          </a:solidFill>
          <a:ln w="12700">
            <a:solidFill>
              <a:srgbClr val="C9A227"/>
            </a:solidFill>
            <a:prstDash val="solid"/>
          </a:ln>
        </p:spPr>
      </p:sp>
      <p:sp>
        <p:nvSpPr>
          <p:cNvPr id="13" name="Text 10"/>
          <p:cNvSpPr/>
          <p:nvPr/>
        </p:nvSpPr>
        <p:spPr>
          <a:xfrm>
            <a:off x="658368" y="4178808"/>
            <a:ext cx="310896" cy="310896"/>
          </a:xfrm>
          <a:prstGeom prst="rect">
            <a:avLst/>
          </a:prstGeom>
          <a:noFill/>
          <a:ln/>
        </p:spPr>
        <p:txBody>
          <a:bodyPr wrap="square" lIns="0" tIns="0" rIns="0" bIns="0" rtlCol="0" anchor="ctr"/>
          <a:lstStyle/>
          <a:p>
            <a:pPr algn="ctr" indent="0" marL="0">
              <a:buNone/>
            </a:pPr>
            <a:r>
              <a:rPr lang="en-US" sz="1224" b="1" dirty="0">
                <a:solidFill>
                  <a:srgbClr val="23242A"/>
                </a:solidFill>
                <a:latin typeface="Calibri" pitchFamily="34" charset="0"/>
                <a:ea typeface="Calibri" pitchFamily="34" charset="-122"/>
                <a:cs typeface="Calibri" pitchFamily="34" charset="-120"/>
              </a:rPr>
              <a:t>✓</a:t>
            </a:r>
            <a:endParaRPr lang="en-US" sz="1224" dirty="0"/>
          </a:p>
        </p:txBody>
      </p:sp>
      <p:sp>
        <p:nvSpPr>
          <p:cNvPr id="14" name="Text 11"/>
          <p:cNvSpPr/>
          <p:nvPr/>
        </p:nvSpPr>
        <p:spPr>
          <a:xfrm>
            <a:off x="1115568" y="4123944"/>
            <a:ext cx="3200400" cy="384048"/>
          </a:xfrm>
          <a:prstGeom prst="rect">
            <a:avLst/>
          </a:prstGeom>
          <a:noFill/>
          <a:ln/>
        </p:spPr>
        <p:txBody>
          <a:bodyPr wrap="square" lIns="0" tIns="0" rIns="0" bIns="0" rtlCol="0" anchor="ctr"/>
          <a:lstStyle/>
          <a:p>
            <a:pPr indent="0" marL="0">
              <a:buNone/>
            </a:pPr>
            <a:r>
              <a:rPr lang="en-US" sz="1500" b="1" dirty="0">
                <a:solidFill>
                  <a:srgbClr val="C9A227"/>
                </a:solidFill>
                <a:latin typeface="Calibri" pitchFamily="34" charset="0"/>
                <a:ea typeface="Calibri" pitchFamily="34" charset="-122"/>
                <a:cs typeface="Calibri" pitchFamily="34" charset="-120"/>
              </a:rPr>
              <a:t>We do not overstate</a:t>
            </a:r>
            <a:endParaRPr lang="en-US" sz="1500" dirty="0"/>
          </a:p>
        </p:txBody>
      </p:sp>
      <p:sp>
        <p:nvSpPr>
          <p:cNvPr id="15" name="Text 12"/>
          <p:cNvSpPr/>
          <p:nvPr/>
        </p:nvSpPr>
        <p:spPr>
          <a:xfrm>
            <a:off x="4389120" y="4123944"/>
            <a:ext cx="7040880" cy="438912"/>
          </a:xfrm>
          <a:prstGeom prst="rect">
            <a:avLst/>
          </a:prstGeom>
          <a:noFill/>
          <a:ln/>
        </p:spPr>
        <p:txBody>
          <a:bodyPr wrap="square" lIns="0" tIns="0" rIns="0" bIns="0" rtlCol="0" anchor="ctr"/>
          <a:lstStyle/>
          <a:p>
            <a:pPr indent="0" marL="0">
              <a:buNone/>
            </a:pPr>
            <a:r>
              <a:rPr lang="en-US" sz="1250" dirty="0">
                <a:solidFill>
                  <a:srgbClr val="C4C5CC"/>
                </a:solidFill>
                <a:latin typeface="Calibri" pitchFamily="34" charset="0"/>
                <a:ea typeface="Calibri" pitchFamily="34" charset="-122"/>
                <a:cs typeface="Calibri" pitchFamily="34" charset="-120"/>
              </a:rPr>
              <a:t>No test result until an external firm runs one. No certification claim we cannot evidence.</a:t>
            </a:r>
            <a:endParaRPr lang="en-US" sz="1250" dirty="0"/>
          </a:p>
        </p:txBody>
      </p:sp>
      <p:sp>
        <p:nvSpPr>
          <p:cNvPr id="16" name="Text 13"/>
          <p:cNvSpPr/>
          <p:nvPr/>
        </p:nvSpPr>
        <p:spPr>
          <a:xfrm>
            <a:off x="658368" y="5138928"/>
            <a:ext cx="7772400" cy="365760"/>
          </a:xfrm>
          <a:prstGeom prst="rect">
            <a:avLst/>
          </a:prstGeom>
          <a:noFill/>
          <a:ln/>
        </p:spPr>
        <p:txBody>
          <a:bodyPr wrap="square" lIns="0" tIns="0" rIns="0" bIns="0" rtlCol="0" anchor="ctr"/>
          <a:lstStyle/>
          <a:p>
            <a:pPr indent="0" marL="0">
              <a:buNone/>
            </a:pPr>
            <a:r>
              <a:rPr lang="en-US" sz="1700" i="1" dirty="0">
                <a:solidFill>
                  <a:srgbClr val="FFFFFF"/>
                </a:solidFill>
                <a:latin typeface="Cambria" pitchFamily="34" charset="0"/>
                <a:ea typeface="Cambria" pitchFamily="34" charset="-122"/>
                <a:cs typeface="Cambria" pitchFamily="34" charset="-120"/>
              </a:rPr>
              <a:t>Your data stays in the Kingdom. Your identity provider stays in control.</a:t>
            </a:r>
            <a:endParaRPr lang="en-US" sz="1700" dirty="0"/>
          </a:p>
        </p:txBody>
      </p:sp>
      <p:sp>
        <p:nvSpPr>
          <p:cNvPr id="17" name="Text 14"/>
          <p:cNvSpPr/>
          <p:nvPr/>
        </p:nvSpPr>
        <p:spPr>
          <a:xfrm>
            <a:off x="658368" y="5989320"/>
            <a:ext cx="8686800" cy="274320"/>
          </a:xfrm>
          <a:prstGeom prst="rect">
            <a:avLst/>
          </a:prstGeom>
          <a:noFill/>
          <a:ln/>
        </p:spPr>
        <p:txBody>
          <a:bodyPr wrap="square" lIns="0" tIns="0" rIns="0" bIns="0" rtlCol="0" anchor="ctr"/>
          <a:lstStyle/>
          <a:p>
            <a:pPr indent="0" marL="0">
              <a:buNone/>
            </a:pPr>
            <a:r>
              <a:rPr lang="en-US" sz="1100" dirty="0">
                <a:solidFill>
                  <a:srgbClr val="9A9BA3"/>
                </a:solidFill>
                <a:latin typeface="Calibri" pitchFamily="34" charset="0"/>
                <a:ea typeface="Calibri" pitchFamily="34" charset="-122"/>
                <a:cs typeface="Calibri" pitchFamily="34" charset="-120"/>
              </a:rPr>
              <a:t>XD House   |   Ma'aden Ar Rjum Gold Project   |   15 July 2026</a:t>
            </a:r>
            <a:endParaRPr lang="en-US" sz="1100" dirty="0"/>
          </a:p>
        </p:txBody>
      </p:sp>
      <p:sp>
        <p:nvSpPr>
          <p:cNvPr id="18" name="Shape 15"/>
          <p:cNvSpPr/>
          <p:nvPr/>
        </p:nvSpPr>
        <p:spPr>
          <a:xfrm>
            <a:off x="9052560" y="5138928"/>
            <a:ext cx="2560320" cy="1078992"/>
          </a:xfrm>
          <a:prstGeom prst="roundRect">
            <a:avLst>
              <a:gd name="adj" fmla="val 5085"/>
            </a:avLst>
          </a:prstGeom>
          <a:solidFill>
            <a:srgbClr val="FFFFFF"/>
          </a:solidFill>
          <a:ln w="12700">
            <a:solidFill>
              <a:srgbClr val="FFFFFF"/>
            </a:solidFill>
            <a:prstDash val="solid"/>
          </a:ln>
        </p:spPr>
      </p:sp>
      <p:pic>
        <p:nvPicPr>
          <p:cNvPr id="19" name="Image 1" descr="preencoded.png">    </p:cNvPr>
          <p:cNvPicPr>
            <a:picLocks noChangeAspect="1"/>
          </p:cNvPicPr>
          <p:nvPr/>
        </p:nvPicPr>
        <p:blipFill>
          <a:blip r:embed="rId2"/>
          <a:stretch>
            <a:fillRect/>
          </a:stretch>
        </p:blipFill>
        <p:spPr>
          <a:xfrm>
            <a:off x="9217152" y="5431536"/>
            <a:ext cx="2231136" cy="493776"/>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XD House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Maaden ARGP Security and Assurance</dc:title>
  <dc:subject>PptxGenJS Presentation</dc:subject>
  <dc:creator>XD House</dc:creator>
  <cp:lastModifiedBy>XD House</cp:lastModifiedBy>
  <cp:revision>1</cp:revision>
  <dcterms:created xsi:type="dcterms:W3CDTF">2026-07-15T06:40:04Z</dcterms:created>
  <dcterms:modified xsi:type="dcterms:W3CDTF">2026-07-15T06:40:04Z</dcterms:modified>
</cp:coreProperties>
</file>